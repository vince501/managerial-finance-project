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Lora" pitchFamily="2" charset="0"/>
      <p:regular r:id="rId14"/>
      <p:bold r:id="rId15"/>
      <p:italic r:id="rId16"/>
      <p:boldItalic r:id="rId17"/>
    </p:embeddedFont>
    <p:embeddedFont>
      <p:font typeface="Source Sans 3"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C5EE2D-226B-4AFD-8FCF-6F7EE5B3DF0E}" v="35" dt="2025-10-14T15:04:47.4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2.fntdata"/><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tungi, Vincent" userId="3b6c9b2d-6400-4f2b-bbed-b690b712aa10" providerId="ADAL" clId="{408591DD-4145-495B-9357-D4DDA9FDF927}"/>
    <pc:docChg chg="undo custSel mod addSld modSld">
      <pc:chgData name="Mutungi, Vincent" userId="3b6c9b2d-6400-4f2b-bbed-b690b712aa10" providerId="ADAL" clId="{408591DD-4145-495B-9357-D4DDA9FDF927}" dt="2025-10-14T15:04:47.457" v="243" actId="1076"/>
      <pc:docMkLst>
        <pc:docMk/>
      </pc:docMkLst>
      <pc:sldChg chg="modSp mod">
        <pc:chgData name="Mutungi, Vincent" userId="3b6c9b2d-6400-4f2b-bbed-b690b712aa10" providerId="ADAL" clId="{408591DD-4145-495B-9357-D4DDA9FDF927}" dt="2025-10-14T01:56:02.111" v="16" actId="1076"/>
        <pc:sldMkLst>
          <pc:docMk/>
          <pc:sldMk cId="0" sldId="256"/>
        </pc:sldMkLst>
        <pc:spChg chg="mod">
          <ac:chgData name="Mutungi, Vincent" userId="3b6c9b2d-6400-4f2b-bbed-b690b712aa10" providerId="ADAL" clId="{408591DD-4145-495B-9357-D4DDA9FDF927}" dt="2025-10-14T01:54:43.530" v="10"/>
          <ac:spMkLst>
            <pc:docMk/>
            <pc:sldMk cId="0" sldId="256"/>
            <ac:spMk id="4" creationId="{00000000-0000-0000-0000-000000000000}"/>
          </ac:spMkLst>
        </pc:spChg>
        <pc:spChg chg="mod">
          <ac:chgData name="Mutungi, Vincent" userId="3b6c9b2d-6400-4f2b-bbed-b690b712aa10" providerId="ADAL" clId="{408591DD-4145-495B-9357-D4DDA9FDF927}" dt="2025-10-14T01:55:28.417" v="12" actId="14100"/>
          <ac:spMkLst>
            <pc:docMk/>
            <pc:sldMk cId="0" sldId="256"/>
            <ac:spMk id="5" creationId="{00000000-0000-0000-0000-000000000000}"/>
          </ac:spMkLst>
        </pc:spChg>
        <pc:spChg chg="mod">
          <ac:chgData name="Mutungi, Vincent" userId="3b6c9b2d-6400-4f2b-bbed-b690b712aa10" providerId="ADAL" clId="{408591DD-4145-495B-9357-D4DDA9FDF927}" dt="2025-10-14T01:56:02.111" v="16" actId="1076"/>
          <ac:spMkLst>
            <pc:docMk/>
            <pc:sldMk cId="0" sldId="256"/>
            <ac:spMk id="6" creationId="{00000000-0000-0000-0000-000000000000}"/>
          </ac:spMkLst>
        </pc:spChg>
      </pc:sldChg>
      <pc:sldChg chg="modSp mod">
        <pc:chgData name="Mutungi, Vincent" userId="3b6c9b2d-6400-4f2b-bbed-b690b712aa10" providerId="ADAL" clId="{408591DD-4145-495B-9357-D4DDA9FDF927}" dt="2025-10-14T01:57:54.559" v="18" actId="14100"/>
        <pc:sldMkLst>
          <pc:docMk/>
          <pc:sldMk cId="0" sldId="257"/>
        </pc:sldMkLst>
        <pc:spChg chg="mod">
          <ac:chgData name="Mutungi, Vincent" userId="3b6c9b2d-6400-4f2b-bbed-b690b712aa10" providerId="ADAL" clId="{408591DD-4145-495B-9357-D4DDA9FDF927}" dt="2025-10-14T01:57:44.091" v="17" actId="255"/>
          <ac:spMkLst>
            <pc:docMk/>
            <pc:sldMk cId="0" sldId="257"/>
            <ac:spMk id="4" creationId="{00000000-0000-0000-0000-000000000000}"/>
          </ac:spMkLst>
        </pc:spChg>
        <pc:spChg chg="mod">
          <ac:chgData name="Mutungi, Vincent" userId="3b6c9b2d-6400-4f2b-bbed-b690b712aa10" providerId="ADAL" clId="{408591DD-4145-495B-9357-D4DDA9FDF927}" dt="2025-10-14T01:57:54.559" v="18" actId="14100"/>
          <ac:spMkLst>
            <pc:docMk/>
            <pc:sldMk cId="0" sldId="257"/>
            <ac:spMk id="5" creationId="{00000000-0000-0000-0000-000000000000}"/>
          </ac:spMkLst>
        </pc:spChg>
      </pc:sldChg>
      <pc:sldChg chg="modSp mod">
        <pc:chgData name="Mutungi, Vincent" userId="3b6c9b2d-6400-4f2b-bbed-b690b712aa10" providerId="ADAL" clId="{408591DD-4145-495B-9357-D4DDA9FDF927}" dt="2025-10-14T02:00:58.216" v="21" actId="207"/>
        <pc:sldMkLst>
          <pc:docMk/>
          <pc:sldMk cId="0" sldId="258"/>
        </pc:sldMkLst>
        <pc:spChg chg="mod">
          <ac:chgData name="Mutungi, Vincent" userId="3b6c9b2d-6400-4f2b-bbed-b690b712aa10" providerId="ADAL" clId="{408591DD-4145-495B-9357-D4DDA9FDF927}" dt="2025-10-14T02:00:46.658" v="19" actId="207"/>
          <ac:spMkLst>
            <pc:docMk/>
            <pc:sldMk cId="0" sldId="258"/>
            <ac:spMk id="42" creationId="{00000000-0000-0000-0000-000000000000}"/>
          </ac:spMkLst>
        </pc:spChg>
        <pc:spChg chg="mod">
          <ac:chgData name="Mutungi, Vincent" userId="3b6c9b2d-6400-4f2b-bbed-b690b712aa10" providerId="ADAL" clId="{408591DD-4145-495B-9357-D4DDA9FDF927}" dt="2025-10-14T02:00:54.675" v="20" actId="207"/>
          <ac:spMkLst>
            <pc:docMk/>
            <pc:sldMk cId="0" sldId="258"/>
            <ac:spMk id="43" creationId="{00000000-0000-0000-0000-000000000000}"/>
          </ac:spMkLst>
        </pc:spChg>
        <pc:spChg chg="mod">
          <ac:chgData name="Mutungi, Vincent" userId="3b6c9b2d-6400-4f2b-bbed-b690b712aa10" providerId="ADAL" clId="{408591DD-4145-495B-9357-D4DDA9FDF927}" dt="2025-10-14T02:00:58.216" v="21" actId="207"/>
          <ac:spMkLst>
            <pc:docMk/>
            <pc:sldMk cId="0" sldId="258"/>
            <ac:spMk id="44" creationId="{00000000-0000-0000-0000-000000000000}"/>
          </ac:spMkLst>
        </pc:spChg>
      </pc:sldChg>
      <pc:sldChg chg="modSp mod">
        <pc:chgData name="Mutungi, Vincent" userId="3b6c9b2d-6400-4f2b-bbed-b690b712aa10" providerId="ADAL" clId="{408591DD-4145-495B-9357-D4DDA9FDF927}" dt="2025-10-14T01:45:27.150" v="2" actId="113"/>
        <pc:sldMkLst>
          <pc:docMk/>
          <pc:sldMk cId="0" sldId="260"/>
        </pc:sldMkLst>
        <pc:spChg chg="mod">
          <ac:chgData name="Mutungi, Vincent" userId="3b6c9b2d-6400-4f2b-bbed-b690b712aa10" providerId="ADAL" clId="{408591DD-4145-495B-9357-D4DDA9FDF927}" dt="2025-10-14T01:45:20.659" v="0" actId="113"/>
          <ac:spMkLst>
            <pc:docMk/>
            <pc:sldMk cId="0" sldId="260"/>
            <ac:spMk id="5" creationId="{00000000-0000-0000-0000-000000000000}"/>
          </ac:spMkLst>
        </pc:spChg>
        <pc:spChg chg="mod">
          <ac:chgData name="Mutungi, Vincent" userId="3b6c9b2d-6400-4f2b-bbed-b690b712aa10" providerId="ADAL" clId="{408591DD-4145-495B-9357-D4DDA9FDF927}" dt="2025-10-14T01:45:23.561" v="1" actId="113"/>
          <ac:spMkLst>
            <pc:docMk/>
            <pc:sldMk cId="0" sldId="260"/>
            <ac:spMk id="9" creationId="{00000000-0000-0000-0000-000000000000}"/>
          </ac:spMkLst>
        </pc:spChg>
        <pc:spChg chg="mod">
          <ac:chgData name="Mutungi, Vincent" userId="3b6c9b2d-6400-4f2b-bbed-b690b712aa10" providerId="ADAL" clId="{408591DD-4145-495B-9357-D4DDA9FDF927}" dt="2025-10-14T01:45:27.150" v="2" actId="113"/>
          <ac:spMkLst>
            <pc:docMk/>
            <pc:sldMk cId="0" sldId="260"/>
            <ac:spMk id="13" creationId="{00000000-0000-0000-0000-000000000000}"/>
          </ac:spMkLst>
        </pc:spChg>
      </pc:sldChg>
      <pc:sldChg chg="addSp modSp mod">
        <pc:chgData name="Mutungi, Vincent" userId="3b6c9b2d-6400-4f2b-bbed-b690b712aa10" providerId="ADAL" clId="{408591DD-4145-495B-9357-D4DDA9FDF927}" dt="2025-10-14T14:11:27.527" v="224" actId="1076"/>
        <pc:sldMkLst>
          <pc:docMk/>
          <pc:sldMk cId="0" sldId="261"/>
        </pc:sldMkLst>
        <pc:spChg chg="mod">
          <ac:chgData name="Mutungi, Vincent" userId="3b6c9b2d-6400-4f2b-bbed-b690b712aa10" providerId="ADAL" clId="{408591DD-4145-495B-9357-D4DDA9FDF927}" dt="2025-10-14T14:07:28.724" v="111" actId="255"/>
          <ac:spMkLst>
            <pc:docMk/>
            <pc:sldMk cId="0" sldId="261"/>
            <ac:spMk id="3" creationId="{00000000-0000-0000-0000-000000000000}"/>
          </ac:spMkLst>
        </pc:spChg>
        <pc:spChg chg="mod">
          <ac:chgData name="Mutungi, Vincent" userId="3b6c9b2d-6400-4f2b-bbed-b690b712aa10" providerId="ADAL" clId="{408591DD-4145-495B-9357-D4DDA9FDF927}" dt="2025-10-14T14:01:16.701" v="104" actId="113"/>
          <ac:spMkLst>
            <pc:docMk/>
            <pc:sldMk cId="0" sldId="261"/>
            <ac:spMk id="19" creationId="{00000000-0000-0000-0000-000000000000}"/>
          </ac:spMkLst>
        </pc:spChg>
        <pc:spChg chg="add mod">
          <ac:chgData name="Mutungi, Vincent" userId="3b6c9b2d-6400-4f2b-bbed-b690b712aa10" providerId="ADAL" clId="{408591DD-4145-495B-9357-D4DDA9FDF927}" dt="2025-10-14T14:10:34.703" v="180" actId="1076"/>
          <ac:spMkLst>
            <pc:docMk/>
            <pc:sldMk cId="0" sldId="261"/>
            <ac:spMk id="22" creationId="{D2645CCE-AB3B-B35C-51FF-CE9F38EDEBBD}"/>
          </ac:spMkLst>
        </pc:spChg>
        <pc:spChg chg="add mod">
          <ac:chgData name="Mutungi, Vincent" userId="3b6c9b2d-6400-4f2b-bbed-b690b712aa10" providerId="ADAL" clId="{408591DD-4145-495B-9357-D4DDA9FDF927}" dt="2025-10-14T14:10:30.123" v="179" actId="1076"/>
          <ac:spMkLst>
            <pc:docMk/>
            <pc:sldMk cId="0" sldId="261"/>
            <ac:spMk id="23" creationId="{D9D06D17-C1FF-384C-28EE-3CFFEAB74168}"/>
          </ac:spMkLst>
        </pc:spChg>
        <pc:spChg chg="add mod">
          <ac:chgData name="Mutungi, Vincent" userId="3b6c9b2d-6400-4f2b-bbed-b690b712aa10" providerId="ADAL" clId="{408591DD-4145-495B-9357-D4DDA9FDF927}" dt="2025-10-14T14:11:27.527" v="224" actId="1076"/>
          <ac:spMkLst>
            <pc:docMk/>
            <pc:sldMk cId="0" sldId="261"/>
            <ac:spMk id="24" creationId="{419A3009-832E-9487-CC47-D713B1257D3F}"/>
          </ac:spMkLst>
        </pc:spChg>
      </pc:sldChg>
      <pc:sldChg chg="modSp mod">
        <pc:chgData name="Mutungi, Vincent" userId="3b6c9b2d-6400-4f2b-bbed-b690b712aa10" providerId="ADAL" clId="{408591DD-4145-495B-9357-D4DDA9FDF927}" dt="2025-10-14T13:59:33.639" v="103" actId="1076"/>
        <pc:sldMkLst>
          <pc:docMk/>
          <pc:sldMk cId="0" sldId="262"/>
        </pc:sldMkLst>
        <pc:spChg chg="mod">
          <ac:chgData name="Mutungi, Vincent" userId="3b6c9b2d-6400-4f2b-bbed-b690b712aa10" providerId="ADAL" clId="{408591DD-4145-495B-9357-D4DDA9FDF927}" dt="2025-10-14T13:59:09.692" v="81" actId="1076"/>
          <ac:spMkLst>
            <pc:docMk/>
            <pc:sldMk cId="0" sldId="262"/>
            <ac:spMk id="3" creationId="{00000000-0000-0000-0000-000000000000}"/>
          </ac:spMkLst>
        </pc:spChg>
        <pc:spChg chg="mod">
          <ac:chgData name="Mutungi, Vincent" userId="3b6c9b2d-6400-4f2b-bbed-b690b712aa10" providerId="ADAL" clId="{408591DD-4145-495B-9357-D4DDA9FDF927}" dt="2025-10-14T13:59:04.689" v="80" actId="255"/>
          <ac:spMkLst>
            <pc:docMk/>
            <pc:sldMk cId="0" sldId="262"/>
            <ac:spMk id="4" creationId="{00000000-0000-0000-0000-000000000000}"/>
          </ac:spMkLst>
        </pc:spChg>
        <pc:spChg chg="mod">
          <ac:chgData name="Mutungi, Vincent" userId="3b6c9b2d-6400-4f2b-bbed-b690b712aa10" providerId="ADAL" clId="{408591DD-4145-495B-9357-D4DDA9FDF927}" dt="2025-10-14T13:58:31.021" v="75" actId="255"/>
          <ac:spMkLst>
            <pc:docMk/>
            <pc:sldMk cId="0" sldId="262"/>
            <ac:spMk id="5" creationId="{00000000-0000-0000-0000-000000000000}"/>
          </ac:spMkLst>
        </pc:spChg>
        <pc:spChg chg="mod">
          <ac:chgData name="Mutungi, Vincent" userId="3b6c9b2d-6400-4f2b-bbed-b690b712aa10" providerId="ADAL" clId="{408591DD-4145-495B-9357-D4DDA9FDF927}" dt="2025-10-14T13:58:51.411" v="79" actId="255"/>
          <ac:spMkLst>
            <pc:docMk/>
            <pc:sldMk cId="0" sldId="262"/>
            <ac:spMk id="6" creationId="{00000000-0000-0000-0000-000000000000}"/>
          </ac:spMkLst>
        </pc:spChg>
        <pc:spChg chg="mod">
          <ac:chgData name="Mutungi, Vincent" userId="3b6c9b2d-6400-4f2b-bbed-b690b712aa10" providerId="ADAL" clId="{408591DD-4145-495B-9357-D4DDA9FDF927}" dt="2025-10-14T13:58:45.159" v="78" actId="1076"/>
          <ac:spMkLst>
            <pc:docMk/>
            <pc:sldMk cId="0" sldId="262"/>
            <ac:spMk id="7" creationId="{00000000-0000-0000-0000-000000000000}"/>
          </ac:spMkLst>
        </pc:spChg>
        <pc:spChg chg="mod">
          <ac:chgData name="Mutungi, Vincent" userId="3b6c9b2d-6400-4f2b-bbed-b690b712aa10" providerId="ADAL" clId="{408591DD-4145-495B-9357-D4DDA9FDF927}" dt="2025-10-14T13:59:24.113" v="102" actId="1036"/>
          <ac:spMkLst>
            <pc:docMk/>
            <pc:sldMk cId="0" sldId="262"/>
            <ac:spMk id="9" creationId="{00000000-0000-0000-0000-000000000000}"/>
          </ac:spMkLst>
        </pc:spChg>
        <pc:spChg chg="mod">
          <ac:chgData name="Mutungi, Vincent" userId="3b6c9b2d-6400-4f2b-bbed-b690b712aa10" providerId="ADAL" clId="{408591DD-4145-495B-9357-D4DDA9FDF927}" dt="2025-10-14T13:59:24.113" v="102" actId="1036"/>
          <ac:spMkLst>
            <pc:docMk/>
            <pc:sldMk cId="0" sldId="262"/>
            <ac:spMk id="10" creationId="{00000000-0000-0000-0000-000000000000}"/>
          </ac:spMkLst>
        </pc:spChg>
        <pc:spChg chg="mod">
          <ac:chgData name="Mutungi, Vincent" userId="3b6c9b2d-6400-4f2b-bbed-b690b712aa10" providerId="ADAL" clId="{408591DD-4145-495B-9357-D4DDA9FDF927}" dt="2025-10-14T13:59:24.113" v="102" actId="1036"/>
          <ac:spMkLst>
            <pc:docMk/>
            <pc:sldMk cId="0" sldId="262"/>
            <ac:spMk id="11" creationId="{00000000-0000-0000-0000-000000000000}"/>
          </ac:spMkLst>
        </pc:spChg>
        <pc:spChg chg="mod">
          <ac:chgData name="Mutungi, Vincent" userId="3b6c9b2d-6400-4f2b-bbed-b690b712aa10" providerId="ADAL" clId="{408591DD-4145-495B-9357-D4DDA9FDF927}" dt="2025-10-14T13:59:24.113" v="102" actId="1036"/>
          <ac:spMkLst>
            <pc:docMk/>
            <pc:sldMk cId="0" sldId="262"/>
            <ac:spMk id="12" creationId="{00000000-0000-0000-0000-000000000000}"/>
          </ac:spMkLst>
        </pc:spChg>
        <pc:picChg chg="mod">
          <ac:chgData name="Mutungi, Vincent" userId="3b6c9b2d-6400-4f2b-bbed-b690b712aa10" providerId="ADAL" clId="{408591DD-4145-495B-9357-D4DDA9FDF927}" dt="2025-10-14T13:59:33.639" v="103" actId="1076"/>
          <ac:picMkLst>
            <pc:docMk/>
            <pc:sldMk cId="0" sldId="262"/>
            <ac:picMk id="8" creationId="{00000000-0000-0000-0000-000000000000}"/>
          </ac:picMkLst>
        </pc:picChg>
      </pc:sldChg>
      <pc:sldChg chg="modSp mod">
        <pc:chgData name="Mutungi, Vincent" userId="3b6c9b2d-6400-4f2b-bbed-b690b712aa10" providerId="ADAL" clId="{408591DD-4145-495B-9357-D4DDA9FDF927}" dt="2025-10-14T14:38:37.218" v="225" actId="255"/>
        <pc:sldMkLst>
          <pc:docMk/>
          <pc:sldMk cId="0" sldId="263"/>
        </pc:sldMkLst>
        <pc:spChg chg="mod">
          <ac:chgData name="Mutungi, Vincent" userId="3b6c9b2d-6400-4f2b-bbed-b690b712aa10" providerId="ADAL" clId="{408591DD-4145-495B-9357-D4DDA9FDF927}" dt="2025-10-14T14:38:37.218" v="225" actId="255"/>
          <ac:spMkLst>
            <pc:docMk/>
            <pc:sldMk cId="0" sldId="263"/>
            <ac:spMk id="16" creationId="{00000000-0000-0000-0000-000000000000}"/>
          </ac:spMkLst>
        </pc:spChg>
      </pc:sldChg>
      <pc:sldChg chg="addSp delSp modSp mod">
        <pc:chgData name="Mutungi, Vincent" userId="3b6c9b2d-6400-4f2b-bbed-b690b712aa10" providerId="ADAL" clId="{408591DD-4145-495B-9357-D4DDA9FDF927}" dt="2025-10-14T14:06:44.758" v="110" actId="1076"/>
        <pc:sldMkLst>
          <pc:docMk/>
          <pc:sldMk cId="0" sldId="264"/>
        </pc:sldMkLst>
        <pc:spChg chg="mod">
          <ac:chgData name="Mutungi, Vincent" userId="3b6c9b2d-6400-4f2b-bbed-b690b712aa10" providerId="ADAL" clId="{408591DD-4145-495B-9357-D4DDA9FDF927}" dt="2025-10-14T01:52:47.040" v="4" actId="113"/>
          <ac:spMkLst>
            <pc:docMk/>
            <pc:sldMk cId="0" sldId="264"/>
            <ac:spMk id="4" creationId="{00000000-0000-0000-0000-000000000000}"/>
          </ac:spMkLst>
        </pc:spChg>
        <pc:spChg chg="mod">
          <ac:chgData name="Mutungi, Vincent" userId="3b6c9b2d-6400-4f2b-bbed-b690b712aa10" providerId="ADAL" clId="{408591DD-4145-495B-9357-D4DDA9FDF927}" dt="2025-10-14T13:53:42.013" v="27" actId="1076"/>
          <ac:spMkLst>
            <pc:docMk/>
            <pc:sldMk cId="0" sldId="264"/>
            <ac:spMk id="5" creationId="{00000000-0000-0000-0000-000000000000}"/>
          </ac:spMkLst>
        </pc:spChg>
        <pc:spChg chg="mod">
          <ac:chgData name="Mutungi, Vincent" userId="3b6c9b2d-6400-4f2b-bbed-b690b712aa10" providerId="ADAL" clId="{408591DD-4145-495B-9357-D4DDA9FDF927}" dt="2025-10-14T13:57:05.194" v="69" actId="1076"/>
          <ac:spMkLst>
            <pc:docMk/>
            <pc:sldMk cId="0" sldId="264"/>
            <ac:spMk id="8" creationId="{00000000-0000-0000-0000-000000000000}"/>
          </ac:spMkLst>
        </pc:spChg>
        <pc:spChg chg="mod">
          <ac:chgData name="Mutungi, Vincent" userId="3b6c9b2d-6400-4f2b-bbed-b690b712aa10" providerId="ADAL" clId="{408591DD-4145-495B-9357-D4DDA9FDF927}" dt="2025-10-14T13:57:10.542" v="70" actId="1076"/>
          <ac:spMkLst>
            <pc:docMk/>
            <pc:sldMk cId="0" sldId="264"/>
            <ac:spMk id="9" creationId="{00000000-0000-0000-0000-000000000000}"/>
          </ac:spMkLst>
        </pc:spChg>
        <pc:spChg chg="mod">
          <ac:chgData name="Mutungi, Vincent" userId="3b6c9b2d-6400-4f2b-bbed-b690b712aa10" providerId="ADAL" clId="{408591DD-4145-495B-9357-D4DDA9FDF927}" dt="2025-10-14T13:55:56.092" v="49" actId="1076"/>
          <ac:spMkLst>
            <pc:docMk/>
            <pc:sldMk cId="0" sldId="264"/>
            <ac:spMk id="12" creationId="{00000000-0000-0000-0000-000000000000}"/>
          </ac:spMkLst>
        </pc:spChg>
        <pc:spChg chg="mod">
          <ac:chgData name="Mutungi, Vincent" userId="3b6c9b2d-6400-4f2b-bbed-b690b712aa10" providerId="ADAL" clId="{408591DD-4145-495B-9357-D4DDA9FDF927}" dt="2025-10-14T13:53:34.629" v="26" actId="1076"/>
          <ac:spMkLst>
            <pc:docMk/>
            <pc:sldMk cId="0" sldId="264"/>
            <ac:spMk id="13" creationId="{00000000-0000-0000-0000-000000000000}"/>
          </ac:spMkLst>
        </pc:spChg>
        <pc:spChg chg="mod">
          <ac:chgData name="Mutungi, Vincent" userId="3b6c9b2d-6400-4f2b-bbed-b690b712aa10" providerId="ADAL" clId="{408591DD-4145-495B-9357-D4DDA9FDF927}" dt="2025-10-14T13:53:09.748" v="23" actId="14100"/>
          <ac:spMkLst>
            <pc:docMk/>
            <pc:sldMk cId="0" sldId="264"/>
            <ac:spMk id="14" creationId="{00000000-0000-0000-0000-000000000000}"/>
          </ac:spMkLst>
        </pc:spChg>
        <pc:spChg chg="mod">
          <ac:chgData name="Mutungi, Vincent" userId="3b6c9b2d-6400-4f2b-bbed-b690b712aa10" providerId="ADAL" clId="{408591DD-4145-495B-9357-D4DDA9FDF927}" dt="2025-10-14T13:57:21.438" v="71" actId="1076"/>
          <ac:spMkLst>
            <pc:docMk/>
            <pc:sldMk cId="0" sldId="264"/>
            <ac:spMk id="18" creationId="{00000000-0000-0000-0000-000000000000}"/>
          </ac:spMkLst>
        </pc:spChg>
        <pc:spChg chg="mod">
          <ac:chgData name="Mutungi, Vincent" userId="3b6c9b2d-6400-4f2b-bbed-b690b712aa10" providerId="ADAL" clId="{408591DD-4145-495B-9357-D4DDA9FDF927}" dt="2025-10-14T13:55:47.811" v="48" actId="1076"/>
          <ac:spMkLst>
            <pc:docMk/>
            <pc:sldMk cId="0" sldId="264"/>
            <ac:spMk id="21" creationId="{00000000-0000-0000-0000-000000000000}"/>
          </ac:spMkLst>
        </pc:spChg>
        <pc:spChg chg="mod">
          <ac:chgData name="Mutungi, Vincent" userId="3b6c9b2d-6400-4f2b-bbed-b690b712aa10" providerId="ADAL" clId="{408591DD-4145-495B-9357-D4DDA9FDF927}" dt="2025-10-14T13:55:41.215" v="47" actId="1076"/>
          <ac:spMkLst>
            <pc:docMk/>
            <pc:sldMk cId="0" sldId="264"/>
            <ac:spMk id="22" creationId="{00000000-0000-0000-0000-000000000000}"/>
          </ac:spMkLst>
        </pc:spChg>
        <pc:spChg chg="add del mod">
          <ac:chgData name="Mutungi, Vincent" userId="3b6c9b2d-6400-4f2b-bbed-b690b712aa10" providerId="ADAL" clId="{408591DD-4145-495B-9357-D4DDA9FDF927}" dt="2025-10-14T13:54:04.158" v="32"/>
          <ac:spMkLst>
            <pc:docMk/>
            <pc:sldMk cId="0" sldId="264"/>
            <ac:spMk id="23" creationId="{A0711E78-67BE-9434-B588-EE3378A7AAFB}"/>
          </ac:spMkLst>
        </pc:spChg>
        <pc:spChg chg="add mod">
          <ac:chgData name="Mutungi, Vincent" userId="3b6c9b2d-6400-4f2b-bbed-b690b712aa10" providerId="ADAL" clId="{408591DD-4145-495B-9357-D4DDA9FDF927}" dt="2025-10-14T13:55:20.663" v="44" actId="255"/>
          <ac:spMkLst>
            <pc:docMk/>
            <pc:sldMk cId="0" sldId="264"/>
            <ac:spMk id="24" creationId="{BDF387AF-FFD9-2FB1-70BC-308E18B72CF9}"/>
          </ac:spMkLst>
        </pc:spChg>
        <pc:spChg chg="add mod">
          <ac:chgData name="Mutungi, Vincent" userId="3b6c9b2d-6400-4f2b-bbed-b690b712aa10" providerId="ADAL" clId="{408591DD-4145-495B-9357-D4DDA9FDF927}" dt="2025-10-14T13:56:41.656" v="68" actId="1076"/>
          <ac:spMkLst>
            <pc:docMk/>
            <pc:sldMk cId="0" sldId="264"/>
            <ac:spMk id="25" creationId="{2378DDEE-D4C7-486C-0237-0B074FC3D4EE}"/>
          </ac:spMkLst>
        </pc:spChg>
        <pc:spChg chg="add mod">
          <ac:chgData name="Mutungi, Vincent" userId="3b6c9b2d-6400-4f2b-bbed-b690b712aa10" providerId="ADAL" clId="{408591DD-4145-495B-9357-D4DDA9FDF927}" dt="2025-10-14T14:06:44.758" v="110" actId="1076"/>
          <ac:spMkLst>
            <pc:docMk/>
            <pc:sldMk cId="0" sldId="264"/>
            <ac:spMk id="26" creationId="{414B0EC5-16EA-DB47-86B5-2B0548E85DF6}"/>
          </ac:spMkLst>
        </pc:spChg>
        <pc:picChg chg="mod">
          <ac:chgData name="Mutungi, Vincent" userId="3b6c9b2d-6400-4f2b-bbed-b690b712aa10" providerId="ADAL" clId="{408591DD-4145-495B-9357-D4DDA9FDF927}" dt="2025-10-14T13:57:28.519" v="72" actId="1076"/>
          <ac:picMkLst>
            <pc:docMk/>
            <pc:sldMk cId="0" sldId="264"/>
            <ac:picMk id="11" creationId="{00000000-0000-0000-0000-000000000000}"/>
          </ac:picMkLst>
        </pc:picChg>
        <pc:picChg chg="mod">
          <ac:chgData name="Mutungi, Vincent" userId="3b6c9b2d-6400-4f2b-bbed-b690b712aa10" providerId="ADAL" clId="{408591DD-4145-495B-9357-D4DDA9FDF927}" dt="2025-10-14T13:57:33.004" v="73" actId="1076"/>
          <ac:picMkLst>
            <pc:docMk/>
            <pc:sldMk cId="0" sldId="264"/>
            <ac:picMk id="20" creationId="{00000000-0000-0000-0000-000000000000}"/>
          </ac:picMkLst>
        </pc:picChg>
      </pc:sldChg>
      <pc:sldChg chg="addSp delSp modSp new setBg">
        <pc:chgData name="Mutungi, Vincent" userId="3b6c9b2d-6400-4f2b-bbed-b690b712aa10" providerId="ADAL" clId="{408591DD-4145-495B-9357-D4DDA9FDF927}" dt="2025-10-14T15:04:47.457" v="243" actId="1076"/>
        <pc:sldMkLst>
          <pc:docMk/>
          <pc:sldMk cId="1749683889" sldId="266"/>
        </pc:sldMkLst>
        <pc:picChg chg="add del mod">
          <ac:chgData name="Mutungi, Vincent" userId="3b6c9b2d-6400-4f2b-bbed-b690b712aa10" providerId="ADAL" clId="{408591DD-4145-495B-9357-D4DDA9FDF927}" dt="2025-10-14T15:04:09.727" v="233" actId="478"/>
          <ac:picMkLst>
            <pc:docMk/>
            <pc:sldMk cId="1749683889" sldId="266"/>
            <ac:picMk id="1026" creationId="{83882E98-DEEF-BA08-D14D-957BF4E82111}"/>
          </ac:picMkLst>
        </pc:picChg>
        <pc:picChg chg="add mod">
          <ac:chgData name="Mutungi, Vincent" userId="3b6c9b2d-6400-4f2b-bbed-b690b712aa10" providerId="ADAL" clId="{408591DD-4145-495B-9357-D4DDA9FDF927}" dt="2025-10-14T15:04:47.457" v="243" actId="1076"/>
          <ac:picMkLst>
            <pc:docMk/>
            <pc:sldMk cId="1749683889" sldId="266"/>
            <ac:picMk id="1028" creationId="{30CE2E6A-CC1C-C57A-3223-2A632C8CE5B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4670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txBody>
          <a:bodyPr/>
          <a:lstStyle/>
          <a:p>
            <a:endParaRPr lang="en-US"/>
          </a:p>
        </p:txBody>
      </p:sp>
      <p:sp>
        <p:nvSpPr>
          <p:cNvPr id="3" name="Shape 1"/>
          <p:cNvSpPr/>
          <p:nvPr/>
        </p:nvSpPr>
        <p:spPr>
          <a:xfrm>
            <a:off x="0" y="0"/>
            <a:ext cx="14630400" cy="8229600"/>
          </a:xfrm>
          <a:prstGeom prst="rect">
            <a:avLst/>
          </a:prstGeom>
          <a:solidFill>
            <a:srgbClr val="252833"/>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7594163" y="1482328"/>
            <a:ext cx="4928354" cy="615910"/>
          </a:xfrm>
          <a:prstGeom prst="rect">
            <a:avLst/>
          </a:prstGeom>
          <a:noFill/>
          <a:ln/>
        </p:spPr>
        <p:txBody>
          <a:bodyPr wrap="none" lIns="0" tIns="0" rIns="0" bIns="0" rtlCol="0" anchor="t"/>
          <a:lstStyle/>
          <a:p>
            <a:pPr marL="0" indent="0" algn="ctr">
              <a:lnSpc>
                <a:spcPts val="4850"/>
              </a:lnSpc>
              <a:buNone/>
            </a:pPr>
            <a:r>
              <a:rPr lang="en-US" sz="3850" dirty="0">
                <a:solidFill>
                  <a:srgbClr val="F98AC7"/>
                </a:solidFill>
                <a:latin typeface="Lora" pitchFamily="34" charset="0"/>
                <a:ea typeface="Lora" pitchFamily="34" charset="-122"/>
                <a:cs typeface="Lora" pitchFamily="34" charset="-120"/>
              </a:rPr>
              <a:t>NIKE Inc. </a:t>
            </a:r>
            <a:endParaRPr lang="en-US" sz="3850" dirty="0"/>
          </a:p>
        </p:txBody>
      </p:sp>
      <p:sp>
        <p:nvSpPr>
          <p:cNvPr id="4" name="Text 1"/>
          <p:cNvSpPr/>
          <p:nvPr/>
        </p:nvSpPr>
        <p:spPr>
          <a:xfrm>
            <a:off x="6324124" y="2181939"/>
            <a:ext cx="7468553" cy="1231821"/>
          </a:xfrm>
          <a:prstGeom prst="rect">
            <a:avLst/>
          </a:prstGeom>
          <a:noFill/>
          <a:ln/>
        </p:spPr>
        <p:txBody>
          <a:bodyPr wrap="square" lIns="0" tIns="0" rIns="0" bIns="0" rtlCol="0" anchor="t"/>
          <a:lstStyle/>
          <a:p>
            <a:pPr marL="0" indent="0" algn="ctr">
              <a:lnSpc>
                <a:spcPts val="4850"/>
              </a:lnSpc>
              <a:buNone/>
            </a:pPr>
            <a:r>
              <a:rPr lang="en-US" sz="3850" dirty="0">
                <a:solidFill>
                  <a:srgbClr val="F98AC7"/>
                </a:solidFill>
                <a:latin typeface="Lora" pitchFamily="34" charset="0"/>
                <a:ea typeface="Lora" pitchFamily="34" charset="-122"/>
                <a:cs typeface="Lora" pitchFamily="34" charset="-120"/>
              </a:rPr>
              <a:t>Financial Ratio Analysis and Modeling</a:t>
            </a:r>
            <a:endParaRPr lang="en-US" sz="3850" dirty="0"/>
          </a:p>
        </p:txBody>
      </p:sp>
      <p:sp>
        <p:nvSpPr>
          <p:cNvPr id="5" name="Text 2"/>
          <p:cNvSpPr/>
          <p:nvPr/>
        </p:nvSpPr>
        <p:spPr>
          <a:xfrm>
            <a:off x="6324124" y="3727847"/>
            <a:ext cx="7468553" cy="1005127"/>
          </a:xfrm>
          <a:prstGeom prst="rect">
            <a:avLst/>
          </a:prstGeom>
          <a:noFill/>
          <a:ln/>
        </p:spPr>
        <p:txBody>
          <a:bodyPr wrap="square" lIns="0" tIns="0" rIns="0" bIns="0" rtlCol="0" anchor="t"/>
          <a:lstStyle/>
          <a:p>
            <a:pPr marL="0" indent="0" algn="l">
              <a:lnSpc>
                <a:spcPts val="6650"/>
              </a:lnSpc>
              <a:buNone/>
            </a:pPr>
            <a:r>
              <a:rPr lang="en-US" sz="2400" dirty="0">
                <a:solidFill>
                  <a:srgbClr val="F98AC7"/>
                </a:solidFill>
                <a:latin typeface="Lora" pitchFamily="34" charset="0"/>
                <a:ea typeface="Lora" pitchFamily="34" charset="-122"/>
                <a:cs typeface="Lora" pitchFamily="34" charset="-120"/>
              </a:rPr>
              <a:t>Financial Health (FY2023–2025)</a:t>
            </a:r>
            <a:endParaRPr lang="en-US" sz="2400" dirty="0"/>
          </a:p>
        </p:txBody>
      </p:sp>
      <p:sp>
        <p:nvSpPr>
          <p:cNvPr id="6" name="Text 3"/>
          <p:cNvSpPr/>
          <p:nvPr/>
        </p:nvSpPr>
        <p:spPr>
          <a:xfrm>
            <a:off x="6324124" y="4739401"/>
            <a:ext cx="7638456" cy="1552506"/>
          </a:xfrm>
          <a:prstGeom prst="rect">
            <a:avLst/>
          </a:prstGeom>
          <a:noFill/>
          <a:ln/>
        </p:spPr>
        <p:txBody>
          <a:bodyPr wrap="square" lIns="0" tIns="0" rIns="0" bIns="0" rtlCol="0" anchor="t"/>
          <a:lstStyle/>
          <a:p>
            <a:pPr marL="0" indent="0" algn="l">
              <a:lnSpc>
                <a:spcPts val="2600"/>
              </a:lnSpc>
              <a:buNone/>
            </a:pPr>
            <a:r>
              <a:rPr lang="en-US" sz="2000" dirty="0">
                <a:solidFill>
                  <a:srgbClr val="D6E5EF"/>
                </a:solidFill>
                <a:latin typeface="Source Sans 3" pitchFamily="34" charset="0"/>
                <a:ea typeface="Source Sans 3" pitchFamily="34" charset="-122"/>
                <a:cs typeface="Source Sans 3" pitchFamily="34" charset="-120"/>
              </a:rPr>
              <a:t>This presentation provides an analytical overview of NIKE Inc.'s financial performance from Fiscal Year 2023 to 2025, focusing on key liquidity and profitability ratios. We will examine the company's stability, efficiency, and projected sustainable growth rates.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878800"/>
            <a:ext cx="5589508" cy="615910"/>
          </a:xfrm>
          <a:prstGeom prst="rect">
            <a:avLst/>
          </a:prstGeom>
          <a:noFill/>
          <a:ln/>
        </p:spPr>
        <p:txBody>
          <a:bodyPr wrap="none" lIns="0" tIns="0" rIns="0" bIns="0" rtlCol="0" anchor="t"/>
          <a:lstStyle/>
          <a:p>
            <a:pPr marL="0" indent="0" algn="l">
              <a:lnSpc>
                <a:spcPts val="4850"/>
              </a:lnSpc>
              <a:buNone/>
            </a:pPr>
            <a:r>
              <a:rPr lang="en-US" sz="3850" dirty="0">
                <a:solidFill>
                  <a:srgbClr val="F98AC7"/>
                </a:solidFill>
                <a:latin typeface="Lora" pitchFamily="34" charset="0"/>
                <a:ea typeface="Lora" pitchFamily="34" charset="-122"/>
                <a:cs typeface="Lora" pitchFamily="34" charset="-120"/>
              </a:rPr>
              <a:t>Introduction to the Firm</a:t>
            </a:r>
            <a:endParaRPr lang="en-US" sz="3850" dirty="0"/>
          </a:p>
        </p:txBody>
      </p:sp>
      <p:sp>
        <p:nvSpPr>
          <p:cNvPr id="3" name="Text 1"/>
          <p:cNvSpPr/>
          <p:nvPr/>
        </p:nvSpPr>
        <p:spPr>
          <a:xfrm>
            <a:off x="837724" y="1578412"/>
            <a:ext cx="4195643" cy="369689"/>
          </a:xfrm>
          <a:prstGeom prst="rect">
            <a:avLst/>
          </a:prstGeom>
          <a:noFill/>
          <a:ln/>
        </p:spPr>
        <p:txBody>
          <a:bodyPr wrap="none" lIns="0" tIns="0" rIns="0" bIns="0" rtlCol="0" anchor="t"/>
          <a:lstStyle/>
          <a:p>
            <a:pPr marL="0" indent="0" algn="l">
              <a:lnSpc>
                <a:spcPts val="2900"/>
              </a:lnSpc>
              <a:buNone/>
            </a:pPr>
            <a:r>
              <a:rPr lang="en-US" sz="2300" dirty="0">
                <a:solidFill>
                  <a:srgbClr val="F98AC7"/>
                </a:solidFill>
                <a:latin typeface="Lora" pitchFamily="34" charset="0"/>
                <a:ea typeface="Lora" pitchFamily="34" charset="-122"/>
                <a:cs typeface="Lora" pitchFamily="34" charset="-120"/>
              </a:rPr>
              <a:t>Global Leader in Athletic Wear</a:t>
            </a:r>
            <a:endParaRPr lang="en-US" sz="2300" dirty="0"/>
          </a:p>
        </p:txBody>
      </p:sp>
      <p:sp>
        <p:nvSpPr>
          <p:cNvPr id="4" name="Text 2"/>
          <p:cNvSpPr/>
          <p:nvPr/>
        </p:nvSpPr>
        <p:spPr>
          <a:xfrm>
            <a:off x="837724" y="2450663"/>
            <a:ext cx="7568565" cy="1340168"/>
          </a:xfrm>
          <a:prstGeom prst="rect">
            <a:avLst/>
          </a:prstGeom>
          <a:noFill/>
          <a:ln/>
        </p:spPr>
        <p:txBody>
          <a:bodyPr wrap="square" lIns="0" tIns="0" rIns="0" bIns="0" rtlCol="0" anchor="t"/>
          <a:lstStyle/>
          <a:p>
            <a:pPr marL="0" indent="0" algn="l">
              <a:lnSpc>
                <a:spcPts val="2600"/>
              </a:lnSpc>
              <a:buNone/>
            </a:pPr>
            <a:r>
              <a:rPr lang="en-US" dirty="0">
                <a:solidFill>
                  <a:srgbClr val="D6E5EF"/>
                </a:solidFill>
                <a:latin typeface="Source Sans 3" pitchFamily="34" charset="0"/>
                <a:ea typeface="Source Sans 3" pitchFamily="34" charset="-122"/>
                <a:cs typeface="Source Sans 3" pitchFamily="34" charset="-120"/>
              </a:rPr>
              <a:t>NIKE Inc. (NKE) stands as a global powerhouse in the athletic industry, specializing in footwear, apparel, equipment, and accessories. Headquartered in Beaverton, Oregon, the company primarily operates through its flagship NIKE Brand and the subsidiary Converse.</a:t>
            </a:r>
            <a:endParaRPr lang="en-US" dirty="0"/>
          </a:p>
        </p:txBody>
      </p:sp>
      <p:sp>
        <p:nvSpPr>
          <p:cNvPr id="5" name="Text 3"/>
          <p:cNvSpPr/>
          <p:nvPr/>
        </p:nvSpPr>
        <p:spPr>
          <a:xfrm>
            <a:off x="837724" y="3979307"/>
            <a:ext cx="7568565" cy="1005126"/>
          </a:xfrm>
          <a:prstGeom prst="rect">
            <a:avLst/>
          </a:prstGeom>
          <a:noFill/>
          <a:ln/>
        </p:spPr>
        <p:txBody>
          <a:bodyPr wrap="squar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Its market presence is distributed across key geographic segments: North America, Europe, Greater China, and Asia Pacific, catering to both wholesale channels and a growing direct-to-consumer (DTC) market.</a:t>
            </a:r>
            <a:endParaRPr lang="en-US" sz="1600" dirty="0"/>
          </a:p>
        </p:txBody>
      </p:sp>
      <p:sp>
        <p:nvSpPr>
          <p:cNvPr id="6" name="Shape 4"/>
          <p:cNvSpPr/>
          <p:nvPr/>
        </p:nvSpPr>
        <p:spPr>
          <a:xfrm>
            <a:off x="837724" y="5220057"/>
            <a:ext cx="7568565" cy="1894999"/>
          </a:xfrm>
          <a:prstGeom prst="roundRect">
            <a:avLst>
              <a:gd name="adj" fmla="val 1658"/>
            </a:avLst>
          </a:prstGeom>
          <a:solidFill>
            <a:srgbClr val="49042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47155" y="5527000"/>
            <a:ext cx="261818" cy="209431"/>
          </a:xfrm>
          <a:prstGeom prst="rect">
            <a:avLst/>
          </a:prstGeom>
        </p:spPr>
      </p:pic>
      <p:sp>
        <p:nvSpPr>
          <p:cNvPr id="8" name="Text 5"/>
          <p:cNvSpPr/>
          <p:nvPr/>
        </p:nvSpPr>
        <p:spPr>
          <a:xfrm>
            <a:off x="1518404" y="5481757"/>
            <a:ext cx="6678454" cy="1340168"/>
          </a:xfrm>
          <a:prstGeom prst="rect">
            <a:avLst/>
          </a:prstGeom>
          <a:noFill/>
          <a:ln/>
        </p:spPr>
        <p:txBody>
          <a:bodyPr wrap="square" lIns="0" tIns="0" rIns="0" bIns="0" rtlCol="0" anchor="t"/>
          <a:lstStyle/>
          <a:p>
            <a:pPr marL="0" indent="0" algn="l">
              <a:lnSpc>
                <a:spcPts val="2600"/>
              </a:lnSpc>
              <a:buNone/>
            </a:pPr>
            <a:r>
              <a:rPr lang="en-US" sz="1600" b="1" dirty="0">
                <a:solidFill>
                  <a:srgbClr val="FFFFFF"/>
                </a:solidFill>
                <a:latin typeface="Source Sans 3" pitchFamily="34" charset="0"/>
                <a:ea typeface="Source Sans 3" pitchFamily="34" charset="-122"/>
                <a:cs typeface="Source Sans 3" pitchFamily="34" charset="-120"/>
              </a:rPr>
              <a:t>FY2025 Financial Snapshot:</a:t>
            </a:r>
            <a:r>
              <a:rPr lang="en-US" sz="1600" dirty="0">
                <a:solidFill>
                  <a:srgbClr val="FFFFFF"/>
                </a:solidFill>
                <a:latin typeface="Source Sans 3" pitchFamily="34" charset="0"/>
                <a:ea typeface="Source Sans 3" pitchFamily="34" charset="-122"/>
                <a:cs typeface="Source Sans 3" pitchFamily="34" charset="-120"/>
              </a:rPr>
              <a:t> NIKE reported $46.3 billion in revenue for the fiscal year ended May 31. The period was marked by challenges, including lower net income resulting from evolving market dynamics and strategic restructuring efforts.</a:t>
            </a:r>
            <a:endParaRPr lang="en-US" sz="1600" dirty="0"/>
          </a:p>
        </p:txBody>
      </p:sp>
      <p:pic>
        <p:nvPicPr>
          <p:cNvPr id="9" name="Image 1" descr="preencoded.png"/>
          <p:cNvPicPr>
            <a:picLocks noChangeAspect="1"/>
          </p:cNvPicPr>
          <p:nvPr/>
        </p:nvPicPr>
        <p:blipFill>
          <a:blip r:embed="rId4"/>
          <a:stretch>
            <a:fillRect/>
          </a:stretch>
        </p:blipFill>
        <p:spPr>
          <a:xfrm>
            <a:off x="8924925" y="2497812"/>
            <a:ext cx="4875371" cy="2937629"/>
          </a:xfrm>
          <a:prstGeom prst="rect">
            <a:avLst/>
          </a:prstGeom>
        </p:spPr>
      </p:pic>
      <p:sp>
        <p:nvSpPr>
          <p:cNvPr id="10" name="Text 6"/>
          <p:cNvSpPr/>
          <p:nvPr/>
        </p:nvSpPr>
        <p:spPr>
          <a:xfrm>
            <a:off x="8924925" y="5671066"/>
            <a:ext cx="4875371" cy="268010"/>
          </a:xfrm>
          <a:prstGeom prst="rect">
            <a:avLst/>
          </a:prstGeom>
          <a:noFill/>
          <a:ln/>
        </p:spPr>
        <p:txBody>
          <a:bodyPr wrap="none" lIns="0" tIns="0" rIns="0" bIns="0" rtlCol="0" anchor="t"/>
          <a:lstStyle/>
          <a:p>
            <a:pPr marL="0" indent="0" algn="l">
              <a:lnSpc>
                <a:spcPts val="2100"/>
              </a:lnSpc>
              <a:buNone/>
            </a:pPr>
            <a:r>
              <a:rPr lang="en-US" sz="1300" dirty="0">
                <a:solidFill>
                  <a:srgbClr val="D6E5EF"/>
                </a:solidFill>
                <a:latin typeface="Source Sans 3" pitchFamily="34" charset="0"/>
                <a:ea typeface="Source Sans 3" pitchFamily="34" charset="-122"/>
                <a:cs typeface="Source Sans 3" pitchFamily="34" charset="-120"/>
              </a:rPr>
              <a:t>Serving wholesale and direct-to-consumer markets globally.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757595"/>
            <a:ext cx="7202567" cy="615910"/>
          </a:xfrm>
          <a:prstGeom prst="rect">
            <a:avLst/>
          </a:prstGeom>
          <a:noFill/>
          <a:ln/>
        </p:spPr>
        <p:txBody>
          <a:bodyPr wrap="none" lIns="0" tIns="0" rIns="0" bIns="0" rtlCol="0" anchor="t"/>
          <a:lstStyle/>
          <a:p>
            <a:pPr marL="0" indent="0" algn="l">
              <a:lnSpc>
                <a:spcPts val="4850"/>
              </a:lnSpc>
              <a:buNone/>
            </a:pPr>
            <a:r>
              <a:rPr lang="en-US" sz="3850" dirty="0">
                <a:solidFill>
                  <a:srgbClr val="F98AC7"/>
                </a:solidFill>
                <a:latin typeface="Lora" pitchFamily="34" charset="0"/>
                <a:ea typeface="Lora" pitchFamily="34" charset="-122"/>
                <a:cs typeface="Lora" pitchFamily="34" charset="-120"/>
              </a:rPr>
              <a:t>Core Financial Data: 2023–2025</a:t>
            </a:r>
            <a:endParaRPr lang="en-US" sz="3850" dirty="0"/>
          </a:p>
        </p:txBody>
      </p:sp>
      <p:sp>
        <p:nvSpPr>
          <p:cNvPr id="3" name="Text 1"/>
          <p:cNvSpPr/>
          <p:nvPr/>
        </p:nvSpPr>
        <p:spPr>
          <a:xfrm>
            <a:off x="837724" y="1457206"/>
            <a:ext cx="10629781" cy="369689"/>
          </a:xfrm>
          <a:prstGeom prst="rect">
            <a:avLst/>
          </a:prstGeom>
          <a:noFill/>
          <a:ln/>
        </p:spPr>
        <p:txBody>
          <a:bodyPr wrap="none" lIns="0" tIns="0" rIns="0" bIns="0" rtlCol="0" anchor="t"/>
          <a:lstStyle/>
          <a:p>
            <a:pPr marL="0" indent="0" algn="l">
              <a:lnSpc>
                <a:spcPts val="2900"/>
              </a:lnSpc>
              <a:buNone/>
            </a:pPr>
            <a:r>
              <a:rPr lang="en-US" sz="2300" dirty="0">
                <a:solidFill>
                  <a:srgbClr val="F98AC7"/>
                </a:solidFill>
                <a:latin typeface="Lora" pitchFamily="34" charset="0"/>
                <a:ea typeface="Lora" pitchFamily="34" charset="-122"/>
                <a:cs typeface="Lora" pitchFamily="34" charset="-120"/>
              </a:rPr>
              <a:t>Key Items from NIKE's Consolidated Financial Statements (in millions of USD)</a:t>
            </a:r>
            <a:endParaRPr lang="en-US" sz="2300" dirty="0"/>
          </a:p>
        </p:txBody>
      </p:sp>
      <p:sp>
        <p:nvSpPr>
          <p:cNvPr id="4" name="Shape 2"/>
          <p:cNvSpPr/>
          <p:nvPr/>
        </p:nvSpPr>
        <p:spPr>
          <a:xfrm>
            <a:off x="837724" y="2140982"/>
            <a:ext cx="12954952" cy="4827270"/>
          </a:xfrm>
          <a:prstGeom prst="roundRect">
            <a:avLst>
              <a:gd name="adj" fmla="val 651"/>
            </a:avLst>
          </a:prstGeom>
          <a:noFill/>
          <a:ln w="7620">
            <a:solidFill>
              <a:srgbClr val="FFFFFF">
                <a:alpha val="24000"/>
              </a:srgbClr>
            </a:solidFill>
            <a:prstDash val="solid"/>
          </a:ln>
        </p:spPr>
        <p:txBody>
          <a:bodyPr/>
          <a:lstStyle/>
          <a:p>
            <a:endParaRPr lang="en-US"/>
          </a:p>
        </p:txBody>
      </p:sp>
      <p:sp>
        <p:nvSpPr>
          <p:cNvPr id="5" name="Shape 3"/>
          <p:cNvSpPr/>
          <p:nvPr/>
        </p:nvSpPr>
        <p:spPr>
          <a:xfrm>
            <a:off x="845344" y="2148602"/>
            <a:ext cx="12939713" cy="601504"/>
          </a:xfrm>
          <a:prstGeom prst="rect">
            <a:avLst/>
          </a:prstGeom>
          <a:solidFill>
            <a:srgbClr val="FFFFFF">
              <a:alpha val="4000"/>
            </a:srgbClr>
          </a:solidFill>
          <a:ln/>
        </p:spPr>
        <p:txBody>
          <a:bodyPr/>
          <a:lstStyle/>
          <a:p>
            <a:endParaRPr lang="en-US"/>
          </a:p>
        </p:txBody>
      </p:sp>
      <p:sp>
        <p:nvSpPr>
          <p:cNvPr id="6" name="Text 4"/>
          <p:cNvSpPr/>
          <p:nvPr/>
        </p:nvSpPr>
        <p:spPr>
          <a:xfrm>
            <a:off x="1054894" y="2281833"/>
            <a:ext cx="3200400"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Item</a:t>
            </a:r>
            <a:endParaRPr lang="en-US" sz="1600" dirty="0"/>
          </a:p>
        </p:txBody>
      </p:sp>
      <p:sp>
        <p:nvSpPr>
          <p:cNvPr id="7" name="Text 5"/>
          <p:cNvSpPr/>
          <p:nvPr/>
        </p:nvSpPr>
        <p:spPr>
          <a:xfrm>
            <a:off x="4681776" y="2281833"/>
            <a:ext cx="2679025" cy="335042"/>
          </a:xfrm>
          <a:prstGeom prst="rect">
            <a:avLst/>
          </a:prstGeom>
          <a:noFill/>
          <a:ln/>
        </p:spPr>
        <p:txBody>
          <a:bodyPr wrap="none" lIns="0" tIns="0" rIns="0" bIns="0" rtlCol="0" anchor="t"/>
          <a:lstStyle/>
          <a:p>
            <a:pPr marL="0" indent="0" algn="l">
              <a:lnSpc>
                <a:spcPts val="2600"/>
              </a:lnSpc>
              <a:buNone/>
            </a:pPr>
            <a:r>
              <a:rPr lang="en-US" sz="1600" b="1" dirty="0">
                <a:solidFill>
                  <a:srgbClr val="D6E5EF"/>
                </a:solidFill>
                <a:latin typeface="Source Sans 3" pitchFamily="34" charset="0"/>
                <a:ea typeface="Source Sans 3" pitchFamily="34" charset="-122"/>
                <a:cs typeface="Source Sans 3" pitchFamily="34" charset="-120"/>
              </a:rPr>
              <a:t>2023</a:t>
            </a:r>
            <a:endParaRPr lang="en-US" sz="1600" dirty="0"/>
          </a:p>
        </p:txBody>
      </p:sp>
      <p:sp>
        <p:nvSpPr>
          <p:cNvPr id="8" name="Text 6"/>
          <p:cNvSpPr/>
          <p:nvPr/>
        </p:nvSpPr>
        <p:spPr>
          <a:xfrm>
            <a:off x="7787283" y="2281833"/>
            <a:ext cx="2679025" cy="335042"/>
          </a:xfrm>
          <a:prstGeom prst="rect">
            <a:avLst/>
          </a:prstGeom>
          <a:noFill/>
          <a:ln/>
        </p:spPr>
        <p:txBody>
          <a:bodyPr wrap="none" lIns="0" tIns="0" rIns="0" bIns="0" rtlCol="0" anchor="t"/>
          <a:lstStyle/>
          <a:p>
            <a:pPr marL="0" indent="0" algn="l">
              <a:lnSpc>
                <a:spcPts val="2600"/>
              </a:lnSpc>
              <a:buNone/>
            </a:pPr>
            <a:r>
              <a:rPr lang="en-US" sz="1600" b="1" dirty="0">
                <a:solidFill>
                  <a:srgbClr val="D6E5EF"/>
                </a:solidFill>
                <a:latin typeface="Source Sans 3" pitchFamily="34" charset="0"/>
                <a:ea typeface="Source Sans 3" pitchFamily="34" charset="-122"/>
                <a:cs typeface="Source Sans 3" pitchFamily="34" charset="-120"/>
              </a:rPr>
              <a:t>2024</a:t>
            </a:r>
            <a:endParaRPr lang="en-US" sz="1600" dirty="0"/>
          </a:p>
        </p:txBody>
      </p:sp>
      <p:sp>
        <p:nvSpPr>
          <p:cNvPr id="9" name="Text 7"/>
          <p:cNvSpPr/>
          <p:nvPr/>
        </p:nvSpPr>
        <p:spPr>
          <a:xfrm>
            <a:off x="10892790" y="2281833"/>
            <a:ext cx="2682835" cy="335042"/>
          </a:xfrm>
          <a:prstGeom prst="rect">
            <a:avLst/>
          </a:prstGeom>
          <a:noFill/>
          <a:ln/>
        </p:spPr>
        <p:txBody>
          <a:bodyPr wrap="none" lIns="0" tIns="0" rIns="0" bIns="0" rtlCol="0" anchor="t"/>
          <a:lstStyle/>
          <a:p>
            <a:pPr marL="0" indent="0" algn="l">
              <a:lnSpc>
                <a:spcPts val="2600"/>
              </a:lnSpc>
              <a:buNone/>
            </a:pPr>
            <a:r>
              <a:rPr lang="en-US" sz="1600" b="1" dirty="0">
                <a:solidFill>
                  <a:srgbClr val="D6E5EF"/>
                </a:solidFill>
                <a:latin typeface="Source Sans 3" pitchFamily="34" charset="0"/>
                <a:ea typeface="Source Sans 3" pitchFamily="34" charset="-122"/>
                <a:cs typeface="Source Sans 3" pitchFamily="34" charset="-120"/>
              </a:rPr>
              <a:t>2025</a:t>
            </a:r>
            <a:endParaRPr lang="en-US" sz="1600" dirty="0"/>
          </a:p>
        </p:txBody>
      </p:sp>
      <p:sp>
        <p:nvSpPr>
          <p:cNvPr id="10" name="Shape 8"/>
          <p:cNvSpPr/>
          <p:nvPr/>
        </p:nvSpPr>
        <p:spPr>
          <a:xfrm>
            <a:off x="845344" y="2750106"/>
            <a:ext cx="12939713" cy="601504"/>
          </a:xfrm>
          <a:prstGeom prst="rect">
            <a:avLst/>
          </a:prstGeom>
          <a:solidFill>
            <a:srgbClr val="000000">
              <a:alpha val="4000"/>
            </a:srgbClr>
          </a:solidFill>
          <a:ln/>
        </p:spPr>
        <p:txBody>
          <a:bodyPr/>
          <a:lstStyle/>
          <a:p>
            <a:endParaRPr lang="en-US"/>
          </a:p>
        </p:txBody>
      </p:sp>
      <p:sp>
        <p:nvSpPr>
          <p:cNvPr id="11" name="Text 9"/>
          <p:cNvSpPr/>
          <p:nvPr/>
        </p:nvSpPr>
        <p:spPr>
          <a:xfrm>
            <a:off x="1054894" y="2883337"/>
            <a:ext cx="3200400"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Current assets</a:t>
            </a:r>
            <a:endParaRPr lang="en-US" sz="1600" dirty="0"/>
          </a:p>
        </p:txBody>
      </p:sp>
      <p:sp>
        <p:nvSpPr>
          <p:cNvPr id="12" name="Text 10"/>
          <p:cNvSpPr/>
          <p:nvPr/>
        </p:nvSpPr>
        <p:spPr>
          <a:xfrm>
            <a:off x="4681776" y="2883337"/>
            <a:ext cx="2679025"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25,202</a:t>
            </a:r>
            <a:endParaRPr lang="en-US" sz="1600" dirty="0"/>
          </a:p>
        </p:txBody>
      </p:sp>
      <p:sp>
        <p:nvSpPr>
          <p:cNvPr id="13" name="Text 11"/>
          <p:cNvSpPr/>
          <p:nvPr/>
        </p:nvSpPr>
        <p:spPr>
          <a:xfrm>
            <a:off x="7787283" y="2883337"/>
            <a:ext cx="2679025"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25,382</a:t>
            </a:r>
            <a:endParaRPr lang="en-US" sz="1600" dirty="0"/>
          </a:p>
        </p:txBody>
      </p:sp>
      <p:sp>
        <p:nvSpPr>
          <p:cNvPr id="14" name="Text 12"/>
          <p:cNvSpPr/>
          <p:nvPr/>
        </p:nvSpPr>
        <p:spPr>
          <a:xfrm>
            <a:off x="10892790" y="2883337"/>
            <a:ext cx="2682835"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23,362</a:t>
            </a:r>
            <a:endParaRPr lang="en-US" sz="1600" dirty="0"/>
          </a:p>
        </p:txBody>
      </p:sp>
      <p:sp>
        <p:nvSpPr>
          <p:cNvPr id="15" name="Shape 13"/>
          <p:cNvSpPr/>
          <p:nvPr/>
        </p:nvSpPr>
        <p:spPr>
          <a:xfrm>
            <a:off x="845344" y="3351609"/>
            <a:ext cx="12939713" cy="601504"/>
          </a:xfrm>
          <a:prstGeom prst="rect">
            <a:avLst/>
          </a:prstGeom>
          <a:solidFill>
            <a:srgbClr val="FFFFFF">
              <a:alpha val="4000"/>
            </a:srgbClr>
          </a:solidFill>
          <a:ln/>
        </p:spPr>
        <p:txBody>
          <a:bodyPr/>
          <a:lstStyle/>
          <a:p>
            <a:endParaRPr lang="en-US"/>
          </a:p>
        </p:txBody>
      </p:sp>
      <p:sp>
        <p:nvSpPr>
          <p:cNvPr id="16" name="Text 14"/>
          <p:cNvSpPr/>
          <p:nvPr/>
        </p:nvSpPr>
        <p:spPr>
          <a:xfrm>
            <a:off x="1054894" y="3484840"/>
            <a:ext cx="3200400"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Current liabilities</a:t>
            </a:r>
            <a:endParaRPr lang="en-US" sz="1600" dirty="0"/>
          </a:p>
        </p:txBody>
      </p:sp>
      <p:sp>
        <p:nvSpPr>
          <p:cNvPr id="17" name="Text 15"/>
          <p:cNvSpPr/>
          <p:nvPr/>
        </p:nvSpPr>
        <p:spPr>
          <a:xfrm>
            <a:off x="4681776" y="3484840"/>
            <a:ext cx="2679025"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9,256</a:t>
            </a:r>
            <a:endParaRPr lang="en-US" sz="1600" dirty="0"/>
          </a:p>
        </p:txBody>
      </p:sp>
      <p:sp>
        <p:nvSpPr>
          <p:cNvPr id="18" name="Text 16"/>
          <p:cNvSpPr/>
          <p:nvPr/>
        </p:nvSpPr>
        <p:spPr>
          <a:xfrm>
            <a:off x="7787283" y="3484840"/>
            <a:ext cx="2679025"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10,593</a:t>
            </a:r>
            <a:endParaRPr lang="en-US" sz="1600" dirty="0"/>
          </a:p>
        </p:txBody>
      </p:sp>
      <p:sp>
        <p:nvSpPr>
          <p:cNvPr id="19" name="Text 17"/>
          <p:cNvSpPr/>
          <p:nvPr/>
        </p:nvSpPr>
        <p:spPr>
          <a:xfrm>
            <a:off x="10892790" y="3484840"/>
            <a:ext cx="2682835"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10,566</a:t>
            </a:r>
            <a:endParaRPr lang="en-US" sz="1600" dirty="0"/>
          </a:p>
        </p:txBody>
      </p:sp>
      <p:sp>
        <p:nvSpPr>
          <p:cNvPr id="20" name="Shape 18"/>
          <p:cNvSpPr/>
          <p:nvPr/>
        </p:nvSpPr>
        <p:spPr>
          <a:xfrm>
            <a:off x="845344" y="3953113"/>
            <a:ext cx="12939713" cy="601504"/>
          </a:xfrm>
          <a:prstGeom prst="rect">
            <a:avLst/>
          </a:prstGeom>
          <a:solidFill>
            <a:srgbClr val="000000">
              <a:alpha val="4000"/>
            </a:srgbClr>
          </a:solidFill>
          <a:ln/>
        </p:spPr>
        <p:txBody>
          <a:bodyPr/>
          <a:lstStyle/>
          <a:p>
            <a:endParaRPr lang="en-US"/>
          </a:p>
        </p:txBody>
      </p:sp>
      <p:sp>
        <p:nvSpPr>
          <p:cNvPr id="21" name="Text 19"/>
          <p:cNvSpPr/>
          <p:nvPr/>
        </p:nvSpPr>
        <p:spPr>
          <a:xfrm>
            <a:off x="1054894" y="4086344"/>
            <a:ext cx="3200400"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Cash</a:t>
            </a:r>
            <a:endParaRPr lang="en-US" sz="1600" dirty="0"/>
          </a:p>
        </p:txBody>
      </p:sp>
      <p:sp>
        <p:nvSpPr>
          <p:cNvPr id="22" name="Text 20"/>
          <p:cNvSpPr/>
          <p:nvPr/>
        </p:nvSpPr>
        <p:spPr>
          <a:xfrm>
            <a:off x="4681776" y="4086344"/>
            <a:ext cx="2679025"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7,441</a:t>
            </a:r>
            <a:endParaRPr lang="en-US" sz="1600" dirty="0"/>
          </a:p>
        </p:txBody>
      </p:sp>
      <p:sp>
        <p:nvSpPr>
          <p:cNvPr id="23" name="Text 21"/>
          <p:cNvSpPr/>
          <p:nvPr/>
        </p:nvSpPr>
        <p:spPr>
          <a:xfrm>
            <a:off x="7787283" y="4086344"/>
            <a:ext cx="2679025"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9,860</a:t>
            </a:r>
            <a:endParaRPr lang="en-US" sz="1600" dirty="0"/>
          </a:p>
        </p:txBody>
      </p:sp>
      <p:sp>
        <p:nvSpPr>
          <p:cNvPr id="24" name="Text 22"/>
          <p:cNvSpPr/>
          <p:nvPr/>
        </p:nvSpPr>
        <p:spPr>
          <a:xfrm>
            <a:off x="10892790" y="4086344"/>
            <a:ext cx="2682835"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7,464</a:t>
            </a:r>
            <a:endParaRPr lang="en-US" sz="1600" dirty="0"/>
          </a:p>
        </p:txBody>
      </p:sp>
      <p:sp>
        <p:nvSpPr>
          <p:cNvPr id="25" name="Shape 23"/>
          <p:cNvSpPr/>
          <p:nvPr/>
        </p:nvSpPr>
        <p:spPr>
          <a:xfrm>
            <a:off x="845344" y="4554617"/>
            <a:ext cx="12939713" cy="601504"/>
          </a:xfrm>
          <a:prstGeom prst="rect">
            <a:avLst/>
          </a:prstGeom>
          <a:solidFill>
            <a:srgbClr val="FFFFFF">
              <a:alpha val="4000"/>
            </a:srgbClr>
          </a:solidFill>
          <a:ln/>
        </p:spPr>
        <p:txBody>
          <a:bodyPr/>
          <a:lstStyle/>
          <a:p>
            <a:endParaRPr lang="en-US"/>
          </a:p>
        </p:txBody>
      </p:sp>
      <p:sp>
        <p:nvSpPr>
          <p:cNvPr id="26" name="Text 24"/>
          <p:cNvSpPr/>
          <p:nvPr/>
        </p:nvSpPr>
        <p:spPr>
          <a:xfrm>
            <a:off x="1054894" y="4687848"/>
            <a:ext cx="3200400"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Inventory</a:t>
            </a:r>
            <a:endParaRPr lang="en-US" sz="1600" dirty="0"/>
          </a:p>
        </p:txBody>
      </p:sp>
      <p:sp>
        <p:nvSpPr>
          <p:cNvPr id="27" name="Text 25"/>
          <p:cNvSpPr/>
          <p:nvPr/>
        </p:nvSpPr>
        <p:spPr>
          <a:xfrm>
            <a:off x="4681776" y="4687848"/>
            <a:ext cx="2679025"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8,454</a:t>
            </a:r>
            <a:endParaRPr lang="en-US" sz="1600" dirty="0"/>
          </a:p>
        </p:txBody>
      </p:sp>
      <p:sp>
        <p:nvSpPr>
          <p:cNvPr id="28" name="Text 26"/>
          <p:cNvSpPr/>
          <p:nvPr/>
        </p:nvSpPr>
        <p:spPr>
          <a:xfrm>
            <a:off x="7787283" y="4687848"/>
            <a:ext cx="2679025"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7,519</a:t>
            </a:r>
            <a:endParaRPr lang="en-US" sz="1600" dirty="0"/>
          </a:p>
        </p:txBody>
      </p:sp>
      <p:sp>
        <p:nvSpPr>
          <p:cNvPr id="29" name="Text 27"/>
          <p:cNvSpPr/>
          <p:nvPr/>
        </p:nvSpPr>
        <p:spPr>
          <a:xfrm>
            <a:off x="10892790" y="4687848"/>
            <a:ext cx="2682835"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7,489</a:t>
            </a:r>
            <a:endParaRPr lang="en-US" sz="1600" dirty="0"/>
          </a:p>
        </p:txBody>
      </p:sp>
      <p:sp>
        <p:nvSpPr>
          <p:cNvPr id="30" name="Shape 28"/>
          <p:cNvSpPr/>
          <p:nvPr/>
        </p:nvSpPr>
        <p:spPr>
          <a:xfrm>
            <a:off x="845344" y="5156121"/>
            <a:ext cx="12939713" cy="601504"/>
          </a:xfrm>
          <a:prstGeom prst="rect">
            <a:avLst/>
          </a:prstGeom>
          <a:solidFill>
            <a:srgbClr val="000000">
              <a:alpha val="4000"/>
            </a:srgbClr>
          </a:solidFill>
          <a:ln/>
        </p:spPr>
        <p:txBody>
          <a:bodyPr/>
          <a:lstStyle/>
          <a:p>
            <a:endParaRPr lang="en-US"/>
          </a:p>
        </p:txBody>
      </p:sp>
      <p:sp>
        <p:nvSpPr>
          <p:cNvPr id="31" name="Text 29"/>
          <p:cNvSpPr/>
          <p:nvPr/>
        </p:nvSpPr>
        <p:spPr>
          <a:xfrm>
            <a:off x="1054894" y="5289352"/>
            <a:ext cx="3200400"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Total assets</a:t>
            </a:r>
            <a:endParaRPr lang="en-US" sz="1600" dirty="0"/>
          </a:p>
        </p:txBody>
      </p:sp>
      <p:sp>
        <p:nvSpPr>
          <p:cNvPr id="32" name="Text 30"/>
          <p:cNvSpPr/>
          <p:nvPr/>
        </p:nvSpPr>
        <p:spPr>
          <a:xfrm>
            <a:off x="4681776" y="5289352"/>
            <a:ext cx="2679025"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37,531</a:t>
            </a:r>
            <a:endParaRPr lang="en-US" sz="1600" dirty="0"/>
          </a:p>
        </p:txBody>
      </p:sp>
      <p:sp>
        <p:nvSpPr>
          <p:cNvPr id="33" name="Text 31"/>
          <p:cNvSpPr/>
          <p:nvPr/>
        </p:nvSpPr>
        <p:spPr>
          <a:xfrm>
            <a:off x="7787283" y="5289352"/>
            <a:ext cx="2679025"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38,110</a:t>
            </a:r>
            <a:endParaRPr lang="en-US" sz="1600" dirty="0"/>
          </a:p>
        </p:txBody>
      </p:sp>
      <p:sp>
        <p:nvSpPr>
          <p:cNvPr id="34" name="Text 32"/>
          <p:cNvSpPr/>
          <p:nvPr/>
        </p:nvSpPr>
        <p:spPr>
          <a:xfrm>
            <a:off x="10892790" y="5289352"/>
            <a:ext cx="2682835"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36,579</a:t>
            </a:r>
            <a:endParaRPr lang="en-US" sz="1600" dirty="0"/>
          </a:p>
        </p:txBody>
      </p:sp>
      <p:sp>
        <p:nvSpPr>
          <p:cNvPr id="35" name="Shape 33"/>
          <p:cNvSpPr/>
          <p:nvPr/>
        </p:nvSpPr>
        <p:spPr>
          <a:xfrm>
            <a:off x="845344" y="5757624"/>
            <a:ext cx="12939713" cy="601504"/>
          </a:xfrm>
          <a:prstGeom prst="rect">
            <a:avLst/>
          </a:prstGeom>
          <a:solidFill>
            <a:srgbClr val="FFFFFF">
              <a:alpha val="4000"/>
            </a:srgbClr>
          </a:solidFill>
          <a:ln/>
        </p:spPr>
        <p:txBody>
          <a:bodyPr/>
          <a:lstStyle/>
          <a:p>
            <a:endParaRPr lang="en-US"/>
          </a:p>
        </p:txBody>
      </p:sp>
      <p:sp>
        <p:nvSpPr>
          <p:cNvPr id="36" name="Text 34"/>
          <p:cNvSpPr/>
          <p:nvPr/>
        </p:nvSpPr>
        <p:spPr>
          <a:xfrm>
            <a:off x="1054894" y="5890855"/>
            <a:ext cx="3200400"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Shareholders’ equity</a:t>
            </a:r>
            <a:endParaRPr lang="en-US" sz="1600" dirty="0"/>
          </a:p>
        </p:txBody>
      </p:sp>
      <p:sp>
        <p:nvSpPr>
          <p:cNvPr id="37" name="Text 35"/>
          <p:cNvSpPr/>
          <p:nvPr/>
        </p:nvSpPr>
        <p:spPr>
          <a:xfrm>
            <a:off x="4681776" y="5890855"/>
            <a:ext cx="2679025"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14,004</a:t>
            </a:r>
            <a:endParaRPr lang="en-US" sz="1600" dirty="0"/>
          </a:p>
        </p:txBody>
      </p:sp>
      <p:sp>
        <p:nvSpPr>
          <p:cNvPr id="38" name="Text 36"/>
          <p:cNvSpPr/>
          <p:nvPr/>
        </p:nvSpPr>
        <p:spPr>
          <a:xfrm>
            <a:off x="7787283" y="5890855"/>
            <a:ext cx="2679025"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14,430</a:t>
            </a:r>
            <a:endParaRPr lang="en-US" sz="1600" dirty="0"/>
          </a:p>
        </p:txBody>
      </p:sp>
      <p:sp>
        <p:nvSpPr>
          <p:cNvPr id="39" name="Text 37"/>
          <p:cNvSpPr/>
          <p:nvPr/>
        </p:nvSpPr>
        <p:spPr>
          <a:xfrm>
            <a:off x="10892790" y="5890855"/>
            <a:ext cx="2682835"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13,213</a:t>
            </a:r>
            <a:endParaRPr lang="en-US" sz="1600" dirty="0"/>
          </a:p>
        </p:txBody>
      </p:sp>
      <p:sp>
        <p:nvSpPr>
          <p:cNvPr id="40" name="Shape 38"/>
          <p:cNvSpPr/>
          <p:nvPr/>
        </p:nvSpPr>
        <p:spPr>
          <a:xfrm>
            <a:off x="845344" y="6359128"/>
            <a:ext cx="12939713" cy="601504"/>
          </a:xfrm>
          <a:prstGeom prst="rect">
            <a:avLst/>
          </a:prstGeom>
          <a:solidFill>
            <a:srgbClr val="000000">
              <a:alpha val="4000"/>
            </a:srgbClr>
          </a:solidFill>
          <a:ln/>
        </p:spPr>
        <p:txBody>
          <a:bodyPr/>
          <a:lstStyle/>
          <a:p>
            <a:endParaRPr lang="en-US"/>
          </a:p>
        </p:txBody>
      </p:sp>
      <p:sp>
        <p:nvSpPr>
          <p:cNvPr id="41" name="Text 39"/>
          <p:cNvSpPr/>
          <p:nvPr/>
        </p:nvSpPr>
        <p:spPr>
          <a:xfrm>
            <a:off x="1054894" y="6492359"/>
            <a:ext cx="3200400"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Net income — consolidated</a:t>
            </a:r>
            <a:endParaRPr lang="en-US" sz="1600" dirty="0"/>
          </a:p>
        </p:txBody>
      </p:sp>
      <p:sp>
        <p:nvSpPr>
          <p:cNvPr id="42" name="Text 40"/>
          <p:cNvSpPr/>
          <p:nvPr/>
        </p:nvSpPr>
        <p:spPr>
          <a:xfrm>
            <a:off x="4681776" y="6492359"/>
            <a:ext cx="2679025" cy="335042"/>
          </a:xfrm>
          <a:prstGeom prst="rect">
            <a:avLst/>
          </a:prstGeom>
          <a:noFill/>
          <a:ln/>
        </p:spPr>
        <p:txBody>
          <a:bodyPr wrap="none" lIns="0" tIns="0" rIns="0" bIns="0" rtlCol="0" anchor="t"/>
          <a:lstStyle/>
          <a:p>
            <a:pPr marL="0" indent="0" algn="l">
              <a:lnSpc>
                <a:spcPts val="2600"/>
              </a:lnSpc>
              <a:buNone/>
            </a:pPr>
            <a:r>
              <a:rPr lang="en-US" sz="1600" dirty="0">
                <a:solidFill>
                  <a:srgbClr val="FF0000"/>
                </a:solidFill>
                <a:latin typeface="Source Sans 3" pitchFamily="34" charset="0"/>
                <a:ea typeface="Source Sans 3" pitchFamily="34" charset="-122"/>
                <a:cs typeface="Source Sans 3" pitchFamily="34" charset="-120"/>
              </a:rPr>
              <a:t>5,070</a:t>
            </a:r>
            <a:endParaRPr lang="en-US" sz="1600" dirty="0">
              <a:solidFill>
                <a:srgbClr val="FF0000"/>
              </a:solidFill>
            </a:endParaRPr>
          </a:p>
        </p:txBody>
      </p:sp>
      <p:sp>
        <p:nvSpPr>
          <p:cNvPr id="43" name="Text 41"/>
          <p:cNvSpPr/>
          <p:nvPr/>
        </p:nvSpPr>
        <p:spPr>
          <a:xfrm>
            <a:off x="7787283" y="6492359"/>
            <a:ext cx="2679025" cy="335042"/>
          </a:xfrm>
          <a:prstGeom prst="rect">
            <a:avLst/>
          </a:prstGeom>
          <a:noFill/>
          <a:ln/>
        </p:spPr>
        <p:txBody>
          <a:bodyPr wrap="none" lIns="0" tIns="0" rIns="0" bIns="0" rtlCol="0" anchor="t"/>
          <a:lstStyle/>
          <a:p>
            <a:pPr marL="0" indent="0" algn="l">
              <a:lnSpc>
                <a:spcPts val="2600"/>
              </a:lnSpc>
              <a:buNone/>
            </a:pPr>
            <a:r>
              <a:rPr lang="en-US" sz="1600" dirty="0">
                <a:solidFill>
                  <a:srgbClr val="FF0000"/>
                </a:solidFill>
                <a:latin typeface="Source Sans 3" pitchFamily="34" charset="0"/>
                <a:ea typeface="Source Sans 3" pitchFamily="34" charset="-122"/>
                <a:cs typeface="Source Sans 3" pitchFamily="34" charset="-120"/>
              </a:rPr>
              <a:t>5,700</a:t>
            </a:r>
            <a:endParaRPr lang="en-US" sz="1600" dirty="0">
              <a:solidFill>
                <a:srgbClr val="FF0000"/>
              </a:solidFill>
            </a:endParaRPr>
          </a:p>
        </p:txBody>
      </p:sp>
      <p:sp>
        <p:nvSpPr>
          <p:cNvPr id="44" name="Text 42"/>
          <p:cNvSpPr/>
          <p:nvPr/>
        </p:nvSpPr>
        <p:spPr>
          <a:xfrm>
            <a:off x="10892790" y="6492359"/>
            <a:ext cx="2682835" cy="335042"/>
          </a:xfrm>
          <a:prstGeom prst="rect">
            <a:avLst/>
          </a:prstGeom>
          <a:noFill/>
          <a:ln/>
        </p:spPr>
        <p:txBody>
          <a:bodyPr wrap="none" lIns="0" tIns="0" rIns="0" bIns="0" rtlCol="0" anchor="t"/>
          <a:lstStyle/>
          <a:p>
            <a:pPr marL="0" indent="0" algn="l">
              <a:lnSpc>
                <a:spcPts val="2600"/>
              </a:lnSpc>
              <a:buNone/>
            </a:pPr>
            <a:r>
              <a:rPr lang="en-US" sz="1600" dirty="0">
                <a:solidFill>
                  <a:srgbClr val="FF0000"/>
                </a:solidFill>
                <a:latin typeface="Source Sans 3" pitchFamily="34" charset="0"/>
                <a:ea typeface="Source Sans 3" pitchFamily="34" charset="-122"/>
                <a:cs typeface="Source Sans 3" pitchFamily="34" charset="-120"/>
              </a:rPr>
              <a:t>3,219</a:t>
            </a:r>
            <a:endParaRPr lang="en-US" sz="1600" dirty="0">
              <a:solidFill>
                <a:srgbClr val="FF0000"/>
              </a:solidFill>
            </a:endParaRPr>
          </a:p>
        </p:txBody>
      </p:sp>
      <p:sp>
        <p:nvSpPr>
          <p:cNvPr id="45" name="Text 43"/>
          <p:cNvSpPr/>
          <p:nvPr/>
        </p:nvSpPr>
        <p:spPr>
          <a:xfrm>
            <a:off x="837724" y="7203877"/>
            <a:ext cx="12954952" cy="268010"/>
          </a:xfrm>
          <a:prstGeom prst="rect">
            <a:avLst/>
          </a:prstGeom>
          <a:noFill/>
          <a:ln/>
        </p:spPr>
        <p:txBody>
          <a:bodyPr wrap="none" lIns="0" tIns="0" rIns="0" bIns="0" rtlCol="0" anchor="t"/>
          <a:lstStyle/>
          <a:p>
            <a:pPr marL="0" indent="0" algn="l">
              <a:lnSpc>
                <a:spcPts val="2100"/>
              </a:lnSpc>
              <a:buNone/>
            </a:pPr>
            <a:r>
              <a:rPr lang="en-US" sz="1300" dirty="0">
                <a:solidFill>
                  <a:srgbClr val="D6E5EF"/>
                </a:solidFill>
                <a:latin typeface="Source Sans 3" pitchFamily="34" charset="0"/>
                <a:ea typeface="Source Sans 3" pitchFamily="34" charset="-122"/>
                <a:cs typeface="Source Sans 3" pitchFamily="34" charset="-120"/>
              </a:rPr>
              <a:t>Note the significant decline in Net Income and Current Assets in FY2025, which will be reflected in the ratio analysis.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7724" y="657463"/>
            <a:ext cx="11065193" cy="615910"/>
          </a:xfrm>
          <a:prstGeom prst="rect">
            <a:avLst/>
          </a:prstGeom>
          <a:noFill/>
          <a:ln/>
        </p:spPr>
        <p:txBody>
          <a:bodyPr wrap="none" lIns="0" tIns="0" rIns="0" bIns="0" rtlCol="0" anchor="t"/>
          <a:lstStyle/>
          <a:p>
            <a:pPr marL="0" indent="0" algn="l">
              <a:lnSpc>
                <a:spcPts val="4850"/>
              </a:lnSpc>
              <a:buNone/>
            </a:pPr>
            <a:r>
              <a:rPr lang="en-US" sz="3850" dirty="0">
                <a:solidFill>
                  <a:srgbClr val="F98AC7"/>
                </a:solidFill>
                <a:latin typeface="Lora" pitchFamily="34" charset="0"/>
                <a:ea typeface="Lora" pitchFamily="34" charset="-122"/>
                <a:cs typeface="Lora" pitchFamily="34" charset="-120"/>
              </a:rPr>
              <a:t>Liquidity Ratios: Measuring Short-Term Stability</a:t>
            </a:r>
            <a:endParaRPr lang="en-US" sz="3850" dirty="0"/>
          </a:p>
        </p:txBody>
      </p:sp>
      <p:sp>
        <p:nvSpPr>
          <p:cNvPr id="3" name="Text 1"/>
          <p:cNvSpPr/>
          <p:nvPr/>
        </p:nvSpPr>
        <p:spPr>
          <a:xfrm>
            <a:off x="837724" y="1692235"/>
            <a:ext cx="12954952"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Liquidity ratios assess NIKE's ability to cover its short-term debt obligations. Healthy ratios are essential for operational stability.</a:t>
            </a:r>
            <a:endParaRPr lang="en-US" sz="1600" dirty="0"/>
          </a:p>
        </p:txBody>
      </p:sp>
      <p:sp>
        <p:nvSpPr>
          <p:cNvPr id="4" name="Shape 2"/>
          <p:cNvSpPr/>
          <p:nvPr/>
        </p:nvSpPr>
        <p:spPr>
          <a:xfrm>
            <a:off x="837724" y="2262902"/>
            <a:ext cx="4178618" cy="4403407"/>
          </a:xfrm>
          <a:prstGeom prst="roundRect">
            <a:avLst>
              <a:gd name="adj" fmla="val 752"/>
            </a:avLst>
          </a:prstGeom>
          <a:solidFill>
            <a:srgbClr val="252833"/>
          </a:solidFill>
          <a:ln w="22860">
            <a:solidFill>
              <a:srgbClr val="5D606B"/>
            </a:solidFill>
            <a:prstDash val="solid"/>
          </a:ln>
        </p:spPr>
        <p:txBody>
          <a:bodyPr/>
          <a:lstStyle/>
          <a:p>
            <a:endParaRPr lang="en-US"/>
          </a:p>
        </p:txBody>
      </p:sp>
      <p:sp>
        <p:nvSpPr>
          <p:cNvPr id="5" name="Shape 3"/>
          <p:cNvSpPr/>
          <p:nvPr/>
        </p:nvSpPr>
        <p:spPr>
          <a:xfrm>
            <a:off x="860584" y="2285762"/>
            <a:ext cx="4132898" cy="628293"/>
          </a:xfrm>
          <a:prstGeom prst="roundRect">
            <a:avLst>
              <a:gd name="adj" fmla="val 635"/>
            </a:avLst>
          </a:prstGeom>
          <a:solidFill>
            <a:srgbClr val="444752"/>
          </a:solidFill>
          <a:ln/>
        </p:spPr>
        <p:txBody>
          <a:bodyPr/>
          <a:lstStyle/>
          <a:p>
            <a:endParaRPr lang="en-US"/>
          </a:p>
        </p:txBody>
      </p:sp>
      <p:sp>
        <p:nvSpPr>
          <p:cNvPr id="6" name="Text 4"/>
          <p:cNvSpPr/>
          <p:nvPr/>
        </p:nvSpPr>
        <p:spPr>
          <a:xfrm>
            <a:off x="2769989" y="2403515"/>
            <a:ext cx="314087" cy="392668"/>
          </a:xfrm>
          <a:prstGeom prst="rect">
            <a:avLst/>
          </a:prstGeom>
          <a:noFill/>
          <a:ln/>
        </p:spPr>
        <p:txBody>
          <a:bodyPr wrap="none" lIns="0" tIns="0" rIns="0" bIns="0" rtlCol="0" anchor="t"/>
          <a:lstStyle/>
          <a:p>
            <a:pPr marL="0" indent="0" algn="l">
              <a:lnSpc>
                <a:spcPts val="2450"/>
              </a:lnSpc>
              <a:buNone/>
            </a:pPr>
            <a:r>
              <a:rPr lang="en-US" sz="2450" dirty="0">
                <a:solidFill>
                  <a:srgbClr val="D6E5EF"/>
                </a:solidFill>
                <a:latin typeface="Lora" pitchFamily="34" charset="0"/>
                <a:ea typeface="Lora" pitchFamily="34" charset="-122"/>
                <a:cs typeface="Lora" pitchFamily="34" charset="-120"/>
              </a:rPr>
              <a:t>1</a:t>
            </a:r>
            <a:endParaRPr lang="en-US" sz="2450" dirty="0"/>
          </a:p>
        </p:txBody>
      </p:sp>
      <p:sp>
        <p:nvSpPr>
          <p:cNvPr id="7" name="Text 5"/>
          <p:cNvSpPr/>
          <p:nvPr/>
        </p:nvSpPr>
        <p:spPr>
          <a:xfrm>
            <a:off x="1070015" y="3123486"/>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D6E5EF"/>
                </a:solidFill>
                <a:latin typeface="Lora" pitchFamily="34" charset="0"/>
                <a:ea typeface="Lora" pitchFamily="34" charset="-122"/>
                <a:cs typeface="Lora" pitchFamily="34" charset="-120"/>
              </a:rPr>
              <a:t>Current Ratio</a:t>
            </a:r>
            <a:endParaRPr lang="en-US" sz="1900" dirty="0"/>
          </a:p>
        </p:txBody>
      </p:sp>
      <p:sp>
        <p:nvSpPr>
          <p:cNvPr id="8" name="Text 6"/>
          <p:cNvSpPr/>
          <p:nvPr/>
        </p:nvSpPr>
        <p:spPr>
          <a:xfrm>
            <a:off x="1070015" y="3557111"/>
            <a:ext cx="3714036" cy="670084"/>
          </a:xfrm>
          <a:prstGeom prst="rect">
            <a:avLst/>
          </a:prstGeom>
          <a:noFill/>
          <a:ln/>
        </p:spPr>
        <p:txBody>
          <a:bodyPr wrap="squar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Formula: Current Assets / Current Liabilities</a:t>
            </a:r>
            <a:endParaRPr lang="en-US" sz="1600" dirty="0"/>
          </a:p>
        </p:txBody>
      </p:sp>
      <p:sp>
        <p:nvSpPr>
          <p:cNvPr id="9" name="Text 7"/>
          <p:cNvSpPr/>
          <p:nvPr/>
        </p:nvSpPr>
        <p:spPr>
          <a:xfrm>
            <a:off x="1070015" y="4352806"/>
            <a:ext cx="3714036" cy="335042"/>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D6E5EF"/>
                </a:solidFill>
                <a:latin typeface="Source Sans 3" pitchFamily="34" charset="0"/>
                <a:ea typeface="Source Sans 3" pitchFamily="34" charset="-122"/>
                <a:cs typeface="Source Sans 3" pitchFamily="34" charset="-120"/>
              </a:rPr>
              <a:t>2023: </a:t>
            </a:r>
            <a:r>
              <a:rPr lang="en-US" sz="1600" b="1" dirty="0">
                <a:solidFill>
                  <a:srgbClr val="D6E5EF"/>
                </a:solidFill>
                <a:latin typeface="Source Sans 3" pitchFamily="34" charset="0"/>
                <a:ea typeface="Source Sans 3" pitchFamily="34" charset="-122"/>
                <a:cs typeface="Source Sans 3" pitchFamily="34" charset="-120"/>
              </a:rPr>
              <a:t>2.72</a:t>
            </a:r>
            <a:endParaRPr lang="en-US" sz="1600" dirty="0"/>
          </a:p>
        </p:txBody>
      </p:sp>
      <p:sp>
        <p:nvSpPr>
          <p:cNvPr id="10" name="Text 8"/>
          <p:cNvSpPr/>
          <p:nvPr/>
        </p:nvSpPr>
        <p:spPr>
          <a:xfrm>
            <a:off x="1070015" y="4761071"/>
            <a:ext cx="3714036" cy="335042"/>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D6E5EF"/>
                </a:solidFill>
                <a:latin typeface="Source Sans 3" pitchFamily="34" charset="0"/>
                <a:ea typeface="Source Sans 3" pitchFamily="34" charset="-122"/>
                <a:cs typeface="Source Sans 3" pitchFamily="34" charset="-120"/>
              </a:rPr>
              <a:t>2024: </a:t>
            </a:r>
            <a:r>
              <a:rPr lang="en-US" sz="1600" b="1" dirty="0">
                <a:solidFill>
                  <a:srgbClr val="D6E5EF"/>
                </a:solidFill>
                <a:latin typeface="Source Sans 3" pitchFamily="34" charset="0"/>
                <a:ea typeface="Source Sans 3" pitchFamily="34" charset="-122"/>
                <a:cs typeface="Source Sans 3" pitchFamily="34" charset="-120"/>
              </a:rPr>
              <a:t>2.40</a:t>
            </a:r>
            <a:endParaRPr lang="en-US" sz="1600" dirty="0"/>
          </a:p>
        </p:txBody>
      </p:sp>
      <p:sp>
        <p:nvSpPr>
          <p:cNvPr id="11" name="Text 9"/>
          <p:cNvSpPr/>
          <p:nvPr/>
        </p:nvSpPr>
        <p:spPr>
          <a:xfrm>
            <a:off x="1070015" y="5169337"/>
            <a:ext cx="3714036" cy="335042"/>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D6E5EF"/>
                </a:solidFill>
                <a:latin typeface="Source Sans 3" pitchFamily="34" charset="0"/>
                <a:ea typeface="Source Sans 3" pitchFamily="34" charset="-122"/>
                <a:cs typeface="Source Sans 3" pitchFamily="34" charset="-120"/>
              </a:rPr>
              <a:t>2025: </a:t>
            </a:r>
            <a:r>
              <a:rPr lang="en-US" sz="1600" b="1" dirty="0">
                <a:solidFill>
                  <a:srgbClr val="D6E5EF"/>
                </a:solidFill>
                <a:latin typeface="Source Sans 3" pitchFamily="34" charset="0"/>
                <a:ea typeface="Source Sans 3" pitchFamily="34" charset="-122"/>
                <a:cs typeface="Source Sans 3" pitchFamily="34" charset="-120"/>
              </a:rPr>
              <a:t>2.21</a:t>
            </a:r>
            <a:endParaRPr lang="en-US" sz="1600" dirty="0"/>
          </a:p>
        </p:txBody>
      </p:sp>
      <p:sp>
        <p:nvSpPr>
          <p:cNvPr id="12" name="Text 10"/>
          <p:cNvSpPr/>
          <p:nvPr/>
        </p:nvSpPr>
        <p:spPr>
          <a:xfrm>
            <a:off x="1070015" y="5629989"/>
            <a:ext cx="3714036" cy="536019"/>
          </a:xfrm>
          <a:prstGeom prst="rect">
            <a:avLst/>
          </a:prstGeom>
          <a:noFill/>
          <a:ln/>
        </p:spPr>
        <p:txBody>
          <a:bodyPr wrap="square" lIns="0" tIns="0" rIns="0" bIns="0" rtlCol="0" anchor="t"/>
          <a:lstStyle/>
          <a:p>
            <a:pPr marL="0" indent="0" algn="l">
              <a:lnSpc>
                <a:spcPts val="2100"/>
              </a:lnSpc>
              <a:buNone/>
            </a:pPr>
            <a:r>
              <a:rPr lang="en-US" sz="1300" dirty="0">
                <a:solidFill>
                  <a:srgbClr val="D6E5EF"/>
                </a:solidFill>
                <a:latin typeface="Source Sans 3" pitchFamily="34" charset="0"/>
                <a:ea typeface="Source Sans 3" pitchFamily="34" charset="-122"/>
                <a:cs typeface="Source Sans 3" pitchFamily="34" charset="-120"/>
              </a:rPr>
              <a:t>A decline over three years, but still well above the benchmark of 2.0.</a:t>
            </a:r>
            <a:endParaRPr lang="en-US" sz="1300" dirty="0"/>
          </a:p>
        </p:txBody>
      </p:sp>
      <p:sp>
        <p:nvSpPr>
          <p:cNvPr id="13" name="Shape 11"/>
          <p:cNvSpPr/>
          <p:nvPr/>
        </p:nvSpPr>
        <p:spPr>
          <a:xfrm>
            <a:off x="5225772" y="2262902"/>
            <a:ext cx="4178737" cy="4403407"/>
          </a:xfrm>
          <a:prstGeom prst="roundRect">
            <a:avLst>
              <a:gd name="adj" fmla="val 752"/>
            </a:avLst>
          </a:prstGeom>
          <a:solidFill>
            <a:srgbClr val="252833"/>
          </a:solidFill>
          <a:ln w="22860">
            <a:solidFill>
              <a:srgbClr val="5D606B"/>
            </a:solidFill>
            <a:prstDash val="solid"/>
          </a:ln>
        </p:spPr>
        <p:txBody>
          <a:bodyPr/>
          <a:lstStyle/>
          <a:p>
            <a:endParaRPr lang="en-US"/>
          </a:p>
        </p:txBody>
      </p:sp>
      <p:sp>
        <p:nvSpPr>
          <p:cNvPr id="14" name="Shape 12"/>
          <p:cNvSpPr/>
          <p:nvPr/>
        </p:nvSpPr>
        <p:spPr>
          <a:xfrm>
            <a:off x="5248632" y="2285762"/>
            <a:ext cx="4133017" cy="628293"/>
          </a:xfrm>
          <a:prstGeom prst="roundRect">
            <a:avLst>
              <a:gd name="adj" fmla="val 635"/>
            </a:avLst>
          </a:prstGeom>
          <a:solidFill>
            <a:srgbClr val="444752"/>
          </a:solidFill>
          <a:ln/>
        </p:spPr>
        <p:txBody>
          <a:bodyPr/>
          <a:lstStyle/>
          <a:p>
            <a:endParaRPr lang="en-US"/>
          </a:p>
        </p:txBody>
      </p:sp>
      <p:sp>
        <p:nvSpPr>
          <p:cNvPr id="15" name="Text 13"/>
          <p:cNvSpPr/>
          <p:nvPr/>
        </p:nvSpPr>
        <p:spPr>
          <a:xfrm>
            <a:off x="7158038" y="2403515"/>
            <a:ext cx="314087" cy="392668"/>
          </a:xfrm>
          <a:prstGeom prst="rect">
            <a:avLst/>
          </a:prstGeom>
          <a:noFill/>
          <a:ln/>
        </p:spPr>
        <p:txBody>
          <a:bodyPr wrap="none" lIns="0" tIns="0" rIns="0" bIns="0" rtlCol="0" anchor="t"/>
          <a:lstStyle/>
          <a:p>
            <a:pPr marL="0" indent="0" algn="l">
              <a:lnSpc>
                <a:spcPts val="2450"/>
              </a:lnSpc>
              <a:buNone/>
            </a:pPr>
            <a:r>
              <a:rPr lang="en-US" sz="2450" dirty="0">
                <a:solidFill>
                  <a:srgbClr val="D6E5EF"/>
                </a:solidFill>
                <a:latin typeface="Lora" pitchFamily="34" charset="0"/>
                <a:ea typeface="Lora" pitchFamily="34" charset="-122"/>
                <a:cs typeface="Lora" pitchFamily="34" charset="-120"/>
              </a:rPr>
              <a:t>2</a:t>
            </a:r>
            <a:endParaRPr lang="en-US" sz="2450" dirty="0"/>
          </a:p>
        </p:txBody>
      </p:sp>
      <p:sp>
        <p:nvSpPr>
          <p:cNvPr id="16" name="Text 14"/>
          <p:cNvSpPr/>
          <p:nvPr/>
        </p:nvSpPr>
        <p:spPr>
          <a:xfrm>
            <a:off x="5458063" y="3123486"/>
            <a:ext cx="2632948" cy="308015"/>
          </a:xfrm>
          <a:prstGeom prst="rect">
            <a:avLst/>
          </a:prstGeom>
          <a:noFill/>
          <a:ln/>
        </p:spPr>
        <p:txBody>
          <a:bodyPr wrap="none" lIns="0" tIns="0" rIns="0" bIns="0" rtlCol="0" anchor="t"/>
          <a:lstStyle/>
          <a:p>
            <a:pPr marL="0" indent="0" algn="l">
              <a:lnSpc>
                <a:spcPts val="2400"/>
              </a:lnSpc>
              <a:buNone/>
            </a:pPr>
            <a:r>
              <a:rPr lang="en-US" sz="1900" dirty="0">
                <a:solidFill>
                  <a:srgbClr val="D6E5EF"/>
                </a:solidFill>
                <a:latin typeface="Lora" pitchFamily="34" charset="0"/>
                <a:ea typeface="Lora" pitchFamily="34" charset="-122"/>
                <a:cs typeface="Lora" pitchFamily="34" charset="-120"/>
              </a:rPr>
              <a:t>Quick Ratio (Acid-Test)</a:t>
            </a:r>
            <a:endParaRPr lang="en-US" sz="1900" dirty="0"/>
          </a:p>
        </p:txBody>
      </p:sp>
      <p:sp>
        <p:nvSpPr>
          <p:cNvPr id="17" name="Text 15"/>
          <p:cNvSpPr/>
          <p:nvPr/>
        </p:nvSpPr>
        <p:spPr>
          <a:xfrm>
            <a:off x="5458063" y="3557111"/>
            <a:ext cx="3714155" cy="670084"/>
          </a:xfrm>
          <a:prstGeom prst="rect">
            <a:avLst/>
          </a:prstGeom>
          <a:noFill/>
          <a:ln/>
        </p:spPr>
        <p:txBody>
          <a:bodyPr wrap="squar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Formula: (Current Assets - Inventories) / Current Liabilities</a:t>
            </a:r>
            <a:endParaRPr lang="en-US" sz="1600" dirty="0"/>
          </a:p>
        </p:txBody>
      </p:sp>
      <p:sp>
        <p:nvSpPr>
          <p:cNvPr id="18" name="Text 16"/>
          <p:cNvSpPr/>
          <p:nvPr/>
        </p:nvSpPr>
        <p:spPr>
          <a:xfrm>
            <a:off x="5458063" y="4352806"/>
            <a:ext cx="3714155" cy="335042"/>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D6E5EF"/>
                </a:solidFill>
                <a:latin typeface="Source Sans 3" pitchFamily="34" charset="0"/>
                <a:ea typeface="Source Sans 3" pitchFamily="34" charset="-122"/>
                <a:cs typeface="Source Sans 3" pitchFamily="34" charset="-120"/>
              </a:rPr>
              <a:t>2023: </a:t>
            </a:r>
            <a:r>
              <a:rPr lang="en-US" sz="1600" b="1" dirty="0">
                <a:solidFill>
                  <a:srgbClr val="D6E5EF"/>
                </a:solidFill>
                <a:latin typeface="Source Sans 3" pitchFamily="34" charset="0"/>
                <a:ea typeface="Source Sans 3" pitchFamily="34" charset="-122"/>
                <a:cs typeface="Source Sans 3" pitchFamily="34" charset="-120"/>
              </a:rPr>
              <a:t>1.81</a:t>
            </a:r>
            <a:endParaRPr lang="en-US" sz="1600" dirty="0"/>
          </a:p>
        </p:txBody>
      </p:sp>
      <p:sp>
        <p:nvSpPr>
          <p:cNvPr id="19" name="Text 17"/>
          <p:cNvSpPr/>
          <p:nvPr/>
        </p:nvSpPr>
        <p:spPr>
          <a:xfrm>
            <a:off x="5458063" y="4761071"/>
            <a:ext cx="3714155" cy="335042"/>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D6E5EF"/>
                </a:solidFill>
                <a:latin typeface="Source Sans 3" pitchFamily="34" charset="0"/>
                <a:ea typeface="Source Sans 3" pitchFamily="34" charset="-122"/>
                <a:cs typeface="Source Sans 3" pitchFamily="34" charset="-120"/>
              </a:rPr>
              <a:t>2024: </a:t>
            </a:r>
            <a:r>
              <a:rPr lang="en-US" sz="1600" b="1" dirty="0">
                <a:solidFill>
                  <a:srgbClr val="D6E5EF"/>
                </a:solidFill>
                <a:latin typeface="Source Sans 3" pitchFamily="34" charset="0"/>
                <a:ea typeface="Source Sans 3" pitchFamily="34" charset="-122"/>
                <a:cs typeface="Source Sans 3" pitchFamily="34" charset="-120"/>
              </a:rPr>
              <a:t>1.69</a:t>
            </a:r>
            <a:endParaRPr lang="en-US" sz="1600" dirty="0"/>
          </a:p>
        </p:txBody>
      </p:sp>
      <p:sp>
        <p:nvSpPr>
          <p:cNvPr id="20" name="Text 18"/>
          <p:cNvSpPr/>
          <p:nvPr/>
        </p:nvSpPr>
        <p:spPr>
          <a:xfrm>
            <a:off x="5458063" y="5169337"/>
            <a:ext cx="3714155" cy="335042"/>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D6E5EF"/>
                </a:solidFill>
                <a:latin typeface="Source Sans 3" pitchFamily="34" charset="0"/>
                <a:ea typeface="Source Sans 3" pitchFamily="34" charset="-122"/>
                <a:cs typeface="Source Sans 3" pitchFamily="34" charset="-120"/>
              </a:rPr>
              <a:t>2025: </a:t>
            </a:r>
            <a:r>
              <a:rPr lang="en-US" sz="1600" b="1" dirty="0">
                <a:solidFill>
                  <a:srgbClr val="D6E5EF"/>
                </a:solidFill>
                <a:latin typeface="Source Sans 3" pitchFamily="34" charset="0"/>
                <a:ea typeface="Source Sans 3" pitchFamily="34" charset="-122"/>
                <a:cs typeface="Source Sans 3" pitchFamily="34" charset="-120"/>
              </a:rPr>
              <a:t>1.50</a:t>
            </a:r>
            <a:endParaRPr lang="en-US" sz="1600" dirty="0"/>
          </a:p>
        </p:txBody>
      </p:sp>
      <p:sp>
        <p:nvSpPr>
          <p:cNvPr id="21" name="Text 19"/>
          <p:cNvSpPr/>
          <p:nvPr/>
        </p:nvSpPr>
        <p:spPr>
          <a:xfrm>
            <a:off x="5458063" y="5629989"/>
            <a:ext cx="3714155" cy="804029"/>
          </a:xfrm>
          <a:prstGeom prst="rect">
            <a:avLst/>
          </a:prstGeom>
          <a:noFill/>
          <a:ln/>
        </p:spPr>
        <p:txBody>
          <a:bodyPr wrap="square" lIns="0" tIns="0" rIns="0" bIns="0" rtlCol="0" anchor="t"/>
          <a:lstStyle/>
          <a:p>
            <a:pPr marL="0" indent="0" algn="l">
              <a:lnSpc>
                <a:spcPts val="2100"/>
              </a:lnSpc>
              <a:buNone/>
            </a:pPr>
            <a:r>
              <a:rPr lang="en-US" sz="1300" dirty="0">
                <a:solidFill>
                  <a:srgbClr val="D6E5EF"/>
                </a:solidFill>
                <a:latin typeface="Source Sans 3" pitchFamily="34" charset="0"/>
                <a:ea typeface="Source Sans 3" pitchFamily="34" charset="-122"/>
                <a:cs typeface="Source Sans 3" pitchFamily="34" charset="-120"/>
              </a:rPr>
              <a:t>Confirms strong liquidity even without selling inventory; drop reflects lower non-inventory current assets.</a:t>
            </a:r>
            <a:endParaRPr lang="en-US" sz="1300" dirty="0"/>
          </a:p>
        </p:txBody>
      </p:sp>
      <p:sp>
        <p:nvSpPr>
          <p:cNvPr id="22" name="Shape 20"/>
          <p:cNvSpPr/>
          <p:nvPr/>
        </p:nvSpPr>
        <p:spPr>
          <a:xfrm>
            <a:off x="9613940" y="2262902"/>
            <a:ext cx="4178737" cy="4403407"/>
          </a:xfrm>
          <a:prstGeom prst="roundRect">
            <a:avLst>
              <a:gd name="adj" fmla="val 752"/>
            </a:avLst>
          </a:prstGeom>
          <a:solidFill>
            <a:srgbClr val="252833"/>
          </a:solidFill>
          <a:ln w="22860">
            <a:solidFill>
              <a:srgbClr val="5D606B"/>
            </a:solidFill>
            <a:prstDash val="solid"/>
          </a:ln>
        </p:spPr>
        <p:txBody>
          <a:bodyPr/>
          <a:lstStyle/>
          <a:p>
            <a:endParaRPr lang="en-US"/>
          </a:p>
        </p:txBody>
      </p:sp>
      <p:sp>
        <p:nvSpPr>
          <p:cNvPr id="23" name="Shape 21"/>
          <p:cNvSpPr/>
          <p:nvPr/>
        </p:nvSpPr>
        <p:spPr>
          <a:xfrm>
            <a:off x="9636800" y="2285762"/>
            <a:ext cx="4133017" cy="628293"/>
          </a:xfrm>
          <a:prstGeom prst="roundRect">
            <a:avLst>
              <a:gd name="adj" fmla="val 635"/>
            </a:avLst>
          </a:prstGeom>
          <a:solidFill>
            <a:srgbClr val="444752"/>
          </a:solidFill>
          <a:ln/>
        </p:spPr>
        <p:txBody>
          <a:bodyPr/>
          <a:lstStyle/>
          <a:p>
            <a:endParaRPr lang="en-US"/>
          </a:p>
        </p:txBody>
      </p:sp>
      <p:sp>
        <p:nvSpPr>
          <p:cNvPr id="24" name="Text 22"/>
          <p:cNvSpPr/>
          <p:nvPr/>
        </p:nvSpPr>
        <p:spPr>
          <a:xfrm>
            <a:off x="11546205" y="2403515"/>
            <a:ext cx="314087" cy="392668"/>
          </a:xfrm>
          <a:prstGeom prst="rect">
            <a:avLst/>
          </a:prstGeom>
          <a:noFill/>
          <a:ln/>
        </p:spPr>
        <p:txBody>
          <a:bodyPr wrap="none" lIns="0" tIns="0" rIns="0" bIns="0" rtlCol="0" anchor="t"/>
          <a:lstStyle/>
          <a:p>
            <a:pPr marL="0" indent="0" algn="l">
              <a:lnSpc>
                <a:spcPts val="2450"/>
              </a:lnSpc>
              <a:buNone/>
            </a:pPr>
            <a:r>
              <a:rPr lang="en-US" sz="2450" dirty="0">
                <a:solidFill>
                  <a:srgbClr val="D6E5EF"/>
                </a:solidFill>
                <a:latin typeface="Lora" pitchFamily="34" charset="0"/>
                <a:ea typeface="Lora" pitchFamily="34" charset="-122"/>
                <a:cs typeface="Lora" pitchFamily="34" charset="-120"/>
              </a:rPr>
              <a:t>3</a:t>
            </a:r>
            <a:endParaRPr lang="en-US" sz="2450" dirty="0"/>
          </a:p>
        </p:txBody>
      </p:sp>
      <p:sp>
        <p:nvSpPr>
          <p:cNvPr id="25" name="Text 23"/>
          <p:cNvSpPr/>
          <p:nvPr/>
        </p:nvSpPr>
        <p:spPr>
          <a:xfrm>
            <a:off x="9846231" y="3123486"/>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D6E5EF"/>
                </a:solidFill>
                <a:latin typeface="Lora" pitchFamily="34" charset="0"/>
                <a:ea typeface="Lora" pitchFamily="34" charset="-122"/>
                <a:cs typeface="Lora" pitchFamily="34" charset="-120"/>
              </a:rPr>
              <a:t>Cash Ratio</a:t>
            </a:r>
            <a:endParaRPr lang="en-US" sz="1900" dirty="0"/>
          </a:p>
        </p:txBody>
      </p:sp>
      <p:sp>
        <p:nvSpPr>
          <p:cNvPr id="26" name="Text 24"/>
          <p:cNvSpPr/>
          <p:nvPr/>
        </p:nvSpPr>
        <p:spPr>
          <a:xfrm>
            <a:off x="9846231" y="3557111"/>
            <a:ext cx="3714155" cy="670084"/>
          </a:xfrm>
          <a:prstGeom prst="rect">
            <a:avLst/>
          </a:prstGeom>
          <a:noFill/>
          <a:ln/>
        </p:spPr>
        <p:txBody>
          <a:bodyPr wrap="squar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Formula: Cash and Equivalents / Current Liabilities</a:t>
            </a:r>
            <a:endParaRPr lang="en-US" sz="1600" dirty="0"/>
          </a:p>
        </p:txBody>
      </p:sp>
      <p:sp>
        <p:nvSpPr>
          <p:cNvPr id="27" name="Text 25"/>
          <p:cNvSpPr/>
          <p:nvPr/>
        </p:nvSpPr>
        <p:spPr>
          <a:xfrm>
            <a:off x="9846231" y="4352806"/>
            <a:ext cx="3714155" cy="335042"/>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D6E5EF"/>
                </a:solidFill>
                <a:latin typeface="Source Sans 3" pitchFamily="34" charset="0"/>
                <a:ea typeface="Source Sans 3" pitchFamily="34" charset="-122"/>
                <a:cs typeface="Source Sans 3" pitchFamily="34" charset="-120"/>
              </a:rPr>
              <a:t>2023: </a:t>
            </a:r>
            <a:r>
              <a:rPr lang="en-US" sz="1600" b="1" dirty="0">
                <a:solidFill>
                  <a:srgbClr val="D6E5EF"/>
                </a:solidFill>
                <a:latin typeface="Source Sans 3" pitchFamily="34" charset="0"/>
                <a:ea typeface="Source Sans 3" pitchFamily="34" charset="-122"/>
                <a:cs typeface="Source Sans 3" pitchFamily="34" charset="-120"/>
              </a:rPr>
              <a:t>0.80</a:t>
            </a:r>
            <a:endParaRPr lang="en-US" sz="1600" dirty="0"/>
          </a:p>
        </p:txBody>
      </p:sp>
      <p:sp>
        <p:nvSpPr>
          <p:cNvPr id="28" name="Text 26"/>
          <p:cNvSpPr/>
          <p:nvPr/>
        </p:nvSpPr>
        <p:spPr>
          <a:xfrm>
            <a:off x="9846231" y="4761071"/>
            <a:ext cx="3714155" cy="335042"/>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D6E5EF"/>
                </a:solidFill>
                <a:latin typeface="Source Sans 3" pitchFamily="34" charset="0"/>
                <a:ea typeface="Source Sans 3" pitchFamily="34" charset="-122"/>
                <a:cs typeface="Source Sans 3" pitchFamily="34" charset="-120"/>
              </a:rPr>
              <a:t>2024: </a:t>
            </a:r>
            <a:r>
              <a:rPr lang="en-US" sz="1600" b="1" dirty="0">
                <a:solidFill>
                  <a:srgbClr val="D6E5EF"/>
                </a:solidFill>
                <a:latin typeface="Source Sans 3" pitchFamily="34" charset="0"/>
                <a:ea typeface="Source Sans 3" pitchFamily="34" charset="-122"/>
                <a:cs typeface="Source Sans 3" pitchFamily="34" charset="-120"/>
              </a:rPr>
              <a:t>0.93</a:t>
            </a:r>
            <a:endParaRPr lang="en-US" sz="1600" dirty="0"/>
          </a:p>
        </p:txBody>
      </p:sp>
      <p:sp>
        <p:nvSpPr>
          <p:cNvPr id="29" name="Text 27"/>
          <p:cNvSpPr/>
          <p:nvPr/>
        </p:nvSpPr>
        <p:spPr>
          <a:xfrm>
            <a:off x="9846231" y="5169337"/>
            <a:ext cx="3714155" cy="335042"/>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D6E5EF"/>
                </a:solidFill>
                <a:latin typeface="Source Sans 3" pitchFamily="34" charset="0"/>
                <a:ea typeface="Source Sans 3" pitchFamily="34" charset="-122"/>
                <a:cs typeface="Source Sans 3" pitchFamily="34" charset="-120"/>
              </a:rPr>
              <a:t>2025: </a:t>
            </a:r>
            <a:r>
              <a:rPr lang="en-US" sz="1600" b="1" dirty="0">
                <a:solidFill>
                  <a:srgbClr val="D6E5EF"/>
                </a:solidFill>
                <a:latin typeface="Source Sans 3" pitchFamily="34" charset="0"/>
                <a:ea typeface="Source Sans 3" pitchFamily="34" charset="-122"/>
                <a:cs typeface="Source Sans 3" pitchFamily="34" charset="-120"/>
              </a:rPr>
              <a:t>0.71</a:t>
            </a:r>
            <a:endParaRPr lang="en-US" sz="1600" dirty="0"/>
          </a:p>
        </p:txBody>
      </p:sp>
      <p:sp>
        <p:nvSpPr>
          <p:cNvPr id="30" name="Text 28"/>
          <p:cNvSpPr/>
          <p:nvPr/>
        </p:nvSpPr>
        <p:spPr>
          <a:xfrm>
            <a:off x="9846231" y="5629989"/>
            <a:ext cx="3714155" cy="536019"/>
          </a:xfrm>
          <a:prstGeom prst="rect">
            <a:avLst/>
          </a:prstGeom>
          <a:noFill/>
          <a:ln/>
        </p:spPr>
        <p:txBody>
          <a:bodyPr wrap="square" lIns="0" tIns="0" rIns="0" bIns="0" rtlCol="0" anchor="t"/>
          <a:lstStyle/>
          <a:p>
            <a:pPr marL="0" indent="0" algn="l">
              <a:lnSpc>
                <a:spcPts val="2100"/>
              </a:lnSpc>
              <a:buNone/>
            </a:pPr>
            <a:r>
              <a:rPr lang="en-US" sz="1300" dirty="0">
                <a:solidFill>
                  <a:srgbClr val="D6E5EF"/>
                </a:solidFill>
                <a:latin typeface="Source Sans 3" pitchFamily="34" charset="0"/>
                <a:ea typeface="Source Sans 3" pitchFamily="34" charset="-122"/>
                <a:cs typeface="Source Sans 3" pitchFamily="34" charset="-120"/>
              </a:rPr>
              <a:t>Demonstrates reliance on receivables and other assets to fully cover liabilities.</a:t>
            </a:r>
            <a:endParaRPr lang="en-US" sz="1300" dirty="0"/>
          </a:p>
        </p:txBody>
      </p:sp>
      <p:sp>
        <p:nvSpPr>
          <p:cNvPr id="31" name="Text 29"/>
          <p:cNvSpPr/>
          <p:nvPr/>
        </p:nvSpPr>
        <p:spPr>
          <a:xfrm>
            <a:off x="837724" y="6901934"/>
            <a:ext cx="12954952" cy="670084"/>
          </a:xfrm>
          <a:prstGeom prst="rect">
            <a:avLst/>
          </a:prstGeom>
          <a:noFill/>
          <a:ln/>
        </p:spPr>
        <p:txBody>
          <a:bodyPr wrap="squar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All key liquidity ratios have experienced a </a:t>
            </a:r>
            <a:r>
              <a:rPr lang="en-US" sz="1600" dirty="0">
                <a:solidFill>
                  <a:srgbClr val="F44444"/>
                </a:solidFill>
                <a:latin typeface="Source Sans 3" pitchFamily="34" charset="0"/>
                <a:ea typeface="Source Sans 3" pitchFamily="34" charset="-122"/>
                <a:cs typeface="Source Sans 3" pitchFamily="34" charset="-120"/>
              </a:rPr>
              <a:t>downward trend </a:t>
            </a:r>
            <a:r>
              <a:rPr lang="en-US" sz="1600" dirty="0">
                <a:solidFill>
                  <a:srgbClr val="D6E5EF"/>
                </a:solidFill>
                <a:latin typeface="Source Sans 3" pitchFamily="34" charset="0"/>
                <a:ea typeface="Source Sans 3" pitchFamily="34" charset="-122"/>
                <a:cs typeface="Source Sans 3" pitchFamily="34" charset="-120"/>
              </a:rPr>
              <a:t>over the period, indicating </a:t>
            </a:r>
            <a:r>
              <a:rPr lang="en-US" sz="1600" dirty="0">
                <a:solidFill>
                  <a:srgbClr val="F44444"/>
                </a:solidFill>
                <a:latin typeface="Source Sans 3" pitchFamily="34" charset="0"/>
                <a:ea typeface="Source Sans 3" pitchFamily="34" charset="-122"/>
                <a:cs typeface="Source Sans 3" pitchFamily="34" charset="-120"/>
              </a:rPr>
              <a:t>reduced short-term coverage</a:t>
            </a:r>
            <a:r>
              <a:rPr lang="en-US" sz="1600" dirty="0">
                <a:solidFill>
                  <a:srgbClr val="D6E5EF"/>
                </a:solidFill>
                <a:latin typeface="Source Sans 3" pitchFamily="34" charset="0"/>
                <a:ea typeface="Source Sans 3" pitchFamily="34" charset="-122"/>
                <a:cs typeface="Source Sans 3" pitchFamily="34" charset="-120"/>
              </a:rPr>
              <a:t>, although they remain at highly sufficient levels for a large retail firm.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1808083"/>
            <a:ext cx="9800987" cy="615910"/>
          </a:xfrm>
          <a:prstGeom prst="rect">
            <a:avLst/>
          </a:prstGeom>
          <a:noFill/>
          <a:ln/>
        </p:spPr>
        <p:txBody>
          <a:bodyPr wrap="none" lIns="0" tIns="0" rIns="0" bIns="0" rtlCol="0" anchor="t"/>
          <a:lstStyle/>
          <a:p>
            <a:pPr marL="0" indent="0" algn="l">
              <a:lnSpc>
                <a:spcPts val="4850"/>
              </a:lnSpc>
              <a:buNone/>
            </a:pPr>
            <a:r>
              <a:rPr lang="en-US" sz="3850" dirty="0">
                <a:solidFill>
                  <a:srgbClr val="F98AC7"/>
                </a:solidFill>
                <a:latin typeface="Lora" pitchFamily="34" charset="0"/>
                <a:ea typeface="Lora" pitchFamily="34" charset="-122"/>
                <a:cs typeface="Lora" pitchFamily="34" charset="-120"/>
              </a:rPr>
              <a:t>Liquidity Analysis: Trends and Implications</a:t>
            </a:r>
            <a:endParaRPr lang="en-US" sz="3850" dirty="0"/>
          </a:p>
        </p:txBody>
      </p:sp>
      <p:sp>
        <p:nvSpPr>
          <p:cNvPr id="3" name="Shape 1"/>
          <p:cNvSpPr/>
          <p:nvPr/>
        </p:nvSpPr>
        <p:spPr>
          <a:xfrm>
            <a:off x="837724" y="2842855"/>
            <a:ext cx="4178618" cy="3578543"/>
          </a:xfrm>
          <a:prstGeom prst="roundRect">
            <a:avLst>
              <a:gd name="adj" fmla="val 3066"/>
            </a:avLst>
          </a:prstGeom>
          <a:solidFill>
            <a:srgbClr val="252833"/>
          </a:solidFill>
          <a:ln w="22860">
            <a:solidFill>
              <a:srgbClr val="5D606B"/>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814864" y="2842855"/>
            <a:ext cx="91440" cy="3578543"/>
          </a:xfrm>
          <a:prstGeom prst="rect">
            <a:avLst/>
          </a:prstGeom>
        </p:spPr>
      </p:pic>
      <p:sp>
        <p:nvSpPr>
          <p:cNvPr id="5" name="Text 2"/>
          <p:cNvSpPr/>
          <p:nvPr/>
        </p:nvSpPr>
        <p:spPr>
          <a:xfrm>
            <a:off x="1138595" y="3075146"/>
            <a:ext cx="2464118" cy="308015"/>
          </a:xfrm>
          <a:prstGeom prst="rect">
            <a:avLst/>
          </a:prstGeom>
          <a:noFill/>
          <a:ln/>
        </p:spPr>
        <p:txBody>
          <a:bodyPr wrap="none" lIns="0" tIns="0" rIns="0" bIns="0" rtlCol="0" anchor="t"/>
          <a:lstStyle/>
          <a:p>
            <a:pPr marL="0" indent="0" algn="l">
              <a:lnSpc>
                <a:spcPts val="2400"/>
              </a:lnSpc>
              <a:buNone/>
            </a:pPr>
            <a:r>
              <a:rPr lang="en-US" sz="1900" b="1" dirty="0">
                <a:solidFill>
                  <a:srgbClr val="D6E5EF"/>
                </a:solidFill>
                <a:latin typeface="Lora" pitchFamily="34" charset="0"/>
                <a:ea typeface="Lora" pitchFamily="34" charset="-122"/>
                <a:cs typeface="Lora" pitchFamily="34" charset="-120"/>
              </a:rPr>
              <a:t>Sufficiency of Assets</a:t>
            </a:r>
            <a:endParaRPr lang="en-US" sz="1900" b="1" dirty="0"/>
          </a:p>
        </p:txBody>
      </p:sp>
      <p:sp>
        <p:nvSpPr>
          <p:cNvPr id="6" name="Text 3"/>
          <p:cNvSpPr/>
          <p:nvPr/>
        </p:nvSpPr>
        <p:spPr>
          <a:xfrm>
            <a:off x="1138595" y="3508772"/>
            <a:ext cx="3645456" cy="2680335"/>
          </a:xfrm>
          <a:prstGeom prst="rect">
            <a:avLst/>
          </a:prstGeom>
          <a:noFill/>
          <a:ln/>
        </p:spPr>
        <p:txBody>
          <a:bodyPr wrap="squar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The </a:t>
            </a:r>
            <a:r>
              <a:rPr lang="en-US" sz="1600" b="1" dirty="0">
                <a:solidFill>
                  <a:srgbClr val="D6E5EF"/>
                </a:solidFill>
                <a:latin typeface="Source Sans 3" pitchFamily="34" charset="0"/>
                <a:ea typeface="Source Sans 3" pitchFamily="34" charset="-122"/>
                <a:cs typeface="Source Sans 3" pitchFamily="34" charset="-120"/>
              </a:rPr>
              <a:t>Current Ratio of 2.21</a:t>
            </a:r>
            <a:r>
              <a:rPr lang="en-US" sz="1600" dirty="0">
                <a:solidFill>
                  <a:srgbClr val="D6E5EF"/>
                </a:solidFill>
                <a:latin typeface="Source Sans 3" pitchFamily="34" charset="0"/>
                <a:ea typeface="Source Sans 3" pitchFamily="34" charset="-122"/>
                <a:cs typeface="Source Sans 3" pitchFamily="34" charset="-120"/>
              </a:rPr>
              <a:t> in 2025 shows NIKE has </a:t>
            </a:r>
            <a:r>
              <a:rPr lang="en-US" sz="1600" b="1" dirty="0">
                <a:solidFill>
                  <a:srgbClr val="D6E5EF"/>
                </a:solidFill>
                <a:latin typeface="Source Sans 3" pitchFamily="34" charset="0"/>
                <a:ea typeface="Source Sans 3" pitchFamily="34" charset="-122"/>
                <a:cs typeface="Source Sans 3" pitchFamily="34" charset="-120"/>
              </a:rPr>
              <a:t>ample current assets to cover its short-term obligations</a:t>
            </a:r>
            <a:r>
              <a:rPr lang="en-US" sz="1600" dirty="0">
                <a:solidFill>
                  <a:srgbClr val="D6E5EF"/>
                </a:solidFill>
                <a:latin typeface="Source Sans 3" pitchFamily="34" charset="0"/>
                <a:ea typeface="Source Sans 3" pitchFamily="34" charset="-122"/>
                <a:cs typeface="Source Sans 3" pitchFamily="34" charset="-120"/>
              </a:rPr>
              <a:t>. The </a:t>
            </a:r>
            <a:r>
              <a:rPr lang="en-US" sz="1600" b="1" dirty="0">
                <a:solidFill>
                  <a:srgbClr val="D6E5EF"/>
                </a:solidFill>
                <a:latin typeface="Source Sans 3" pitchFamily="34" charset="0"/>
                <a:ea typeface="Source Sans 3" pitchFamily="34" charset="-122"/>
                <a:cs typeface="Source Sans 3" pitchFamily="34" charset="-120"/>
              </a:rPr>
              <a:t>Quick Ratio of 1.50 </a:t>
            </a:r>
            <a:r>
              <a:rPr lang="en-US" sz="1600" dirty="0">
                <a:solidFill>
                  <a:srgbClr val="D6E5EF"/>
                </a:solidFill>
                <a:latin typeface="Source Sans 3" pitchFamily="34" charset="0"/>
                <a:ea typeface="Source Sans 3" pitchFamily="34" charset="-122"/>
                <a:cs typeface="Source Sans 3" pitchFamily="34" charset="-120"/>
              </a:rPr>
              <a:t>is particularly </a:t>
            </a:r>
            <a:r>
              <a:rPr lang="en-US" sz="1600" b="1" dirty="0">
                <a:solidFill>
                  <a:srgbClr val="D6E5EF"/>
                </a:solidFill>
                <a:latin typeface="Source Sans 3" pitchFamily="34" charset="0"/>
                <a:ea typeface="Source Sans 3" pitchFamily="34" charset="-122"/>
                <a:cs typeface="Source Sans 3" pitchFamily="34" charset="-120"/>
              </a:rPr>
              <a:t>strong</a:t>
            </a:r>
            <a:r>
              <a:rPr lang="en-US" sz="1600" dirty="0">
                <a:solidFill>
                  <a:srgbClr val="D6E5EF"/>
                </a:solidFill>
                <a:latin typeface="Source Sans 3" pitchFamily="34" charset="0"/>
                <a:ea typeface="Source Sans 3" pitchFamily="34" charset="-122"/>
                <a:cs typeface="Source Sans 3" pitchFamily="34" charset="-120"/>
              </a:rPr>
              <a:t>, affirming the company’s ability </a:t>
            </a:r>
            <a:r>
              <a:rPr lang="en-US" sz="1600" b="1" dirty="0">
                <a:solidFill>
                  <a:srgbClr val="D6E5EF"/>
                </a:solidFill>
                <a:latin typeface="Source Sans 3" pitchFamily="34" charset="0"/>
                <a:ea typeface="Source Sans 3" pitchFamily="34" charset="-122"/>
                <a:cs typeface="Source Sans 3" pitchFamily="34" charset="-120"/>
              </a:rPr>
              <a:t>to meet immediate liabilities without liquidating inventory</a:t>
            </a:r>
            <a:r>
              <a:rPr lang="en-US" sz="1600" dirty="0">
                <a:solidFill>
                  <a:srgbClr val="D6E5EF"/>
                </a:solidFill>
                <a:latin typeface="Source Sans 3" pitchFamily="34" charset="0"/>
                <a:ea typeface="Source Sans 3" pitchFamily="34" charset="-122"/>
                <a:cs typeface="Source Sans 3" pitchFamily="34" charset="-120"/>
              </a:rPr>
              <a:t>, which is crucial in the retail sector.</a:t>
            </a:r>
            <a:endParaRPr lang="en-US" sz="1600" dirty="0"/>
          </a:p>
        </p:txBody>
      </p:sp>
      <p:sp>
        <p:nvSpPr>
          <p:cNvPr id="7" name="Shape 4"/>
          <p:cNvSpPr/>
          <p:nvPr/>
        </p:nvSpPr>
        <p:spPr>
          <a:xfrm>
            <a:off x="5225772" y="2842855"/>
            <a:ext cx="4178737" cy="3578543"/>
          </a:xfrm>
          <a:prstGeom prst="roundRect">
            <a:avLst>
              <a:gd name="adj" fmla="val 3066"/>
            </a:avLst>
          </a:prstGeom>
          <a:solidFill>
            <a:srgbClr val="252833"/>
          </a:solidFill>
          <a:ln w="22860">
            <a:solidFill>
              <a:srgbClr val="5D606B"/>
            </a:solidFill>
            <a:prstDash val="solid"/>
          </a:ln>
        </p:spPr>
        <p:txBody>
          <a:bodyPr/>
          <a:lstStyle/>
          <a:p>
            <a:endParaRPr lang="en-US"/>
          </a:p>
        </p:txBody>
      </p:sp>
      <p:pic>
        <p:nvPicPr>
          <p:cNvPr id="8" name="Image 1" descr="preencoded.png"/>
          <p:cNvPicPr>
            <a:picLocks noChangeAspect="1"/>
          </p:cNvPicPr>
          <p:nvPr/>
        </p:nvPicPr>
        <p:blipFill>
          <a:blip r:embed="rId3"/>
          <a:stretch>
            <a:fillRect/>
          </a:stretch>
        </p:blipFill>
        <p:spPr>
          <a:xfrm>
            <a:off x="5202912" y="2842855"/>
            <a:ext cx="91440" cy="3578543"/>
          </a:xfrm>
          <a:prstGeom prst="rect">
            <a:avLst/>
          </a:prstGeom>
        </p:spPr>
      </p:pic>
      <p:sp>
        <p:nvSpPr>
          <p:cNvPr id="9" name="Text 5"/>
          <p:cNvSpPr/>
          <p:nvPr/>
        </p:nvSpPr>
        <p:spPr>
          <a:xfrm>
            <a:off x="5526643" y="3075146"/>
            <a:ext cx="3226356" cy="308015"/>
          </a:xfrm>
          <a:prstGeom prst="rect">
            <a:avLst/>
          </a:prstGeom>
          <a:noFill/>
          <a:ln/>
        </p:spPr>
        <p:txBody>
          <a:bodyPr wrap="none" lIns="0" tIns="0" rIns="0" bIns="0" rtlCol="0" anchor="t"/>
          <a:lstStyle/>
          <a:p>
            <a:pPr marL="0" indent="0" algn="l">
              <a:lnSpc>
                <a:spcPts val="2400"/>
              </a:lnSpc>
              <a:buNone/>
            </a:pPr>
            <a:r>
              <a:rPr lang="en-US" sz="1900" b="1" dirty="0">
                <a:solidFill>
                  <a:srgbClr val="D6E5EF"/>
                </a:solidFill>
                <a:latin typeface="Lora" pitchFamily="34" charset="0"/>
                <a:ea typeface="Lora" pitchFamily="34" charset="-122"/>
                <a:cs typeface="Lora" pitchFamily="34" charset="-120"/>
              </a:rPr>
              <a:t>Inventory and Cash Position</a:t>
            </a:r>
            <a:endParaRPr lang="en-US" sz="1900" b="1" dirty="0"/>
          </a:p>
        </p:txBody>
      </p:sp>
      <p:sp>
        <p:nvSpPr>
          <p:cNvPr id="10" name="Text 6"/>
          <p:cNvSpPr/>
          <p:nvPr/>
        </p:nvSpPr>
        <p:spPr>
          <a:xfrm>
            <a:off x="5526643" y="3508772"/>
            <a:ext cx="3645575" cy="2680335"/>
          </a:xfrm>
          <a:prstGeom prst="rect">
            <a:avLst/>
          </a:prstGeom>
          <a:noFill/>
          <a:ln/>
        </p:spPr>
        <p:txBody>
          <a:bodyPr wrap="squar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Inventory constitutes approximately 32% of current assets in 2025 ($7,489M / $23,362M). While </a:t>
            </a:r>
            <a:r>
              <a:rPr lang="en-US" sz="1600" b="1" dirty="0">
                <a:solidFill>
                  <a:srgbClr val="D6E5EF"/>
                </a:solidFill>
                <a:latin typeface="Source Sans 3" pitchFamily="34" charset="0"/>
                <a:ea typeface="Source Sans 3" pitchFamily="34" charset="-122"/>
                <a:cs typeface="Source Sans 3" pitchFamily="34" charset="-120"/>
              </a:rPr>
              <a:t>manageable for retail</a:t>
            </a:r>
            <a:r>
              <a:rPr lang="en-US" sz="1600" dirty="0">
                <a:solidFill>
                  <a:srgbClr val="D6E5EF"/>
                </a:solidFill>
                <a:latin typeface="Source Sans 3" pitchFamily="34" charset="0"/>
                <a:ea typeface="Source Sans 3" pitchFamily="34" charset="-122"/>
                <a:cs typeface="Source Sans 3" pitchFamily="34" charset="-120"/>
              </a:rPr>
              <a:t>, management must monitor inventory levels to </a:t>
            </a:r>
            <a:r>
              <a:rPr lang="en-US" sz="1600" b="1" dirty="0">
                <a:solidFill>
                  <a:srgbClr val="D6E5EF"/>
                </a:solidFill>
                <a:latin typeface="Source Sans 3" pitchFamily="34" charset="0"/>
                <a:ea typeface="Source Sans 3" pitchFamily="34" charset="-122"/>
                <a:cs typeface="Source Sans 3" pitchFamily="34" charset="-120"/>
              </a:rPr>
              <a:t>prevent buildup</a:t>
            </a:r>
            <a:r>
              <a:rPr lang="en-US" sz="1600" dirty="0">
                <a:solidFill>
                  <a:srgbClr val="D6E5EF"/>
                </a:solidFill>
                <a:latin typeface="Source Sans 3" pitchFamily="34" charset="0"/>
                <a:ea typeface="Source Sans 3" pitchFamily="34" charset="-122"/>
                <a:cs typeface="Source Sans 3" pitchFamily="34" charset="-120"/>
              </a:rPr>
              <a:t> if sales slow further. Cash (32% of current assets) is adequate but significantly lower than the prior year (2024 Cash Ratio: 0.93).</a:t>
            </a:r>
            <a:endParaRPr lang="en-US" sz="1600" dirty="0"/>
          </a:p>
        </p:txBody>
      </p:sp>
      <p:sp>
        <p:nvSpPr>
          <p:cNvPr id="11" name="Shape 7"/>
          <p:cNvSpPr/>
          <p:nvPr/>
        </p:nvSpPr>
        <p:spPr>
          <a:xfrm>
            <a:off x="9613940" y="2842855"/>
            <a:ext cx="4178737" cy="3578543"/>
          </a:xfrm>
          <a:prstGeom prst="roundRect">
            <a:avLst>
              <a:gd name="adj" fmla="val 3066"/>
            </a:avLst>
          </a:prstGeom>
          <a:solidFill>
            <a:srgbClr val="252833"/>
          </a:solidFill>
          <a:ln w="22860">
            <a:solidFill>
              <a:srgbClr val="5D606B"/>
            </a:solidFill>
            <a:prstDash val="solid"/>
          </a:ln>
        </p:spPr>
        <p:txBody>
          <a:bodyPr/>
          <a:lstStyle/>
          <a:p>
            <a:endParaRPr lang="en-US"/>
          </a:p>
        </p:txBody>
      </p:sp>
      <p:pic>
        <p:nvPicPr>
          <p:cNvPr id="12" name="Image 2" descr="preencoded.png"/>
          <p:cNvPicPr>
            <a:picLocks noChangeAspect="1"/>
          </p:cNvPicPr>
          <p:nvPr/>
        </p:nvPicPr>
        <p:blipFill>
          <a:blip r:embed="rId3"/>
          <a:stretch>
            <a:fillRect/>
          </a:stretch>
        </p:blipFill>
        <p:spPr>
          <a:xfrm>
            <a:off x="9591080" y="2842855"/>
            <a:ext cx="91440" cy="3578543"/>
          </a:xfrm>
          <a:prstGeom prst="rect">
            <a:avLst/>
          </a:prstGeom>
        </p:spPr>
      </p:pic>
      <p:sp>
        <p:nvSpPr>
          <p:cNvPr id="13" name="Text 8"/>
          <p:cNvSpPr/>
          <p:nvPr/>
        </p:nvSpPr>
        <p:spPr>
          <a:xfrm>
            <a:off x="9914811" y="3075146"/>
            <a:ext cx="2814518" cy="308015"/>
          </a:xfrm>
          <a:prstGeom prst="rect">
            <a:avLst/>
          </a:prstGeom>
          <a:noFill/>
          <a:ln/>
        </p:spPr>
        <p:txBody>
          <a:bodyPr wrap="none" lIns="0" tIns="0" rIns="0" bIns="0" rtlCol="0" anchor="t"/>
          <a:lstStyle/>
          <a:p>
            <a:pPr marL="0" indent="0" algn="l">
              <a:lnSpc>
                <a:spcPts val="2400"/>
              </a:lnSpc>
              <a:buNone/>
            </a:pPr>
            <a:r>
              <a:rPr lang="en-US" sz="1900" b="1" dirty="0">
                <a:solidFill>
                  <a:srgbClr val="D6E5EF"/>
                </a:solidFill>
                <a:latin typeface="Lora" pitchFamily="34" charset="0"/>
                <a:ea typeface="Lora" pitchFamily="34" charset="-122"/>
                <a:cs typeface="Lora" pitchFamily="34" charset="-120"/>
              </a:rPr>
              <a:t>Implications for Stability</a:t>
            </a:r>
            <a:endParaRPr lang="en-US" sz="1900" b="1" dirty="0"/>
          </a:p>
        </p:txBody>
      </p:sp>
      <p:sp>
        <p:nvSpPr>
          <p:cNvPr id="14" name="Text 9"/>
          <p:cNvSpPr/>
          <p:nvPr/>
        </p:nvSpPr>
        <p:spPr>
          <a:xfrm>
            <a:off x="9914811" y="3508772"/>
            <a:ext cx="3645575" cy="2680335"/>
          </a:xfrm>
          <a:prstGeom prst="rect">
            <a:avLst/>
          </a:prstGeom>
          <a:noFill/>
          <a:ln/>
        </p:spPr>
        <p:txBody>
          <a:bodyPr wrap="squar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The </a:t>
            </a:r>
            <a:r>
              <a:rPr lang="en-US" sz="1600" b="1" dirty="0">
                <a:solidFill>
                  <a:srgbClr val="D6E5EF"/>
                </a:solidFill>
                <a:latin typeface="Source Sans 3" pitchFamily="34" charset="0"/>
                <a:ea typeface="Source Sans 3" pitchFamily="34" charset="-122"/>
                <a:cs typeface="Source Sans 3" pitchFamily="34" charset="-120"/>
              </a:rPr>
              <a:t>19% decline</a:t>
            </a:r>
            <a:r>
              <a:rPr lang="en-US" sz="1600" dirty="0">
                <a:solidFill>
                  <a:srgbClr val="D6E5EF"/>
                </a:solidFill>
                <a:latin typeface="Source Sans 3" pitchFamily="34" charset="0"/>
                <a:ea typeface="Source Sans 3" pitchFamily="34" charset="-122"/>
                <a:cs typeface="Source Sans 3" pitchFamily="34" charset="-120"/>
              </a:rPr>
              <a:t> in the Current Ratio (2023 to 2025) suggests </a:t>
            </a:r>
            <a:r>
              <a:rPr lang="en-US" sz="1600" b="1" dirty="0">
                <a:solidFill>
                  <a:srgbClr val="D6E5EF"/>
                </a:solidFill>
                <a:latin typeface="Source Sans 3" pitchFamily="34" charset="0"/>
                <a:ea typeface="Source Sans 3" pitchFamily="34" charset="-122"/>
                <a:cs typeface="Source Sans 3" pitchFamily="34" charset="-120"/>
              </a:rPr>
              <a:t>tightening liquidity</a:t>
            </a:r>
            <a:r>
              <a:rPr lang="en-US" sz="1600" dirty="0">
                <a:solidFill>
                  <a:srgbClr val="D6E5EF"/>
                </a:solidFill>
                <a:latin typeface="Source Sans 3" pitchFamily="34" charset="0"/>
                <a:ea typeface="Source Sans 3" pitchFamily="34" charset="-122"/>
                <a:cs typeface="Source Sans 3" pitchFamily="34" charset="-120"/>
              </a:rPr>
              <a:t>, but the ratios remain healthy. Short-term operational stability is secure, yet the </a:t>
            </a:r>
            <a:r>
              <a:rPr lang="en-US" sz="1600" b="1" dirty="0">
                <a:solidFill>
                  <a:srgbClr val="D6E5EF"/>
                </a:solidFill>
                <a:latin typeface="Source Sans 3" pitchFamily="34" charset="0"/>
                <a:ea typeface="Source Sans 3" pitchFamily="34" charset="-122"/>
                <a:cs typeface="Source Sans 3" pitchFamily="34" charset="-120"/>
              </a:rPr>
              <a:t>sharp decline in cash</a:t>
            </a:r>
            <a:r>
              <a:rPr lang="en-US" sz="1600" dirty="0">
                <a:solidFill>
                  <a:srgbClr val="D6E5EF"/>
                </a:solidFill>
                <a:latin typeface="Source Sans 3" pitchFamily="34" charset="0"/>
                <a:ea typeface="Source Sans 3" pitchFamily="34" charset="-122"/>
                <a:cs typeface="Source Sans 3" pitchFamily="34" charset="-120"/>
              </a:rPr>
              <a:t> (Cash Ratio dropped 24% from 2024) indicates a need for cautious financial management amid reported revenue declines.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877491"/>
            <a:ext cx="9503331" cy="615910"/>
          </a:xfrm>
          <a:prstGeom prst="rect">
            <a:avLst/>
          </a:prstGeom>
          <a:noFill/>
          <a:ln/>
        </p:spPr>
        <p:txBody>
          <a:bodyPr wrap="none" lIns="0" tIns="0" rIns="0" bIns="0" rtlCol="0" anchor="t"/>
          <a:lstStyle/>
          <a:p>
            <a:pPr marL="0" indent="0" algn="l">
              <a:lnSpc>
                <a:spcPts val="4850"/>
              </a:lnSpc>
              <a:buNone/>
            </a:pPr>
            <a:r>
              <a:rPr lang="en-US" sz="3850" dirty="0">
                <a:solidFill>
                  <a:srgbClr val="F98AC7"/>
                </a:solidFill>
                <a:latin typeface="Lora" pitchFamily="34" charset="0"/>
                <a:ea typeface="Lora" pitchFamily="34" charset="-122"/>
                <a:cs typeface="Lora" pitchFamily="34" charset="-120"/>
              </a:rPr>
              <a:t>Profitability Ratios: Return on Investment</a:t>
            </a:r>
            <a:endParaRPr lang="en-US" sz="3850" dirty="0"/>
          </a:p>
        </p:txBody>
      </p:sp>
      <p:sp>
        <p:nvSpPr>
          <p:cNvPr id="3" name="Text 1"/>
          <p:cNvSpPr/>
          <p:nvPr/>
        </p:nvSpPr>
        <p:spPr>
          <a:xfrm>
            <a:off x="837724" y="1912263"/>
            <a:ext cx="12954952" cy="670084"/>
          </a:xfrm>
          <a:prstGeom prst="rect">
            <a:avLst/>
          </a:prstGeom>
          <a:noFill/>
          <a:ln/>
        </p:spPr>
        <p:txBody>
          <a:bodyPr wrap="square" lIns="0" tIns="0" rIns="0" bIns="0" rtlCol="0" anchor="t"/>
          <a:lstStyle/>
          <a:p>
            <a:pPr marL="0" indent="0" algn="l">
              <a:lnSpc>
                <a:spcPts val="2600"/>
              </a:lnSpc>
              <a:buNone/>
            </a:pPr>
            <a:r>
              <a:rPr lang="en-US" dirty="0">
                <a:solidFill>
                  <a:srgbClr val="D6E5EF"/>
                </a:solidFill>
                <a:latin typeface="Source Sans 3" pitchFamily="34" charset="0"/>
                <a:ea typeface="Source Sans 3" pitchFamily="34" charset="-122"/>
                <a:cs typeface="Source Sans 3" pitchFamily="34" charset="-120"/>
              </a:rPr>
              <a:t>These ratios evaluate how effectively NIKE generates profit from its assets and shareholder investments. The significant drop in Net Income in 2025 heavily impacts these metrics.</a:t>
            </a:r>
            <a:endParaRPr lang="en-US" dirty="0"/>
          </a:p>
        </p:txBody>
      </p:sp>
      <p:sp>
        <p:nvSpPr>
          <p:cNvPr id="4" name="Text 2"/>
          <p:cNvSpPr/>
          <p:nvPr/>
        </p:nvSpPr>
        <p:spPr>
          <a:xfrm>
            <a:off x="1982748" y="4240054"/>
            <a:ext cx="2646521" cy="308015"/>
          </a:xfrm>
          <a:prstGeom prst="rect">
            <a:avLst/>
          </a:prstGeom>
          <a:noFill/>
          <a:ln/>
        </p:spPr>
        <p:txBody>
          <a:bodyPr wrap="none" lIns="0" tIns="0" rIns="0" bIns="0" rtlCol="0" anchor="t"/>
          <a:lstStyle/>
          <a:p>
            <a:pPr marL="0" indent="0" algn="r">
              <a:lnSpc>
                <a:spcPts val="2400"/>
              </a:lnSpc>
              <a:buNone/>
            </a:pPr>
            <a:r>
              <a:rPr lang="en-US" sz="1900" dirty="0">
                <a:solidFill>
                  <a:srgbClr val="D6E5EF"/>
                </a:solidFill>
                <a:latin typeface="Lora" pitchFamily="34" charset="0"/>
                <a:ea typeface="Lora" pitchFamily="34" charset="-122"/>
                <a:cs typeface="Lora" pitchFamily="34" charset="-120"/>
              </a:rPr>
              <a:t>Return on Assets (ROA)</a:t>
            </a:r>
            <a:endParaRPr lang="en-US" sz="1900" dirty="0"/>
          </a:p>
        </p:txBody>
      </p:sp>
      <p:sp>
        <p:nvSpPr>
          <p:cNvPr id="5" name="Text 3"/>
          <p:cNvSpPr/>
          <p:nvPr/>
        </p:nvSpPr>
        <p:spPr>
          <a:xfrm>
            <a:off x="837724" y="4673679"/>
            <a:ext cx="3791545" cy="335042"/>
          </a:xfrm>
          <a:prstGeom prst="rect">
            <a:avLst/>
          </a:prstGeom>
          <a:noFill/>
          <a:ln/>
        </p:spPr>
        <p:txBody>
          <a:bodyPr wrap="none" lIns="0" tIns="0" rIns="0" bIns="0" rtlCol="0" anchor="t"/>
          <a:lstStyle/>
          <a:p>
            <a:pPr marL="0" indent="0" algn="r">
              <a:lnSpc>
                <a:spcPts val="2600"/>
              </a:lnSpc>
              <a:buNone/>
            </a:pPr>
            <a:r>
              <a:rPr lang="en-US" sz="1600" dirty="0">
                <a:solidFill>
                  <a:srgbClr val="D6E5EF"/>
                </a:solidFill>
                <a:latin typeface="Source Sans 3" pitchFamily="34" charset="0"/>
                <a:ea typeface="Source Sans 3" pitchFamily="34" charset="-122"/>
                <a:cs typeface="Source Sans 3" pitchFamily="34" charset="-120"/>
              </a:rPr>
              <a:t>2023: 13.5%</a:t>
            </a:r>
            <a:endParaRPr lang="en-US" sz="1600" dirty="0"/>
          </a:p>
        </p:txBody>
      </p:sp>
      <p:sp>
        <p:nvSpPr>
          <p:cNvPr id="6" name="Text 4"/>
          <p:cNvSpPr/>
          <p:nvPr/>
        </p:nvSpPr>
        <p:spPr>
          <a:xfrm>
            <a:off x="837724" y="5134332"/>
            <a:ext cx="3791545" cy="335042"/>
          </a:xfrm>
          <a:prstGeom prst="rect">
            <a:avLst/>
          </a:prstGeom>
          <a:noFill/>
          <a:ln/>
        </p:spPr>
        <p:txBody>
          <a:bodyPr wrap="none" lIns="0" tIns="0" rIns="0" bIns="0" rtlCol="0" anchor="t"/>
          <a:lstStyle/>
          <a:p>
            <a:pPr marL="0" indent="0" algn="r">
              <a:lnSpc>
                <a:spcPts val="2600"/>
              </a:lnSpc>
              <a:buNone/>
            </a:pPr>
            <a:r>
              <a:rPr lang="en-US" sz="1600" dirty="0">
                <a:solidFill>
                  <a:srgbClr val="D6E5EF"/>
                </a:solidFill>
                <a:latin typeface="Source Sans 3" pitchFamily="34" charset="0"/>
                <a:ea typeface="Source Sans 3" pitchFamily="34" charset="-122"/>
                <a:cs typeface="Source Sans 3" pitchFamily="34" charset="-120"/>
              </a:rPr>
              <a:t>2024: 15.0%</a:t>
            </a:r>
            <a:endParaRPr lang="en-US" sz="1600" dirty="0"/>
          </a:p>
        </p:txBody>
      </p:sp>
      <p:sp>
        <p:nvSpPr>
          <p:cNvPr id="7" name="Text 5"/>
          <p:cNvSpPr/>
          <p:nvPr/>
        </p:nvSpPr>
        <p:spPr>
          <a:xfrm>
            <a:off x="837724" y="5594985"/>
            <a:ext cx="3791545" cy="335042"/>
          </a:xfrm>
          <a:prstGeom prst="rect">
            <a:avLst/>
          </a:prstGeom>
          <a:noFill/>
          <a:ln/>
        </p:spPr>
        <p:txBody>
          <a:bodyPr wrap="none" lIns="0" tIns="0" rIns="0" bIns="0" rtlCol="0" anchor="t"/>
          <a:lstStyle/>
          <a:p>
            <a:pPr marL="0" indent="0" algn="r">
              <a:lnSpc>
                <a:spcPts val="2600"/>
              </a:lnSpc>
              <a:buNone/>
            </a:pPr>
            <a:r>
              <a:rPr lang="en-US" sz="1600" b="1" dirty="0">
                <a:solidFill>
                  <a:srgbClr val="D6E5EF"/>
                </a:solidFill>
                <a:latin typeface="Source Sans 3" pitchFamily="34" charset="0"/>
                <a:ea typeface="Source Sans 3" pitchFamily="34" charset="-122"/>
                <a:cs typeface="Source Sans 3" pitchFamily="34" charset="-120"/>
              </a:rPr>
              <a:t>2025: 8.8%</a:t>
            </a:r>
            <a:endParaRPr lang="en-US" sz="1600" dirty="0"/>
          </a:p>
        </p:txBody>
      </p:sp>
      <p:pic>
        <p:nvPicPr>
          <p:cNvPr id="8" name="Image 0" descr="preencoded.png"/>
          <p:cNvPicPr>
            <a:picLocks noChangeAspect="1"/>
          </p:cNvPicPr>
          <p:nvPr/>
        </p:nvPicPr>
        <p:blipFill>
          <a:blip r:embed="rId3"/>
          <a:stretch>
            <a:fillRect/>
          </a:stretch>
        </p:blipFill>
        <p:spPr>
          <a:xfrm>
            <a:off x="5048131" y="2817971"/>
            <a:ext cx="4534138" cy="4534138"/>
          </a:xfrm>
          <a:prstGeom prst="rect">
            <a:avLst/>
          </a:prstGeom>
        </p:spPr>
      </p:pic>
      <p:pic>
        <p:nvPicPr>
          <p:cNvPr id="9" name="Image 1" descr="preencoded.png"/>
          <p:cNvPicPr>
            <a:picLocks noChangeAspect="1"/>
          </p:cNvPicPr>
          <p:nvPr/>
        </p:nvPicPr>
        <p:blipFill>
          <a:blip r:embed="rId4"/>
          <a:stretch>
            <a:fillRect/>
          </a:stretch>
        </p:blipFill>
        <p:spPr>
          <a:xfrm>
            <a:off x="5571530" y="4889182"/>
            <a:ext cx="313373" cy="391716"/>
          </a:xfrm>
          <a:prstGeom prst="rect">
            <a:avLst/>
          </a:prstGeom>
        </p:spPr>
      </p:pic>
      <p:sp>
        <p:nvSpPr>
          <p:cNvPr id="10" name="Text 6"/>
          <p:cNvSpPr/>
          <p:nvPr/>
        </p:nvSpPr>
        <p:spPr>
          <a:xfrm>
            <a:off x="9896356" y="3027998"/>
            <a:ext cx="2664262" cy="308015"/>
          </a:xfrm>
          <a:prstGeom prst="rect">
            <a:avLst/>
          </a:prstGeom>
          <a:noFill/>
          <a:ln/>
        </p:spPr>
        <p:txBody>
          <a:bodyPr wrap="none" lIns="0" tIns="0" rIns="0" bIns="0" rtlCol="0" anchor="t"/>
          <a:lstStyle/>
          <a:p>
            <a:pPr marL="0" indent="0" algn="l">
              <a:lnSpc>
                <a:spcPts val="2400"/>
              </a:lnSpc>
              <a:buNone/>
            </a:pPr>
            <a:r>
              <a:rPr lang="en-US" sz="1900" dirty="0">
                <a:solidFill>
                  <a:srgbClr val="D6E5EF"/>
                </a:solidFill>
                <a:latin typeface="Lora" pitchFamily="34" charset="0"/>
                <a:ea typeface="Lora" pitchFamily="34" charset="-122"/>
                <a:cs typeface="Lora" pitchFamily="34" charset="-120"/>
              </a:rPr>
              <a:t>Return on Equity (ROE)</a:t>
            </a:r>
            <a:endParaRPr lang="en-US" sz="1900" dirty="0"/>
          </a:p>
        </p:txBody>
      </p:sp>
      <p:sp>
        <p:nvSpPr>
          <p:cNvPr id="11" name="Text 7"/>
          <p:cNvSpPr/>
          <p:nvPr/>
        </p:nvSpPr>
        <p:spPr>
          <a:xfrm>
            <a:off x="9896356" y="3461623"/>
            <a:ext cx="3896320"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2023: 36.2%</a:t>
            </a:r>
            <a:endParaRPr lang="en-US" sz="1600" dirty="0"/>
          </a:p>
        </p:txBody>
      </p:sp>
      <p:sp>
        <p:nvSpPr>
          <p:cNvPr id="12" name="Text 8"/>
          <p:cNvSpPr/>
          <p:nvPr/>
        </p:nvSpPr>
        <p:spPr>
          <a:xfrm>
            <a:off x="9896356" y="3922276"/>
            <a:ext cx="3896320"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2024: 39.5%</a:t>
            </a:r>
            <a:endParaRPr lang="en-US" sz="1600" dirty="0"/>
          </a:p>
        </p:txBody>
      </p:sp>
      <p:sp>
        <p:nvSpPr>
          <p:cNvPr id="13" name="Text 9"/>
          <p:cNvSpPr/>
          <p:nvPr/>
        </p:nvSpPr>
        <p:spPr>
          <a:xfrm>
            <a:off x="9896356" y="4382929"/>
            <a:ext cx="3896320" cy="335042"/>
          </a:xfrm>
          <a:prstGeom prst="rect">
            <a:avLst/>
          </a:prstGeom>
          <a:noFill/>
          <a:ln/>
        </p:spPr>
        <p:txBody>
          <a:bodyPr wrap="none" lIns="0" tIns="0" rIns="0" bIns="0" rtlCol="0" anchor="t"/>
          <a:lstStyle/>
          <a:p>
            <a:pPr marL="0" indent="0" algn="l">
              <a:lnSpc>
                <a:spcPts val="2600"/>
              </a:lnSpc>
              <a:buNone/>
            </a:pPr>
            <a:r>
              <a:rPr lang="en-US" sz="1600" b="1" dirty="0">
                <a:solidFill>
                  <a:srgbClr val="D6E5EF"/>
                </a:solidFill>
                <a:latin typeface="Source Sans 3" pitchFamily="34" charset="0"/>
                <a:ea typeface="Source Sans 3" pitchFamily="34" charset="-122"/>
                <a:cs typeface="Source Sans 3" pitchFamily="34" charset="-120"/>
              </a:rPr>
              <a:t>2025: 24.4%</a:t>
            </a:r>
            <a:endParaRPr lang="en-US" sz="1600" dirty="0"/>
          </a:p>
        </p:txBody>
      </p:sp>
      <p:pic>
        <p:nvPicPr>
          <p:cNvPr id="14" name="Image 2" descr="preencoded.png"/>
          <p:cNvPicPr>
            <a:picLocks noChangeAspect="1"/>
          </p:cNvPicPr>
          <p:nvPr/>
        </p:nvPicPr>
        <p:blipFill>
          <a:blip r:embed="rId5"/>
          <a:stretch>
            <a:fillRect/>
          </a:stretch>
        </p:blipFill>
        <p:spPr>
          <a:xfrm>
            <a:off x="5048131" y="2817971"/>
            <a:ext cx="4534138" cy="4534138"/>
          </a:xfrm>
          <a:prstGeom prst="rect">
            <a:avLst/>
          </a:prstGeom>
        </p:spPr>
      </p:pic>
      <p:pic>
        <p:nvPicPr>
          <p:cNvPr id="15" name="Image 3" descr="preencoded.png"/>
          <p:cNvPicPr>
            <a:picLocks noChangeAspect="1"/>
          </p:cNvPicPr>
          <p:nvPr/>
        </p:nvPicPr>
        <p:blipFill>
          <a:blip r:embed="rId6"/>
          <a:stretch>
            <a:fillRect/>
          </a:stretch>
        </p:blipFill>
        <p:spPr>
          <a:xfrm>
            <a:off x="7951946" y="3514844"/>
            <a:ext cx="313373" cy="391716"/>
          </a:xfrm>
          <a:prstGeom prst="rect">
            <a:avLst/>
          </a:prstGeom>
        </p:spPr>
      </p:pic>
      <p:sp>
        <p:nvSpPr>
          <p:cNvPr id="16" name="Text 10"/>
          <p:cNvSpPr/>
          <p:nvPr/>
        </p:nvSpPr>
        <p:spPr>
          <a:xfrm>
            <a:off x="9896356" y="5452110"/>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D6E5EF"/>
                </a:solidFill>
                <a:latin typeface="Lora" pitchFamily="34" charset="0"/>
                <a:ea typeface="Lora" pitchFamily="34" charset="-122"/>
                <a:cs typeface="Lora" pitchFamily="34" charset="-120"/>
              </a:rPr>
              <a:t>Equity Multiplier</a:t>
            </a:r>
            <a:endParaRPr lang="en-US" sz="1900" dirty="0"/>
          </a:p>
        </p:txBody>
      </p:sp>
      <p:sp>
        <p:nvSpPr>
          <p:cNvPr id="17" name="Text 11"/>
          <p:cNvSpPr/>
          <p:nvPr/>
        </p:nvSpPr>
        <p:spPr>
          <a:xfrm>
            <a:off x="9896356" y="5885736"/>
            <a:ext cx="3896320"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2023: 2.68</a:t>
            </a:r>
            <a:endParaRPr lang="en-US" sz="1600" dirty="0"/>
          </a:p>
        </p:txBody>
      </p:sp>
      <p:sp>
        <p:nvSpPr>
          <p:cNvPr id="18" name="Text 12"/>
          <p:cNvSpPr/>
          <p:nvPr/>
        </p:nvSpPr>
        <p:spPr>
          <a:xfrm>
            <a:off x="9896356" y="6346388"/>
            <a:ext cx="3896320"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2024: 2.64</a:t>
            </a:r>
            <a:endParaRPr lang="en-US" sz="1600" dirty="0"/>
          </a:p>
        </p:txBody>
      </p:sp>
      <p:sp>
        <p:nvSpPr>
          <p:cNvPr id="19" name="Text 13"/>
          <p:cNvSpPr/>
          <p:nvPr/>
        </p:nvSpPr>
        <p:spPr>
          <a:xfrm>
            <a:off x="9896356" y="6807041"/>
            <a:ext cx="3896320" cy="335042"/>
          </a:xfrm>
          <a:prstGeom prst="rect">
            <a:avLst/>
          </a:prstGeom>
          <a:noFill/>
          <a:ln/>
        </p:spPr>
        <p:txBody>
          <a:bodyPr wrap="none" lIns="0" tIns="0" rIns="0" bIns="0" rtlCol="0" anchor="t"/>
          <a:lstStyle/>
          <a:p>
            <a:pPr marL="0" indent="0" algn="l">
              <a:lnSpc>
                <a:spcPts val="2600"/>
              </a:lnSpc>
              <a:buNone/>
            </a:pPr>
            <a:r>
              <a:rPr lang="en-US" sz="1600" b="1" dirty="0">
                <a:solidFill>
                  <a:srgbClr val="D6E5EF"/>
                </a:solidFill>
                <a:latin typeface="Source Sans 3" pitchFamily="34" charset="0"/>
                <a:ea typeface="Source Sans 3" pitchFamily="34" charset="-122"/>
                <a:cs typeface="Source Sans 3" pitchFamily="34" charset="-120"/>
              </a:rPr>
              <a:t>2025: 2.77</a:t>
            </a:r>
            <a:endParaRPr lang="en-US" sz="1600" b="1" dirty="0"/>
          </a:p>
        </p:txBody>
      </p:sp>
      <p:pic>
        <p:nvPicPr>
          <p:cNvPr id="20" name="Image 4" descr="preencoded.png"/>
          <p:cNvPicPr>
            <a:picLocks noChangeAspect="1"/>
          </p:cNvPicPr>
          <p:nvPr/>
        </p:nvPicPr>
        <p:blipFill>
          <a:blip r:embed="rId7"/>
          <a:stretch>
            <a:fillRect/>
          </a:stretch>
        </p:blipFill>
        <p:spPr>
          <a:xfrm>
            <a:off x="5048131" y="2817971"/>
            <a:ext cx="4534138" cy="4534138"/>
          </a:xfrm>
          <a:prstGeom prst="rect">
            <a:avLst/>
          </a:prstGeom>
        </p:spPr>
      </p:pic>
      <p:pic>
        <p:nvPicPr>
          <p:cNvPr id="21" name="Image 5" descr="preencoded.png"/>
          <p:cNvPicPr>
            <a:picLocks noChangeAspect="1"/>
          </p:cNvPicPr>
          <p:nvPr/>
        </p:nvPicPr>
        <p:blipFill>
          <a:blip r:embed="rId8"/>
          <a:stretch>
            <a:fillRect/>
          </a:stretch>
        </p:blipFill>
        <p:spPr>
          <a:xfrm>
            <a:off x="7951946" y="6263402"/>
            <a:ext cx="313373" cy="391716"/>
          </a:xfrm>
          <a:prstGeom prst="rect">
            <a:avLst/>
          </a:prstGeom>
        </p:spPr>
      </p:pic>
      <p:sp>
        <p:nvSpPr>
          <p:cNvPr id="22" name="TextBox 21">
            <a:extLst>
              <a:ext uri="{FF2B5EF4-FFF2-40B4-BE49-F238E27FC236}">
                <a16:creationId xmlns:a16="http://schemas.microsoft.com/office/drawing/2014/main" id="{D2645CCE-AB3B-B35C-51FF-CE9F38EDEBBD}"/>
              </a:ext>
            </a:extLst>
          </p:cNvPr>
          <p:cNvSpPr txBox="1"/>
          <p:nvPr/>
        </p:nvSpPr>
        <p:spPr>
          <a:xfrm>
            <a:off x="1783645" y="3752910"/>
            <a:ext cx="3411242" cy="369332"/>
          </a:xfrm>
          <a:prstGeom prst="rect">
            <a:avLst/>
          </a:prstGeom>
          <a:noFill/>
        </p:spPr>
        <p:txBody>
          <a:bodyPr wrap="square" rtlCol="0">
            <a:spAutoFit/>
          </a:bodyPr>
          <a:lstStyle/>
          <a:p>
            <a:r>
              <a:rPr lang="en-US" dirty="0">
                <a:solidFill>
                  <a:schemeClr val="bg1"/>
                </a:solidFill>
              </a:rPr>
              <a:t>ROA= Net Income​ / Total Assets </a:t>
            </a:r>
          </a:p>
        </p:txBody>
      </p:sp>
      <p:sp>
        <p:nvSpPr>
          <p:cNvPr id="23" name="TextBox 22">
            <a:extLst>
              <a:ext uri="{FF2B5EF4-FFF2-40B4-BE49-F238E27FC236}">
                <a16:creationId xmlns:a16="http://schemas.microsoft.com/office/drawing/2014/main" id="{D9D06D17-C1FF-384C-28EE-3CFFEAB74168}"/>
              </a:ext>
            </a:extLst>
          </p:cNvPr>
          <p:cNvSpPr txBox="1"/>
          <p:nvPr/>
        </p:nvSpPr>
        <p:spPr>
          <a:xfrm>
            <a:off x="9806086" y="2476500"/>
            <a:ext cx="4405451" cy="369332"/>
          </a:xfrm>
          <a:prstGeom prst="rect">
            <a:avLst/>
          </a:prstGeom>
          <a:noFill/>
        </p:spPr>
        <p:txBody>
          <a:bodyPr wrap="square" rtlCol="0">
            <a:spAutoFit/>
          </a:bodyPr>
          <a:lstStyle/>
          <a:p>
            <a:r>
              <a:rPr lang="en-US" dirty="0">
                <a:solidFill>
                  <a:schemeClr val="bg1"/>
                </a:solidFill>
              </a:rPr>
              <a:t>ROE = Net Income / Shareholders’ Equity</a:t>
            </a:r>
          </a:p>
        </p:txBody>
      </p:sp>
      <p:sp>
        <p:nvSpPr>
          <p:cNvPr id="24" name="TextBox 23">
            <a:extLst>
              <a:ext uri="{FF2B5EF4-FFF2-40B4-BE49-F238E27FC236}">
                <a16:creationId xmlns:a16="http://schemas.microsoft.com/office/drawing/2014/main" id="{419A3009-832E-9487-CC47-D713B1257D3F}"/>
              </a:ext>
            </a:extLst>
          </p:cNvPr>
          <p:cNvSpPr txBox="1"/>
          <p:nvPr/>
        </p:nvSpPr>
        <p:spPr>
          <a:xfrm>
            <a:off x="9806086" y="5019973"/>
            <a:ext cx="4315181" cy="369332"/>
          </a:xfrm>
          <a:prstGeom prst="rect">
            <a:avLst/>
          </a:prstGeom>
          <a:noFill/>
        </p:spPr>
        <p:txBody>
          <a:bodyPr wrap="square" rtlCol="0">
            <a:spAutoFit/>
          </a:bodyPr>
          <a:lstStyle/>
          <a:p>
            <a:r>
              <a:rPr lang="en-US" dirty="0">
                <a:solidFill>
                  <a:schemeClr val="bg1"/>
                </a:solidFill>
              </a:rPr>
              <a:t>EM = Total Assets / Shareholders’ Equity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1273493"/>
            <a:ext cx="7145893" cy="615910"/>
          </a:xfrm>
          <a:prstGeom prst="rect">
            <a:avLst/>
          </a:prstGeom>
          <a:noFill/>
          <a:ln/>
        </p:spPr>
        <p:txBody>
          <a:bodyPr wrap="none" lIns="0" tIns="0" rIns="0" bIns="0" rtlCol="0" anchor="t"/>
          <a:lstStyle/>
          <a:p>
            <a:pPr marL="0" indent="0" algn="l">
              <a:lnSpc>
                <a:spcPts val="4850"/>
              </a:lnSpc>
              <a:buNone/>
            </a:pPr>
            <a:r>
              <a:rPr lang="en-US" sz="3850" dirty="0">
                <a:solidFill>
                  <a:srgbClr val="F98AC7"/>
                </a:solidFill>
                <a:latin typeface="Lora" pitchFamily="34" charset="0"/>
                <a:ea typeface="Lora" pitchFamily="34" charset="-122"/>
                <a:cs typeface="Lora" pitchFamily="34" charset="-120"/>
              </a:rPr>
              <a:t>Analysis of Profitability Decline</a:t>
            </a:r>
            <a:endParaRPr lang="en-US" sz="3850" dirty="0"/>
          </a:p>
        </p:txBody>
      </p:sp>
      <p:sp>
        <p:nvSpPr>
          <p:cNvPr id="3" name="Text 1"/>
          <p:cNvSpPr/>
          <p:nvPr/>
        </p:nvSpPr>
        <p:spPr>
          <a:xfrm>
            <a:off x="837724" y="2135461"/>
            <a:ext cx="12954952" cy="335042"/>
          </a:xfrm>
          <a:prstGeom prst="rect">
            <a:avLst/>
          </a:prstGeom>
          <a:noFill/>
          <a:ln/>
        </p:spPr>
        <p:txBody>
          <a:bodyPr wrap="none" lIns="0" tIns="0" rIns="0" bIns="0" rtlCol="0" anchor="t"/>
          <a:lstStyle/>
          <a:p>
            <a:pPr marL="0" indent="0" algn="l">
              <a:lnSpc>
                <a:spcPts val="2600"/>
              </a:lnSpc>
              <a:buNone/>
            </a:pPr>
            <a:r>
              <a:rPr lang="en-US" sz="2000" dirty="0">
                <a:solidFill>
                  <a:srgbClr val="D6E5EF"/>
                </a:solidFill>
                <a:latin typeface="Source Sans 3" pitchFamily="34" charset="0"/>
                <a:ea typeface="Source Sans 3" pitchFamily="34" charset="-122"/>
                <a:cs typeface="Source Sans 3" pitchFamily="34" charset="-120"/>
              </a:rPr>
              <a:t>The sharp decline in profitability, particularly in FY2025, requires further examination using the DuPont disaggregation model.</a:t>
            </a:r>
            <a:endParaRPr lang="en-US" sz="2000" dirty="0"/>
          </a:p>
        </p:txBody>
      </p:sp>
      <p:sp>
        <p:nvSpPr>
          <p:cNvPr id="4" name="Text 2"/>
          <p:cNvSpPr/>
          <p:nvPr/>
        </p:nvSpPr>
        <p:spPr>
          <a:xfrm>
            <a:off x="837724" y="3088362"/>
            <a:ext cx="3418284" cy="308015"/>
          </a:xfrm>
          <a:prstGeom prst="rect">
            <a:avLst/>
          </a:prstGeom>
          <a:noFill/>
          <a:ln/>
        </p:spPr>
        <p:txBody>
          <a:bodyPr wrap="none" lIns="0" tIns="0" rIns="0" bIns="0" rtlCol="0" anchor="t"/>
          <a:lstStyle/>
          <a:p>
            <a:pPr marL="0" indent="0" algn="l">
              <a:lnSpc>
                <a:spcPts val="2400"/>
              </a:lnSpc>
              <a:buNone/>
            </a:pPr>
            <a:r>
              <a:rPr lang="en-US" sz="2800" dirty="0">
                <a:solidFill>
                  <a:srgbClr val="F98AC7"/>
                </a:solidFill>
                <a:latin typeface="Lora" pitchFamily="34" charset="0"/>
                <a:ea typeface="Lora" pitchFamily="34" charset="-122"/>
                <a:cs typeface="Lora" pitchFamily="34" charset="-120"/>
              </a:rPr>
              <a:t>Return on Equity (ROE) Trend</a:t>
            </a:r>
            <a:endParaRPr lang="en-US" sz="2800" dirty="0"/>
          </a:p>
        </p:txBody>
      </p:sp>
      <p:sp>
        <p:nvSpPr>
          <p:cNvPr id="5" name="Text 3"/>
          <p:cNvSpPr/>
          <p:nvPr/>
        </p:nvSpPr>
        <p:spPr>
          <a:xfrm>
            <a:off x="837724" y="3605808"/>
            <a:ext cx="6221968" cy="1340168"/>
          </a:xfrm>
          <a:prstGeom prst="rect">
            <a:avLst/>
          </a:prstGeom>
          <a:noFill/>
          <a:ln/>
        </p:spPr>
        <p:txBody>
          <a:bodyPr wrap="square" lIns="0" tIns="0" rIns="0" bIns="0" rtlCol="0" anchor="t"/>
          <a:lstStyle/>
          <a:p>
            <a:pPr marL="0" indent="0" algn="l">
              <a:lnSpc>
                <a:spcPts val="2600"/>
              </a:lnSpc>
              <a:buNone/>
            </a:pPr>
            <a:r>
              <a:rPr lang="en-US" sz="2000" dirty="0">
                <a:solidFill>
                  <a:srgbClr val="D6E5EF"/>
                </a:solidFill>
                <a:latin typeface="Source Sans 3" pitchFamily="34" charset="0"/>
                <a:ea typeface="Source Sans 3" pitchFamily="34" charset="-122"/>
                <a:cs typeface="Source Sans 3" pitchFamily="34" charset="-120"/>
              </a:rPr>
              <a:t>ROE increased from 36.2% in 2023 to its peak of 39.5% in 2024, reflecting improved utilization of shareholder capital. However, it plummeted to </a:t>
            </a:r>
            <a:r>
              <a:rPr lang="en-US" sz="2000" dirty="0">
                <a:solidFill>
                  <a:srgbClr val="F44444"/>
                </a:solidFill>
                <a:latin typeface="Source Sans 3" pitchFamily="34" charset="0"/>
                <a:ea typeface="Source Sans 3" pitchFamily="34" charset="-122"/>
                <a:cs typeface="Source Sans 3" pitchFamily="34" charset="-120"/>
              </a:rPr>
              <a:t>24.4% in 2025</a:t>
            </a:r>
            <a:r>
              <a:rPr lang="en-US" sz="2000" dirty="0">
                <a:solidFill>
                  <a:srgbClr val="D6E5EF"/>
                </a:solidFill>
                <a:latin typeface="Source Sans 3" pitchFamily="34" charset="0"/>
                <a:ea typeface="Source Sans 3" pitchFamily="34" charset="-122"/>
                <a:cs typeface="Source Sans 3" pitchFamily="34" charset="-120"/>
              </a:rPr>
              <a:t>, a significant 15.1 percentage point decline year-over-year.</a:t>
            </a:r>
            <a:endParaRPr lang="en-US" sz="2000" dirty="0"/>
          </a:p>
        </p:txBody>
      </p:sp>
      <p:sp>
        <p:nvSpPr>
          <p:cNvPr id="6" name="Text 4"/>
          <p:cNvSpPr/>
          <p:nvPr/>
        </p:nvSpPr>
        <p:spPr>
          <a:xfrm>
            <a:off x="837724" y="5134451"/>
            <a:ext cx="6221968" cy="670084"/>
          </a:xfrm>
          <a:prstGeom prst="rect">
            <a:avLst/>
          </a:prstGeom>
          <a:noFill/>
          <a:ln/>
        </p:spPr>
        <p:txBody>
          <a:bodyPr wrap="square" lIns="0" tIns="0" rIns="0" bIns="0" rtlCol="0" anchor="t"/>
          <a:lstStyle/>
          <a:p>
            <a:pPr marL="342900" indent="-342900" algn="l">
              <a:lnSpc>
                <a:spcPts val="2600"/>
              </a:lnSpc>
              <a:buSzPct val="100000"/>
              <a:buChar char="•"/>
            </a:pPr>
            <a:r>
              <a:rPr lang="en-US" sz="2000" b="1" dirty="0">
                <a:solidFill>
                  <a:srgbClr val="D6E5EF"/>
                </a:solidFill>
                <a:latin typeface="Source Sans 3" pitchFamily="34" charset="0"/>
                <a:ea typeface="Source Sans 3" pitchFamily="34" charset="-122"/>
                <a:cs typeface="Source Sans 3" pitchFamily="34" charset="-120"/>
              </a:rPr>
              <a:t>The Driver:</a:t>
            </a:r>
            <a:r>
              <a:rPr lang="en-US" sz="2000" dirty="0">
                <a:solidFill>
                  <a:srgbClr val="D6E5EF"/>
                </a:solidFill>
                <a:latin typeface="Source Sans 3" pitchFamily="34" charset="0"/>
                <a:ea typeface="Source Sans 3" pitchFamily="34" charset="-122"/>
                <a:cs typeface="Source Sans 3" pitchFamily="34" charset="-120"/>
              </a:rPr>
              <a:t> This drop is primarily attributable to the lower net income ($5,700M in 2024 down to $3,219M in 2025).</a:t>
            </a:r>
            <a:endParaRPr lang="en-US" sz="2000" dirty="0"/>
          </a:p>
        </p:txBody>
      </p:sp>
      <p:sp>
        <p:nvSpPr>
          <p:cNvPr id="7" name="Text 5"/>
          <p:cNvSpPr/>
          <p:nvPr/>
        </p:nvSpPr>
        <p:spPr>
          <a:xfrm>
            <a:off x="835462" y="6181695"/>
            <a:ext cx="6221968" cy="1005126"/>
          </a:xfrm>
          <a:prstGeom prst="rect">
            <a:avLst/>
          </a:prstGeom>
          <a:noFill/>
          <a:ln/>
        </p:spPr>
        <p:txBody>
          <a:bodyPr wrap="square" lIns="0" tIns="0" rIns="0" bIns="0" rtlCol="0" anchor="t"/>
          <a:lstStyle/>
          <a:p>
            <a:pPr marL="342900" indent="-342900" algn="l">
              <a:lnSpc>
                <a:spcPts val="2600"/>
              </a:lnSpc>
              <a:buSzPct val="100000"/>
              <a:buChar char="•"/>
            </a:pPr>
            <a:r>
              <a:rPr lang="en-US" sz="2000" b="1" dirty="0">
                <a:solidFill>
                  <a:srgbClr val="D6E5EF"/>
                </a:solidFill>
                <a:latin typeface="Source Sans 3" pitchFamily="34" charset="0"/>
                <a:ea typeface="Source Sans 3" pitchFamily="34" charset="-122"/>
                <a:cs typeface="Source Sans 3" pitchFamily="34" charset="-120"/>
              </a:rPr>
              <a:t>Impact on Assets:</a:t>
            </a:r>
            <a:r>
              <a:rPr lang="en-US" sz="2000" dirty="0">
                <a:solidFill>
                  <a:srgbClr val="D6E5EF"/>
                </a:solidFill>
                <a:latin typeface="Source Sans 3" pitchFamily="34" charset="0"/>
                <a:ea typeface="Source Sans 3" pitchFamily="34" charset="-122"/>
                <a:cs typeface="Source Sans 3" pitchFamily="34" charset="-120"/>
              </a:rPr>
              <a:t> Similarly, ROA fell from 15.0% to 8.8%, showing that the company became substantially less efficient at generating profit from its total asset base in 2025.</a:t>
            </a:r>
            <a:endParaRPr lang="en-US" sz="2000" dirty="0"/>
          </a:p>
        </p:txBody>
      </p:sp>
      <p:pic>
        <p:nvPicPr>
          <p:cNvPr id="8" name="Image 0" descr="preencoded.png"/>
          <p:cNvPicPr>
            <a:picLocks noChangeAspect="1"/>
          </p:cNvPicPr>
          <p:nvPr/>
        </p:nvPicPr>
        <p:blipFill>
          <a:blip r:embed="rId3"/>
          <a:stretch>
            <a:fillRect/>
          </a:stretch>
        </p:blipFill>
        <p:spPr>
          <a:xfrm>
            <a:off x="7654528" y="3706534"/>
            <a:ext cx="6221968" cy="2855833"/>
          </a:xfrm>
          <a:prstGeom prst="rect">
            <a:avLst/>
          </a:prstGeom>
        </p:spPr>
      </p:pic>
      <p:sp>
        <p:nvSpPr>
          <p:cNvPr id="9" name="Shape 6"/>
          <p:cNvSpPr/>
          <p:nvPr/>
        </p:nvSpPr>
        <p:spPr>
          <a:xfrm>
            <a:off x="9974223" y="6850923"/>
            <a:ext cx="209431" cy="209431"/>
          </a:xfrm>
          <a:prstGeom prst="roundRect">
            <a:avLst>
              <a:gd name="adj" fmla="val 8732"/>
            </a:avLst>
          </a:prstGeom>
          <a:solidFill>
            <a:srgbClr val="DA0B7D"/>
          </a:solidFill>
          <a:ln/>
        </p:spPr>
        <p:txBody>
          <a:bodyPr/>
          <a:lstStyle/>
          <a:p>
            <a:endParaRPr lang="en-US"/>
          </a:p>
        </p:txBody>
      </p:sp>
      <p:sp>
        <p:nvSpPr>
          <p:cNvPr id="10" name="Text 7"/>
          <p:cNvSpPr/>
          <p:nvPr/>
        </p:nvSpPr>
        <p:spPr>
          <a:xfrm>
            <a:off x="10244614" y="6850923"/>
            <a:ext cx="368498" cy="209431"/>
          </a:xfrm>
          <a:prstGeom prst="rect">
            <a:avLst/>
          </a:prstGeom>
          <a:noFill/>
          <a:ln/>
        </p:spPr>
        <p:txBody>
          <a:bodyPr wrap="none" lIns="0" tIns="0" rIns="0" bIns="0" rtlCol="0" anchor="t"/>
          <a:lstStyle/>
          <a:p>
            <a:pPr marL="0" indent="0" algn="l">
              <a:lnSpc>
                <a:spcPts val="1600"/>
              </a:lnSpc>
              <a:buNone/>
            </a:pPr>
            <a:r>
              <a:rPr lang="en-US" sz="1600" dirty="0">
                <a:solidFill>
                  <a:srgbClr val="D6E5EF"/>
                </a:solidFill>
                <a:latin typeface="Source Sans 3" pitchFamily="34" charset="0"/>
                <a:ea typeface="Source Sans 3" pitchFamily="34" charset="-122"/>
                <a:cs typeface="Source Sans 3" pitchFamily="34" charset="-120"/>
              </a:rPr>
              <a:t>ROE</a:t>
            </a:r>
            <a:endParaRPr lang="en-US" sz="1600" dirty="0"/>
          </a:p>
        </p:txBody>
      </p:sp>
      <p:sp>
        <p:nvSpPr>
          <p:cNvPr id="11" name="Shape 8"/>
          <p:cNvSpPr/>
          <p:nvPr/>
        </p:nvSpPr>
        <p:spPr>
          <a:xfrm>
            <a:off x="10765512" y="6850923"/>
            <a:ext cx="209431" cy="209431"/>
          </a:xfrm>
          <a:prstGeom prst="roundRect">
            <a:avLst>
              <a:gd name="adj" fmla="val 8732"/>
            </a:avLst>
          </a:prstGeom>
          <a:solidFill>
            <a:srgbClr val="F86DB9"/>
          </a:solidFill>
          <a:ln/>
        </p:spPr>
        <p:txBody>
          <a:bodyPr/>
          <a:lstStyle/>
          <a:p>
            <a:endParaRPr lang="en-US"/>
          </a:p>
        </p:txBody>
      </p:sp>
      <p:sp>
        <p:nvSpPr>
          <p:cNvPr id="12" name="Text 9"/>
          <p:cNvSpPr/>
          <p:nvPr/>
        </p:nvSpPr>
        <p:spPr>
          <a:xfrm>
            <a:off x="11035903" y="6850923"/>
            <a:ext cx="369689" cy="209431"/>
          </a:xfrm>
          <a:prstGeom prst="rect">
            <a:avLst/>
          </a:prstGeom>
          <a:noFill/>
          <a:ln/>
        </p:spPr>
        <p:txBody>
          <a:bodyPr wrap="none" lIns="0" tIns="0" rIns="0" bIns="0" rtlCol="0" anchor="t"/>
          <a:lstStyle/>
          <a:p>
            <a:pPr marL="0" indent="0" algn="l">
              <a:lnSpc>
                <a:spcPts val="1600"/>
              </a:lnSpc>
              <a:buNone/>
            </a:pPr>
            <a:r>
              <a:rPr lang="en-US" sz="1600" dirty="0">
                <a:solidFill>
                  <a:srgbClr val="D6E5EF"/>
                </a:solidFill>
                <a:latin typeface="Source Sans 3" pitchFamily="34" charset="0"/>
                <a:ea typeface="Source Sans 3" pitchFamily="34" charset="-122"/>
                <a:cs typeface="Source Sans 3" pitchFamily="34" charset="-120"/>
              </a:rPr>
              <a:t>ROA</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7724" y="1213128"/>
            <a:ext cx="12514183" cy="615910"/>
          </a:xfrm>
          <a:prstGeom prst="rect">
            <a:avLst/>
          </a:prstGeom>
          <a:noFill/>
          <a:ln/>
        </p:spPr>
        <p:txBody>
          <a:bodyPr wrap="none" lIns="0" tIns="0" rIns="0" bIns="0" rtlCol="0" anchor="t"/>
          <a:lstStyle/>
          <a:p>
            <a:pPr marL="0" indent="0" algn="l">
              <a:lnSpc>
                <a:spcPts val="4850"/>
              </a:lnSpc>
              <a:buNone/>
            </a:pPr>
            <a:r>
              <a:rPr lang="en-US" sz="3850" dirty="0">
                <a:solidFill>
                  <a:srgbClr val="F98AC7"/>
                </a:solidFill>
                <a:latin typeface="Lora" pitchFamily="34" charset="0"/>
                <a:ea typeface="Lora" pitchFamily="34" charset="-122"/>
                <a:cs typeface="Lora" pitchFamily="34" charset="-120"/>
              </a:rPr>
              <a:t>DuPont Decomposition: ROE = ROA x Equity Multiplier</a:t>
            </a:r>
            <a:endParaRPr lang="en-US" sz="3850" dirty="0"/>
          </a:p>
        </p:txBody>
      </p:sp>
      <p:sp>
        <p:nvSpPr>
          <p:cNvPr id="3" name="Text 1"/>
          <p:cNvSpPr/>
          <p:nvPr/>
        </p:nvSpPr>
        <p:spPr>
          <a:xfrm>
            <a:off x="837724" y="2247900"/>
            <a:ext cx="12954952"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Analyzing the components reveals the underlying cause of the 2025 profitability shift.</a:t>
            </a:r>
            <a:endParaRPr lang="en-US" sz="1600" dirty="0"/>
          </a:p>
        </p:txBody>
      </p:sp>
      <p:sp>
        <p:nvSpPr>
          <p:cNvPr id="4" name="Shape 2"/>
          <p:cNvSpPr/>
          <p:nvPr/>
        </p:nvSpPr>
        <p:spPr>
          <a:xfrm>
            <a:off x="837724" y="2818567"/>
            <a:ext cx="4178618" cy="628293"/>
          </a:xfrm>
          <a:prstGeom prst="roundRect">
            <a:avLst>
              <a:gd name="adj" fmla="val 480063"/>
            </a:avLst>
          </a:prstGeom>
          <a:solidFill>
            <a:srgbClr val="444752"/>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2769989" y="2936319"/>
            <a:ext cx="314087" cy="392668"/>
          </a:xfrm>
          <a:prstGeom prst="rect">
            <a:avLst/>
          </a:prstGeom>
        </p:spPr>
      </p:pic>
      <p:sp>
        <p:nvSpPr>
          <p:cNvPr id="6" name="Text 3"/>
          <p:cNvSpPr/>
          <p:nvPr/>
        </p:nvSpPr>
        <p:spPr>
          <a:xfrm>
            <a:off x="1047155" y="3656290"/>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D6E5EF"/>
                </a:solidFill>
                <a:latin typeface="Lora" pitchFamily="34" charset="0"/>
                <a:ea typeface="Lora" pitchFamily="34" charset="-122"/>
                <a:cs typeface="Lora" pitchFamily="34" charset="-120"/>
              </a:rPr>
              <a:t>2024 ROE (39.5%)</a:t>
            </a:r>
            <a:endParaRPr lang="en-US" sz="1900" dirty="0"/>
          </a:p>
        </p:txBody>
      </p:sp>
      <p:sp>
        <p:nvSpPr>
          <p:cNvPr id="7" name="Text 4"/>
          <p:cNvSpPr/>
          <p:nvPr/>
        </p:nvSpPr>
        <p:spPr>
          <a:xfrm>
            <a:off x="1047155" y="4089916"/>
            <a:ext cx="3759756" cy="670084"/>
          </a:xfrm>
          <a:prstGeom prst="rect">
            <a:avLst/>
          </a:prstGeom>
          <a:noFill/>
          <a:ln/>
        </p:spPr>
        <p:txBody>
          <a:bodyPr wrap="squar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Supported by a healthy ROA (15.0%) and moderate leverage (2.64).</a:t>
            </a:r>
            <a:endParaRPr lang="en-US" sz="1600" dirty="0"/>
          </a:p>
        </p:txBody>
      </p:sp>
      <p:sp>
        <p:nvSpPr>
          <p:cNvPr id="8" name="Shape 5"/>
          <p:cNvSpPr/>
          <p:nvPr/>
        </p:nvSpPr>
        <p:spPr>
          <a:xfrm>
            <a:off x="5225772" y="2818567"/>
            <a:ext cx="4178737" cy="628293"/>
          </a:xfrm>
          <a:prstGeom prst="roundRect">
            <a:avLst>
              <a:gd name="adj" fmla="val 480063"/>
            </a:avLst>
          </a:prstGeom>
          <a:solidFill>
            <a:srgbClr val="444752"/>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7158038" y="2936319"/>
            <a:ext cx="314087" cy="392668"/>
          </a:xfrm>
          <a:prstGeom prst="rect">
            <a:avLst/>
          </a:prstGeom>
        </p:spPr>
      </p:pic>
      <p:sp>
        <p:nvSpPr>
          <p:cNvPr id="10" name="Text 6"/>
          <p:cNvSpPr/>
          <p:nvPr/>
        </p:nvSpPr>
        <p:spPr>
          <a:xfrm>
            <a:off x="5435203" y="3656290"/>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D6E5EF"/>
                </a:solidFill>
                <a:latin typeface="Lora" pitchFamily="34" charset="0"/>
                <a:ea typeface="Lora" pitchFamily="34" charset="-122"/>
                <a:cs typeface="Lora" pitchFamily="34" charset="-120"/>
              </a:rPr>
              <a:t>2025 ROE (24.4%)</a:t>
            </a:r>
            <a:endParaRPr lang="en-US" sz="1900" dirty="0"/>
          </a:p>
        </p:txBody>
      </p:sp>
      <p:sp>
        <p:nvSpPr>
          <p:cNvPr id="11" name="Text 7"/>
          <p:cNvSpPr/>
          <p:nvPr/>
        </p:nvSpPr>
        <p:spPr>
          <a:xfrm>
            <a:off x="5435203" y="4089916"/>
            <a:ext cx="3759875" cy="1340168"/>
          </a:xfrm>
          <a:prstGeom prst="rect">
            <a:avLst/>
          </a:prstGeom>
          <a:noFill/>
          <a:ln/>
        </p:spPr>
        <p:txBody>
          <a:bodyPr wrap="squar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The primary cause of the 15.1-point decline was the sharp drop in </a:t>
            </a:r>
            <a:r>
              <a:rPr lang="en-US" sz="1600" b="1" dirty="0">
                <a:solidFill>
                  <a:srgbClr val="D6E5EF"/>
                </a:solidFill>
                <a:latin typeface="Source Sans 3" pitchFamily="34" charset="0"/>
                <a:ea typeface="Source Sans 3" pitchFamily="34" charset="-122"/>
                <a:cs typeface="Source Sans 3" pitchFamily="34" charset="-120"/>
              </a:rPr>
              <a:t>ROA</a:t>
            </a:r>
            <a:r>
              <a:rPr lang="en-US" sz="1600" dirty="0">
                <a:solidFill>
                  <a:srgbClr val="D6E5EF"/>
                </a:solidFill>
                <a:latin typeface="Source Sans 3" pitchFamily="34" charset="0"/>
                <a:ea typeface="Source Sans 3" pitchFamily="34" charset="-122"/>
                <a:cs typeface="Source Sans 3" pitchFamily="34" charset="-120"/>
              </a:rPr>
              <a:t> (from 15.0% to 8.8%), driven by lower net income.</a:t>
            </a:r>
            <a:endParaRPr lang="en-US" sz="1600" dirty="0"/>
          </a:p>
        </p:txBody>
      </p:sp>
      <p:sp>
        <p:nvSpPr>
          <p:cNvPr id="12" name="Shape 8"/>
          <p:cNvSpPr/>
          <p:nvPr/>
        </p:nvSpPr>
        <p:spPr>
          <a:xfrm>
            <a:off x="9613940" y="2818567"/>
            <a:ext cx="4178737" cy="628293"/>
          </a:xfrm>
          <a:prstGeom prst="roundRect">
            <a:avLst>
              <a:gd name="adj" fmla="val 480063"/>
            </a:avLst>
          </a:prstGeom>
          <a:solidFill>
            <a:srgbClr val="444752"/>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11546205" y="2936319"/>
            <a:ext cx="314087" cy="392668"/>
          </a:xfrm>
          <a:prstGeom prst="rect">
            <a:avLst/>
          </a:prstGeom>
        </p:spPr>
      </p:pic>
      <p:sp>
        <p:nvSpPr>
          <p:cNvPr id="14" name="Text 9"/>
          <p:cNvSpPr/>
          <p:nvPr/>
        </p:nvSpPr>
        <p:spPr>
          <a:xfrm>
            <a:off x="9823371" y="3656290"/>
            <a:ext cx="3127058" cy="308015"/>
          </a:xfrm>
          <a:prstGeom prst="rect">
            <a:avLst/>
          </a:prstGeom>
          <a:noFill/>
          <a:ln/>
        </p:spPr>
        <p:txBody>
          <a:bodyPr wrap="none" lIns="0" tIns="0" rIns="0" bIns="0" rtlCol="0" anchor="t"/>
          <a:lstStyle/>
          <a:p>
            <a:pPr marL="0" indent="0" algn="l">
              <a:lnSpc>
                <a:spcPts val="2400"/>
              </a:lnSpc>
              <a:buNone/>
            </a:pPr>
            <a:r>
              <a:rPr lang="en-US" sz="1900" dirty="0">
                <a:solidFill>
                  <a:srgbClr val="D6E5EF"/>
                </a:solidFill>
                <a:latin typeface="Lora" pitchFamily="34" charset="0"/>
                <a:ea typeface="Lora" pitchFamily="34" charset="-122"/>
                <a:cs typeface="Lora" pitchFamily="34" charset="-120"/>
              </a:rPr>
              <a:t>Mitigating Factor: Leverage</a:t>
            </a:r>
            <a:endParaRPr lang="en-US" sz="1900" dirty="0"/>
          </a:p>
        </p:txBody>
      </p:sp>
      <p:sp>
        <p:nvSpPr>
          <p:cNvPr id="15" name="Text 10"/>
          <p:cNvSpPr/>
          <p:nvPr/>
        </p:nvSpPr>
        <p:spPr>
          <a:xfrm>
            <a:off x="9823371" y="4089916"/>
            <a:ext cx="3759875" cy="1340168"/>
          </a:xfrm>
          <a:prstGeom prst="rect">
            <a:avLst/>
          </a:prstGeom>
          <a:noFill/>
          <a:ln/>
        </p:spPr>
        <p:txBody>
          <a:bodyPr wrap="squar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A slight increase in the Equity Multiplier (leverage) from 2.64 to </a:t>
            </a:r>
            <a:r>
              <a:rPr lang="en-US" sz="1600" b="1" dirty="0">
                <a:solidFill>
                  <a:srgbClr val="D6E5EF"/>
                </a:solidFill>
                <a:latin typeface="Source Sans 3" pitchFamily="34" charset="0"/>
                <a:ea typeface="Source Sans 3" pitchFamily="34" charset="-122"/>
                <a:cs typeface="Source Sans 3" pitchFamily="34" charset="-120"/>
              </a:rPr>
              <a:t>2.77</a:t>
            </a:r>
            <a:r>
              <a:rPr lang="en-US" sz="1600" dirty="0">
                <a:solidFill>
                  <a:srgbClr val="D6E5EF"/>
                </a:solidFill>
                <a:latin typeface="Source Sans 3" pitchFamily="34" charset="0"/>
                <a:ea typeface="Source Sans 3" pitchFamily="34" charset="-122"/>
                <a:cs typeface="Source Sans 3" pitchFamily="34" charset="-120"/>
              </a:rPr>
              <a:t> partially offset the ROA decline, preventing an even steeper fall in ROE.</a:t>
            </a:r>
            <a:endParaRPr lang="en-US" sz="1600" dirty="0"/>
          </a:p>
        </p:txBody>
      </p:sp>
      <p:sp>
        <p:nvSpPr>
          <p:cNvPr id="16" name="Text 11"/>
          <p:cNvSpPr/>
          <p:nvPr/>
        </p:nvSpPr>
        <p:spPr>
          <a:xfrm>
            <a:off x="1151811" y="6110764"/>
            <a:ext cx="12640866" cy="670084"/>
          </a:xfrm>
          <a:prstGeom prst="rect">
            <a:avLst/>
          </a:prstGeom>
          <a:noFill/>
          <a:ln/>
        </p:spPr>
        <p:txBody>
          <a:bodyPr wrap="square" lIns="0" tIns="0" rIns="0" bIns="0" rtlCol="0" anchor="t"/>
          <a:lstStyle/>
          <a:p>
            <a:pPr marL="0" indent="0" algn="l">
              <a:lnSpc>
                <a:spcPts val="2600"/>
              </a:lnSpc>
              <a:buNone/>
            </a:pPr>
            <a:r>
              <a:rPr lang="en-US" sz="2000" dirty="0">
                <a:solidFill>
                  <a:srgbClr val="D6E5EF"/>
                </a:solidFill>
                <a:latin typeface="Source Sans 3" pitchFamily="34" charset="0"/>
                <a:ea typeface="Source Sans 3" pitchFamily="34" charset="-122"/>
                <a:cs typeface="Source Sans 3" pitchFamily="34" charset="-120"/>
              </a:rPr>
              <a:t>Insight: While higher leverage helped maintain shareholder returns temporarily, reliance on debt to sustain ROE is riskier if underlying profitability (ROA) does not recover.</a:t>
            </a:r>
            <a:endParaRPr lang="en-US" sz="2000" dirty="0"/>
          </a:p>
        </p:txBody>
      </p:sp>
      <p:sp>
        <p:nvSpPr>
          <p:cNvPr id="17" name="Shape 12"/>
          <p:cNvSpPr/>
          <p:nvPr/>
        </p:nvSpPr>
        <p:spPr>
          <a:xfrm>
            <a:off x="837724" y="5875139"/>
            <a:ext cx="22860" cy="1141333"/>
          </a:xfrm>
          <a:prstGeom prst="rect">
            <a:avLst/>
          </a:prstGeom>
          <a:solidFill>
            <a:srgbClr val="F98AC7"/>
          </a:solidFill>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729496"/>
            <a:ext cx="9679305" cy="615910"/>
          </a:xfrm>
          <a:prstGeom prst="rect">
            <a:avLst/>
          </a:prstGeom>
          <a:noFill/>
          <a:ln/>
        </p:spPr>
        <p:txBody>
          <a:bodyPr wrap="none" lIns="0" tIns="0" rIns="0" bIns="0" rtlCol="0" anchor="t"/>
          <a:lstStyle/>
          <a:p>
            <a:pPr marL="0" indent="0" algn="l">
              <a:lnSpc>
                <a:spcPts val="4850"/>
              </a:lnSpc>
              <a:buNone/>
            </a:pPr>
            <a:r>
              <a:rPr lang="en-US" sz="3850" dirty="0">
                <a:solidFill>
                  <a:srgbClr val="F98AC7"/>
                </a:solidFill>
                <a:latin typeface="Lora" pitchFamily="34" charset="0"/>
                <a:ea typeface="Lora" pitchFamily="34" charset="-122"/>
                <a:cs typeface="Lora" pitchFamily="34" charset="-120"/>
              </a:rPr>
              <a:t>Modeling Sustainable Growth Rates (2025)</a:t>
            </a:r>
            <a:endParaRPr lang="en-US" sz="3850" dirty="0"/>
          </a:p>
        </p:txBody>
      </p:sp>
      <p:sp>
        <p:nvSpPr>
          <p:cNvPr id="3" name="Text 1"/>
          <p:cNvSpPr/>
          <p:nvPr/>
        </p:nvSpPr>
        <p:spPr>
          <a:xfrm>
            <a:off x="837724" y="1764268"/>
            <a:ext cx="12954952" cy="670084"/>
          </a:xfrm>
          <a:prstGeom prst="rect">
            <a:avLst/>
          </a:prstGeom>
          <a:noFill/>
          <a:ln/>
        </p:spPr>
        <p:txBody>
          <a:bodyPr wrap="squar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The Sustainable Growth Rate (SGR) determines the maximum growth a company can achieve without issuing new equity or changing its debt-to-equity ratio.</a:t>
            </a:r>
            <a:endParaRPr lang="en-US" sz="1600" dirty="0"/>
          </a:p>
        </p:txBody>
      </p:sp>
      <p:sp>
        <p:nvSpPr>
          <p:cNvPr id="4" name="Text 2"/>
          <p:cNvSpPr/>
          <p:nvPr/>
        </p:nvSpPr>
        <p:spPr>
          <a:xfrm>
            <a:off x="837724" y="2669977"/>
            <a:ext cx="12954952"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Calculations are based on the </a:t>
            </a:r>
            <a:r>
              <a:rPr lang="en-US" sz="1600" b="1" dirty="0">
                <a:solidFill>
                  <a:srgbClr val="D6E5EF"/>
                </a:solidFill>
                <a:latin typeface="Source Sans 3" pitchFamily="34" charset="0"/>
                <a:ea typeface="Source Sans 3" pitchFamily="34" charset="-122"/>
                <a:cs typeface="Source Sans 3" pitchFamily="34" charset="-120"/>
              </a:rPr>
              <a:t>Retention Ratio (b) </a:t>
            </a:r>
            <a:r>
              <a:rPr lang="en-US" sz="1600" dirty="0">
                <a:solidFill>
                  <a:srgbClr val="D6E5EF"/>
                </a:solidFill>
                <a:latin typeface="Source Sans 3" pitchFamily="34" charset="0"/>
                <a:ea typeface="Source Sans 3" pitchFamily="34" charset="-122"/>
                <a:cs typeface="Source Sans 3" pitchFamily="34" charset="-120"/>
              </a:rPr>
              <a:t>of </a:t>
            </a:r>
            <a:r>
              <a:rPr lang="en-US" sz="1600" dirty="0">
                <a:solidFill>
                  <a:srgbClr val="F44444"/>
                </a:solidFill>
                <a:latin typeface="Source Sans 3" pitchFamily="34" charset="0"/>
                <a:ea typeface="Source Sans 3" pitchFamily="34" charset="-122"/>
                <a:cs typeface="Source Sans 3" pitchFamily="34" charset="-120"/>
              </a:rPr>
              <a:t>0.285</a:t>
            </a:r>
            <a:r>
              <a:rPr lang="en-US" sz="1600" dirty="0">
                <a:solidFill>
                  <a:srgbClr val="D6E5EF"/>
                </a:solidFill>
                <a:latin typeface="Source Sans 3" pitchFamily="34" charset="0"/>
                <a:ea typeface="Source Sans 3" pitchFamily="34" charset="-122"/>
                <a:cs typeface="Source Sans 3" pitchFamily="34" charset="-120"/>
              </a:rPr>
              <a:t>, calculated from </a:t>
            </a:r>
            <a:r>
              <a:rPr lang="en-US" sz="1600" dirty="0">
                <a:solidFill>
                  <a:srgbClr val="F44444"/>
                </a:solidFill>
                <a:latin typeface="Source Sans 3" pitchFamily="34" charset="0"/>
                <a:ea typeface="Source Sans 3" pitchFamily="34" charset="-122"/>
                <a:cs typeface="Source Sans 3" pitchFamily="34" charset="-120"/>
              </a:rPr>
              <a:t>$2,300M in dividends paid out of $3,219M Net Income.</a:t>
            </a:r>
            <a:endParaRPr lang="en-US" sz="1600" dirty="0"/>
          </a:p>
        </p:txBody>
      </p:sp>
      <p:sp>
        <p:nvSpPr>
          <p:cNvPr id="5" name="Shape 3"/>
          <p:cNvSpPr/>
          <p:nvPr/>
        </p:nvSpPr>
        <p:spPr>
          <a:xfrm>
            <a:off x="304659" y="3240642"/>
            <a:ext cx="6894336" cy="4537401"/>
          </a:xfrm>
          <a:prstGeom prst="roundRect">
            <a:avLst>
              <a:gd name="adj" fmla="val 738"/>
            </a:avLst>
          </a:prstGeom>
          <a:solidFill>
            <a:srgbClr val="252833"/>
          </a:solidFill>
          <a:ln w="22860">
            <a:solidFill>
              <a:srgbClr val="5D606B"/>
            </a:solidFill>
            <a:prstDash val="solid"/>
          </a:ln>
        </p:spPr>
        <p:txBody>
          <a:bodyPr/>
          <a:lstStyle/>
          <a:p>
            <a:endParaRPr lang="en-US" dirty="0"/>
          </a:p>
        </p:txBody>
      </p:sp>
      <p:sp>
        <p:nvSpPr>
          <p:cNvPr id="6" name="Shape 4"/>
          <p:cNvSpPr/>
          <p:nvPr/>
        </p:nvSpPr>
        <p:spPr>
          <a:xfrm>
            <a:off x="860584" y="3263503"/>
            <a:ext cx="6326981" cy="628293"/>
          </a:xfrm>
          <a:prstGeom prst="roundRect">
            <a:avLst>
              <a:gd name="adj" fmla="val 635"/>
            </a:avLst>
          </a:prstGeom>
          <a:solidFill>
            <a:srgbClr val="444752"/>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3867031" y="3381256"/>
            <a:ext cx="314087" cy="392668"/>
          </a:xfrm>
          <a:prstGeom prst="rect">
            <a:avLst/>
          </a:prstGeom>
        </p:spPr>
      </p:pic>
      <p:sp>
        <p:nvSpPr>
          <p:cNvPr id="8" name="Text 5"/>
          <p:cNvSpPr/>
          <p:nvPr/>
        </p:nvSpPr>
        <p:spPr>
          <a:xfrm>
            <a:off x="565900" y="4152960"/>
            <a:ext cx="3927277" cy="369689"/>
          </a:xfrm>
          <a:prstGeom prst="rect">
            <a:avLst/>
          </a:prstGeom>
          <a:noFill/>
          <a:ln/>
        </p:spPr>
        <p:txBody>
          <a:bodyPr wrap="none" lIns="0" tIns="0" rIns="0" bIns="0" rtlCol="0" anchor="t"/>
          <a:lstStyle/>
          <a:p>
            <a:pPr marL="0" indent="0" algn="l">
              <a:lnSpc>
                <a:spcPts val="2900"/>
              </a:lnSpc>
              <a:buNone/>
            </a:pPr>
            <a:r>
              <a:rPr lang="en-US" sz="2300" dirty="0">
                <a:solidFill>
                  <a:srgbClr val="D6E5EF"/>
                </a:solidFill>
                <a:latin typeface="Lora" pitchFamily="34" charset="0"/>
                <a:ea typeface="Lora" pitchFamily="34" charset="-122"/>
                <a:cs typeface="Lora" pitchFamily="34" charset="-120"/>
              </a:rPr>
              <a:t>1. Internal Growth Rate (IGR)</a:t>
            </a:r>
            <a:endParaRPr lang="en-US" sz="2300" dirty="0"/>
          </a:p>
        </p:txBody>
      </p:sp>
      <p:sp>
        <p:nvSpPr>
          <p:cNvPr id="9" name="Text 6"/>
          <p:cNvSpPr/>
          <p:nvPr/>
        </p:nvSpPr>
        <p:spPr>
          <a:xfrm>
            <a:off x="837724" y="4554617"/>
            <a:ext cx="4595336" cy="308015"/>
          </a:xfrm>
          <a:prstGeom prst="rect">
            <a:avLst/>
          </a:prstGeom>
          <a:noFill/>
          <a:ln/>
        </p:spPr>
        <p:txBody>
          <a:bodyPr wrap="none" lIns="0" tIns="0" rIns="0" bIns="0" rtlCol="0" anchor="t"/>
          <a:lstStyle/>
          <a:p>
            <a:pPr marL="0" indent="0" algn="l">
              <a:lnSpc>
                <a:spcPts val="2400"/>
              </a:lnSpc>
              <a:buNone/>
            </a:pPr>
            <a:r>
              <a:rPr lang="en-US" sz="1900" dirty="0">
                <a:solidFill>
                  <a:srgbClr val="D6E5EF"/>
                </a:solidFill>
                <a:latin typeface="Lora" pitchFamily="34" charset="0"/>
                <a:ea typeface="Lora" pitchFamily="34" charset="-122"/>
                <a:cs typeface="Lora" pitchFamily="34" charset="-120"/>
              </a:rPr>
              <a:t>Max Growth without External Financing</a:t>
            </a:r>
            <a:endParaRPr lang="en-US" sz="1900" dirty="0"/>
          </a:p>
        </p:txBody>
      </p:sp>
      <p:sp>
        <p:nvSpPr>
          <p:cNvPr id="10" name="Text 7"/>
          <p:cNvSpPr/>
          <p:nvPr/>
        </p:nvSpPr>
        <p:spPr>
          <a:xfrm>
            <a:off x="1070015" y="5127665"/>
            <a:ext cx="5908119" cy="610314"/>
          </a:xfrm>
          <a:prstGeom prst="rect">
            <a:avLst/>
          </a:prstGeom>
          <a:noFill/>
          <a:ln/>
        </p:spPr>
        <p:txBody>
          <a:bodyPr wrap="square" lIns="0" tIns="0" rIns="0" bIns="0" rtlCol="0" anchor="t"/>
          <a:lstStyle/>
          <a:p>
            <a:pPr marL="0" indent="0" algn="l">
              <a:lnSpc>
                <a:spcPts val="2950"/>
              </a:lnSpc>
              <a:buNone/>
            </a:pPr>
            <a:endParaRPr lang="en-US" sz="1850" dirty="0"/>
          </a:p>
        </p:txBody>
      </p:sp>
      <p:pic>
        <p:nvPicPr>
          <p:cNvPr id="11" name="Image 1" descr="preencoded.png"/>
          <p:cNvPicPr>
            <a:picLocks noChangeAspect="1"/>
          </p:cNvPicPr>
          <p:nvPr/>
        </p:nvPicPr>
        <p:blipFill>
          <a:blip r:embed="rId4"/>
          <a:stretch>
            <a:fillRect/>
          </a:stretch>
        </p:blipFill>
        <p:spPr>
          <a:xfrm>
            <a:off x="449126" y="5058972"/>
            <a:ext cx="5908119" cy="610314"/>
          </a:xfrm>
          <a:prstGeom prst="rect">
            <a:avLst/>
          </a:prstGeom>
        </p:spPr>
      </p:pic>
      <p:sp>
        <p:nvSpPr>
          <p:cNvPr id="12" name="Text 8"/>
          <p:cNvSpPr/>
          <p:nvPr/>
        </p:nvSpPr>
        <p:spPr>
          <a:xfrm>
            <a:off x="565840" y="6432954"/>
            <a:ext cx="5908119"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IGR = </a:t>
            </a:r>
            <a:r>
              <a:rPr lang="en-US" sz="1600" dirty="0">
                <a:solidFill>
                  <a:srgbClr val="F44444"/>
                </a:solidFill>
                <a:latin typeface="Source Sans 3" pitchFamily="34" charset="0"/>
                <a:ea typeface="Source Sans 3" pitchFamily="34" charset="-122"/>
                <a:cs typeface="Source Sans 3" pitchFamily="34" charset="-120"/>
              </a:rPr>
              <a:t>2.6%</a:t>
            </a:r>
            <a:endParaRPr lang="en-US" sz="1600" dirty="0"/>
          </a:p>
        </p:txBody>
      </p:sp>
      <p:sp>
        <p:nvSpPr>
          <p:cNvPr id="13" name="Text 9"/>
          <p:cNvSpPr/>
          <p:nvPr/>
        </p:nvSpPr>
        <p:spPr>
          <a:xfrm>
            <a:off x="565900" y="6826836"/>
            <a:ext cx="5908119" cy="804029"/>
          </a:xfrm>
          <a:prstGeom prst="rect">
            <a:avLst/>
          </a:prstGeom>
          <a:noFill/>
          <a:ln/>
        </p:spPr>
        <p:txBody>
          <a:bodyPr wrap="square" lIns="0" tIns="0" rIns="0" bIns="0" rtlCol="0" anchor="t"/>
          <a:lstStyle/>
          <a:p>
            <a:pPr marL="0" indent="0" algn="l">
              <a:lnSpc>
                <a:spcPts val="2100"/>
              </a:lnSpc>
              <a:buNone/>
            </a:pPr>
            <a:r>
              <a:rPr lang="en-US" sz="1300" dirty="0">
                <a:solidFill>
                  <a:srgbClr val="D6E5EF"/>
                </a:solidFill>
                <a:latin typeface="Source Sans 3" pitchFamily="34" charset="0"/>
                <a:ea typeface="Source Sans 3" pitchFamily="34" charset="-122"/>
                <a:cs typeface="Source Sans 3" pitchFamily="34" charset="-120"/>
              </a:rPr>
              <a:t>This modest rate implies that NIKE’s organic growth, funded only by retained earnings and excluding new debt, will be limited. This is common for a mature, large-cap company like NIKE.</a:t>
            </a:r>
            <a:endParaRPr lang="en-US" sz="1300" dirty="0"/>
          </a:p>
        </p:txBody>
      </p:sp>
      <p:sp>
        <p:nvSpPr>
          <p:cNvPr id="14" name="Shape 10"/>
          <p:cNvSpPr/>
          <p:nvPr/>
        </p:nvSpPr>
        <p:spPr>
          <a:xfrm>
            <a:off x="7419856" y="3240642"/>
            <a:ext cx="7086366" cy="4537401"/>
          </a:xfrm>
          <a:prstGeom prst="roundRect">
            <a:avLst>
              <a:gd name="adj" fmla="val 738"/>
            </a:avLst>
          </a:prstGeom>
          <a:solidFill>
            <a:srgbClr val="252833"/>
          </a:solidFill>
          <a:ln w="22860">
            <a:solidFill>
              <a:srgbClr val="5D606B"/>
            </a:solidFill>
            <a:prstDash val="solid"/>
          </a:ln>
        </p:spPr>
        <p:txBody>
          <a:bodyPr/>
          <a:lstStyle/>
          <a:p>
            <a:endParaRPr lang="en-US"/>
          </a:p>
        </p:txBody>
      </p:sp>
      <p:sp>
        <p:nvSpPr>
          <p:cNvPr id="15" name="Shape 11"/>
          <p:cNvSpPr/>
          <p:nvPr/>
        </p:nvSpPr>
        <p:spPr>
          <a:xfrm>
            <a:off x="7442716" y="3263503"/>
            <a:ext cx="6327100" cy="628293"/>
          </a:xfrm>
          <a:prstGeom prst="roundRect">
            <a:avLst>
              <a:gd name="adj" fmla="val 635"/>
            </a:avLst>
          </a:prstGeom>
          <a:solidFill>
            <a:srgbClr val="444752"/>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10449163" y="3381256"/>
            <a:ext cx="314087" cy="392668"/>
          </a:xfrm>
          <a:prstGeom prst="rect">
            <a:avLst/>
          </a:prstGeom>
        </p:spPr>
      </p:pic>
      <p:sp>
        <p:nvSpPr>
          <p:cNvPr id="17" name="Text 12"/>
          <p:cNvSpPr/>
          <p:nvPr/>
        </p:nvSpPr>
        <p:spPr>
          <a:xfrm>
            <a:off x="7652147" y="4101227"/>
            <a:ext cx="4531757" cy="369689"/>
          </a:xfrm>
          <a:prstGeom prst="rect">
            <a:avLst/>
          </a:prstGeom>
          <a:noFill/>
          <a:ln/>
        </p:spPr>
        <p:txBody>
          <a:bodyPr wrap="none" lIns="0" tIns="0" rIns="0" bIns="0" rtlCol="0" anchor="t"/>
          <a:lstStyle/>
          <a:p>
            <a:pPr marL="0" indent="0" algn="l">
              <a:lnSpc>
                <a:spcPts val="2900"/>
              </a:lnSpc>
              <a:buNone/>
            </a:pPr>
            <a:r>
              <a:rPr lang="en-US" sz="2300" dirty="0">
                <a:solidFill>
                  <a:srgbClr val="D6E5EF"/>
                </a:solidFill>
                <a:latin typeface="Lora" pitchFamily="34" charset="0"/>
                <a:ea typeface="Lora" pitchFamily="34" charset="-122"/>
                <a:cs typeface="Lora" pitchFamily="34" charset="-120"/>
              </a:rPr>
              <a:t>2. Sustainable Growth Rate (SGR)</a:t>
            </a:r>
            <a:endParaRPr lang="en-US" sz="2300" dirty="0"/>
          </a:p>
        </p:txBody>
      </p:sp>
      <p:sp>
        <p:nvSpPr>
          <p:cNvPr id="18" name="Text 13"/>
          <p:cNvSpPr/>
          <p:nvPr/>
        </p:nvSpPr>
        <p:spPr>
          <a:xfrm>
            <a:off x="8003857" y="4497192"/>
            <a:ext cx="4890611" cy="308015"/>
          </a:xfrm>
          <a:prstGeom prst="rect">
            <a:avLst/>
          </a:prstGeom>
          <a:noFill/>
          <a:ln/>
        </p:spPr>
        <p:txBody>
          <a:bodyPr wrap="none" lIns="0" tIns="0" rIns="0" bIns="0" rtlCol="0" anchor="t"/>
          <a:lstStyle/>
          <a:p>
            <a:pPr marL="0" indent="0" algn="l">
              <a:lnSpc>
                <a:spcPts val="2400"/>
              </a:lnSpc>
              <a:buNone/>
            </a:pPr>
            <a:r>
              <a:rPr lang="en-US" sz="1900" dirty="0">
                <a:solidFill>
                  <a:srgbClr val="D6E5EF"/>
                </a:solidFill>
                <a:latin typeface="Lora" pitchFamily="34" charset="0"/>
                <a:ea typeface="Lora" pitchFamily="34" charset="-122"/>
                <a:cs typeface="Lora" pitchFamily="34" charset="-120"/>
              </a:rPr>
              <a:t>Max Growth Maintaining Capital Structure</a:t>
            </a:r>
            <a:endParaRPr lang="en-US" sz="1900" dirty="0"/>
          </a:p>
        </p:txBody>
      </p:sp>
      <p:sp>
        <p:nvSpPr>
          <p:cNvPr id="19" name="Text 14"/>
          <p:cNvSpPr/>
          <p:nvPr/>
        </p:nvSpPr>
        <p:spPr>
          <a:xfrm>
            <a:off x="7652147" y="5127665"/>
            <a:ext cx="5908238" cy="610314"/>
          </a:xfrm>
          <a:prstGeom prst="rect">
            <a:avLst/>
          </a:prstGeom>
          <a:noFill/>
          <a:ln/>
        </p:spPr>
        <p:txBody>
          <a:bodyPr wrap="square" lIns="0" tIns="0" rIns="0" bIns="0" rtlCol="0" anchor="t"/>
          <a:lstStyle/>
          <a:p>
            <a:pPr marL="0" indent="0" algn="l">
              <a:lnSpc>
                <a:spcPts val="2950"/>
              </a:lnSpc>
              <a:buNone/>
            </a:pPr>
            <a:endParaRPr lang="en-US" sz="1850" dirty="0"/>
          </a:p>
        </p:txBody>
      </p:sp>
      <p:pic>
        <p:nvPicPr>
          <p:cNvPr id="20" name="Image 3" descr="preencoded.png"/>
          <p:cNvPicPr>
            <a:picLocks noChangeAspect="1"/>
          </p:cNvPicPr>
          <p:nvPr/>
        </p:nvPicPr>
        <p:blipFill>
          <a:blip r:embed="rId6"/>
          <a:stretch>
            <a:fillRect/>
          </a:stretch>
        </p:blipFill>
        <p:spPr>
          <a:xfrm>
            <a:off x="7652147" y="5048602"/>
            <a:ext cx="5908238" cy="610314"/>
          </a:xfrm>
          <a:prstGeom prst="rect">
            <a:avLst/>
          </a:prstGeom>
        </p:spPr>
      </p:pic>
      <p:sp>
        <p:nvSpPr>
          <p:cNvPr id="21" name="Text 15"/>
          <p:cNvSpPr/>
          <p:nvPr/>
        </p:nvSpPr>
        <p:spPr>
          <a:xfrm>
            <a:off x="7652087" y="6376748"/>
            <a:ext cx="5908238" cy="335042"/>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SGR = </a:t>
            </a:r>
            <a:r>
              <a:rPr lang="en-US" sz="1600" dirty="0">
                <a:solidFill>
                  <a:srgbClr val="F44444"/>
                </a:solidFill>
                <a:latin typeface="Source Sans 3" pitchFamily="34" charset="0"/>
                <a:ea typeface="Source Sans 3" pitchFamily="34" charset="-122"/>
                <a:cs typeface="Source Sans 3" pitchFamily="34" charset="-120"/>
              </a:rPr>
              <a:t>7.5%</a:t>
            </a:r>
            <a:endParaRPr lang="en-US" sz="1600" dirty="0"/>
          </a:p>
        </p:txBody>
      </p:sp>
      <p:sp>
        <p:nvSpPr>
          <p:cNvPr id="22" name="Text 16"/>
          <p:cNvSpPr/>
          <p:nvPr/>
        </p:nvSpPr>
        <p:spPr>
          <a:xfrm>
            <a:off x="7652087" y="6813197"/>
            <a:ext cx="5908238" cy="804029"/>
          </a:xfrm>
          <a:prstGeom prst="rect">
            <a:avLst/>
          </a:prstGeom>
          <a:noFill/>
          <a:ln/>
        </p:spPr>
        <p:txBody>
          <a:bodyPr wrap="square" lIns="0" tIns="0" rIns="0" bIns="0" rtlCol="0" anchor="t"/>
          <a:lstStyle/>
          <a:p>
            <a:pPr marL="0" indent="0" algn="l">
              <a:lnSpc>
                <a:spcPts val="2100"/>
              </a:lnSpc>
              <a:buNone/>
            </a:pPr>
            <a:r>
              <a:rPr lang="en-US" sz="1300" dirty="0">
                <a:solidFill>
                  <a:srgbClr val="D6E5EF"/>
                </a:solidFill>
                <a:latin typeface="Source Sans 3" pitchFamily="34" charset="0"/>
                <a:ea typeface="Source Sans 3" pitchFamily="34" charset="-122"/>
                <a:cs typeface="Source Sans 3" pitchFamily="34" charset="-120"/>
              </a:rPr>
              <a:t>The higher SGR leverages NIKE's existing financial structure (debt/equity mix). This rate supports moderate sales growth while maintaining current shareholder returns and capital ratios.</a:t>
            </a:r>
            <a:endParaRPr lang="en-US" sz="1300" dirty="0"/>
          </a:p>
        </p:txBody>
      </p:sp>
      <p:sp>
        <p:nvSpPr>
          <p:cNvPr id="24" name="TextBox 23">
            <a:extLst>
              <a:ext uri="{FF2B5EF4-FFF2-40B4-BE49-F238E27FC236}">
                <a16:creationId xmlns:a16="http://schemas.microsoft.com/office/drawing/2014/main" id="{BDF387AF-FFD9-2FB1-70BC-308E18B72CF9}"/>
              </a:ext>
            </a:extLst>
          </p:cNvPr>
          <p:cNvSpPr txBox="1"/>
          <p:nvPr/>
        </p:nvSpPr>
        <p:spPr>
          <a:xfrm>
            <a:off x="565900" y="5847644"/>
            <a:ext cx="6412234" cy="461665"/>
          </a:xfrm>
          <a:prstGeom prst="rect">
            <a:avLst/>
          </a:prstGeom>
          <a:noFill/>
        </p:spPr>
        <p:txBody>
          <a:bodyPr wrap="square" rtlCol="0">
            <a:spAutoFit/>
          </a:bodyPr>
          <a:lstStyle/>
          <a:p>
            <a:r>
              <a:rPr lang="en-US" sz="2400" dirty="0">
                <a:solidFill>
                  <a:schemeClr val="bg1"/>
                </a:solidFill>
              </a:rPr>
              <a:t>(0.088 × 0.285) / (1 - 0.088 × 0.285) = 2.6%</a:t>
            </a:r>
          </a:p>
        </p:txBody>
      </p:sp>
      <p:sp>
        <p:nvSpPr>
          <p:cNvPr id="25" name="TextBox 24">
            <a:extLst>
              <a:ext uri="{FF2B5EF4-FFF2-40B4-BE49-F238E27FC236}">
                <a16:creationId xmlns:a16="http://schemas.microsoft.com/office/drawing/2014/main" id="{2378DDEE-D4C7-486C-0237-0B074FC3D4EE}"/>
              </a:ext>
            </a:extLst>
          </p:cNvPr>
          <p:cNvSpPr txBox="1"/>
          <p:nvPr/>
        </p:nvSpPr>
        <p:spPr>
          <a:xfrm>
            <a:off x="7557133" y="5857129"/>
            <a:ext cx="6412234" cy="461665"/>
          </a:xfrm>
          <a:prstGeom prst="rect">
            <a:avLst/>
          </a:prstGeom>
          <a:noFill/>
        </p:spPr>
        <p:txBody>
          <a:bodyPr wrap="square" rtlCol="0">
            <a:spAutoFit/>
          </a:bodyPr>
          <a:lstStyle/>
          <a:p>
            <a:r>
              <a:rPr lang="en-US" sz="2400" dirty="0">
                <a:solidFill>
                  <a:schemeClr val="bg1"/>
                </a:solidFill>
              </a:rPr>
              <a:t>(0.244 × 0.285) / (1 - 0.244 × 0.285) = 7.5%</a:t>
            </a:r>
          </a:p>
        </p:txBody>
      </p:sp>
      <p:sp>
        <p:nvSpPr>
          <p:cNvPr id="26" name="TextBox 25">
            <a:extLst>
              <a:ext uri="{FF2B5EF4-FFF2-40B4-BE49-F238E27FC236}">
                <a16:creationId xmlns:a16="http://schemas.microsoft.com/office/drawing/2014/main" id="{414B0EC5-16EA-DB47-86B5-2B0548E85DF6}"/>
              </a:ext>
            </a:extLst>
          </p:cNvPr>
          <p:cNvSpPr txBox="1"/>
          <p:nvPr/>
        </p:nvSpPr>
        <p:spPr>
          <a:xfrm>
            <a:off x="1764568" y="2121849"/>
            <a:ext cx="10868854" cy="461665"/>
          </a:xfrm>
          <a:prstGeom prst="rect">
            <a:avLst/>
          </a:prstGeom>
          <a:noFill/>
        </p:spPr>
        <p:txBody>
          <a:bodyPr wrap="square" rtlCol="0">
            <a:spAutoFit/>
          </a:bodyPr>
          <a:lstStyle/>
          <a:p>
            <a:r>
              <a:rPr lang="en-US" sz="2400" dirty="0">
                <a:solidFill>
                  <a:schemeClr val="bg1"/>
                </a:solidFill>
              </a:rPr>
              <a:t>Retention Ratio (b) = 1 - (Dividends / Net Income) = 1 - (2,300 / 3,219) = 0.285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7724" y="1328499"/>
            <a:ext cx="9352121" cy="615910"/>
          </a:xfrm>
          <a:prstGeom prst="rect">
            <a:avLst/>
          </a:prstGeom>
          <a:noFill/>
          <a:ln/>
        </p:spPr>
        <p:txBody>
          <a:bodyPr wrap="none" lIns="0" tIns="0" rIns="0" bIns="0" rtlCol="0" anchor="t"/>
          <a:lstStyle/>
          <a:p>
            <a:pPr marL="0" indent="0" algn="l">
              <a:lnSpc>
                <a:spcPts val="4850"/>
              </a:lnSpc>
              <a:buNone/>
            </a:pPr>
            <a:r>
              <a:rPr lang="en-US" sz="3850" dirty="0">
                <a:solidFill>
                  <a:srgbClr val="F98AC7"/>
                </a:solidFill>
                <a:latin typeface="Lora" pitchFamily="34" charset="0"/>
                <a:ea typeface="Lora" pitchFamily="34" charset="-122"/>
                <a:cs typeface="Lora" pitchFamily="34" charset="-120"/>
              </a:rPr>
              <a:t>Conclusion: Key Takeaways for NIKE Inc.</a:t>
            </a:r>
            <a:endParaRPr lang="en-US" sz="3850" dirty="0"/>
          </a:p>
        </p:txBody>
      </p:sp>
      <p:sp>
        <p:nvSpPr>
          <p:cNvPr id="3" name="Shape 1"/>
          <p:cNvSpPr/>
          <p:nvPr/>
        </p:nvSpPr>
        <p:spPr>
          <a:xfrm>
            <a:off x="837724" y="2363272"/>
            <a:ext cx="471249" cy="471249"/>
          </a:xfrm>
          <a:prstGeom prst="roundRect">
            <a:avLst>
              <a:gd name="adj" fmla="val 6667"/>
            </a:avLst>
          </a:prstGeom>
          <a:solidFill>
            <a:srgbClr val="444752"/>
          </a:solidFill>
          <a:ln/>
        </p:spPr>
        <p:txBody>
          <a:bodyPr/>
          <a:lstStyle/>
          <a:p>
            <a:endParaRPr lang="en-US"/>
          </a:p>
        </p:txBody>
      </p:sp>
      <p:sp>
        <p:nvSpPr>
          <p:cNvPr id="4" name="Text 2"/>
          <p:cNvSpPr/>
          <p:nvPr/>
        </p:nvSpPr>
        <p:spPr>
          <a:xfrm>
            <a:off x="925532" y="2414111"/>
            <a:ext cx="295632" cy="369570"/>
          </a:xfrm>
          <a:prstGeom prst="rect">
            <a:avLst/>
          </a:prstGeom>
          <a:noFill/>
          <a:ln/>
        </p:spPr>
        <p:txBody>
          <a:bodyPr wrap="none" lIns="0" tIns="0" rIns="0" bIns="0" rtlCol="0" anchor="t"/>
          <a:lstStyle/>
          <a:p>
            <a:pPr marL="0" indent="0" algn="ctr">
              <a:lnSpc>
                <a:spcPts val="2300"/>
              </a:lnSpc>
              <a:buNone/>
            </a:pPr>
            <a:r>
              <a:rPr lang="en-US" sz="2300" dirty="0">
                <a:solidFill>
                  <a:srgbClr val="D6E5EF"/>
                </a:solidFill>
                <a:latin typeface="Lora" pitchFamily="34" charset="0"/>
                <a:ea typeface="Lora" pitchFamily="34" charset="-122"/>
                <a:cs typeface="Lora" pitchFamily="34" charset="-120"/>
              </a:rPr>
              <a:t>1</a:t>
            </a:r>
            <a:endParaRPr lang="en-US" sz="2300" dirty="0"/>
          </a:p>
        </p:txBody>
      </p:sp>
      <p:sp>
        <p:nvSpPr>
          <p:cNvPr id="5" name="Text 3"/>
          <p:cNvSpPr/>
          <p:nvPr/>
        </p:nvSpPr>
        <p:spPr>
          <a:xfrm>
            <a:off x="1518404" y="2402443"/>
            <a:ext cx="5665827" cy="739378"/>
          </a:xfrm>
          <a:prstGeom prst="rect">
            <a:avLst/>
          </a:prstGeom>
          <a:noFill/>
          <a:ln/>
        </p:spPr>
        <p:txBody>
          <a:bodyPr wrap="square" lIns="0" tIns="0" rIns="0" bIns="0" rtlCol="0" anchor="t"/>
          <a:lstStyle/>
          <a:p>
            <a:pPr marL="0" indent="0" algn="l">
              <a:lnSpc>
                <a:spcPts val="2900"/>
              </a:lnSpc>
              <a:buNone/>
            </a:pPr>
            <a:r>
              <a:rPr lang="en-US" sz="2300" dirty="0">
                <a:solidFill>
                  <a:srgbClr val="D6E5EF"/>
                </a:solidFill>
                <a:latin typeface="Lora" pitchFamily="34" charset="0"/>
                <a:ea typeface="Lora" pitchFamily="34" charset="-122"/>
                <a:cs typeface="Lora" pitchFamily="34" charset="-120"/>
              </a:rPr>
              <a:t>Liquidity Remains Strong but is Declining</a:t>
            </a:r>
            <a:endParaRPr lang="en-US" sz="2300" dirty="0"/>
          </a:p>
        </p:txBody>
      </p:sp>
      <p:sp>
        <p:nvSpPr>
          <p:cNvPr id="6" name="Text 4"/>
          <p:cNvSpPr/>
          <p:nvPr/>
        </p:nvSpPr>
        <p:spPr>
          <a:xfrm>
            <a:off x="1518404" y="3267432"/>
            <a:ext cx="5665827" cy="1340168"/>
          </a:xfrm>
          <a:prstGeom prst="rect">
            <a:avLst/>
          </a:prstGeom>
          <a:noFill/>
          <a:ln/>
        </p:spPr>
        <p:txBody>
          <a:bodyPr wrap="squar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Ratios are high (Current Ratio 2.21, Quick Ratio 1.50) and assure short-term stability. However, the consistent downward trend suggests reduced flexibility, particularly the tightening cash position in 2025.</a:t>
            </a:r>
            <a:endParaRPr lang="en-US" sz="1600" dirty="0"/>
          </a:p>
        </p:txBody>
      </p:sp>
      <p:sp>
        <p:nvSpPr>
          <p:cNvPr id="7" name="Shape 5"/>
          <p:cNvSpPr/>
          <p:nvPr/>
        </p:nvSpPr>
        <p:spPr>
          <a:xfrm>
            <a:off x="7446050" y="2363272"/>
            <a:ext cx="471249" cy="471249"/>
          </a:xfrm>
          <a:prstGeom prst="roundRect">
            <a:avLst>
              <a:gd name="adj" fmla="val 6667"/>
            </a:avLst>
          </a:prstGeom>
          <a:solidFill>
            <a:srgbClr val="444752"/>
          </a:solidFill>
          <a:ln/>
        </p:spPr>
        <p:txBody>
          <a:bodyPr/>
          <a:lstStyle/>
          <a:p>
            <a:endParaRPr lang="en-US"/>
          </a:p>
        </p:txBody>
      </p:sp>
      <p:sp>
        <p:nvSpPr>
          <p:cNvPr id="8" name="Text 6"/>
          <p:cNvSpPr/>
          <p:nvPr/>
        </p:nvSpPr>
        <p:spPr>
          <a:xfrm>
            <a:off x="7533858" y="2414111"/>
            <a:ext cx="295632" cy="369570"/>
          </a:xfrm>
          <a:prstGeom prst="rect">
            <a:avLst/>
          </a:prstGeom>
          <a:noFill/>
          <a:ln/>
        </p:spPr>
        <p:txBody>
          <a:bodyPr wrap="none" lIns="0" tIns="0" rIns="0" bIns="0" rtlCol="0" anchor="t"/>
          <a:lstStyle/>
          <a:p>
            <a:pPr marL="0" indent="0" algn="ctr">
              <a:lnSpc>
                <a:spcPts val="2300"/>
              </a:lnSpc>
              <a:buNone/>
            </a:pPr>
            <a:r>
              <a:rPr lang="en-US" sz="2300" dirty="0">
                <a:solidFill>
                  <a:srgbClr val="D6E5EF"/>
                </a:solidFill>
                <a:latin typeface="Lora" pitchFamily="34" charset="0"/>
                <a:ea typeface="Lora" pitchFamily="34" charset="-122"/>
                <a:cs typeface="Lora" pitchFamily="34" charset="-120"/>
              </a:rPr>
              <a:t>2</a:t>
            </a:r>
            <a:endParaRPr lang="en-US" sz="2300" dirty="0"/>
          </a:p>
        </p:txBody>
      </p:sp>
      <p:sp>
        <p:nvSpPr>
          <p:cNvPr id="9" name="Text 7"/>
          <p:cNvSpPr/>
          <p:nvPr/>
        </p:nvSpPr>
        <p:spPr>
          <a:xfrm>
            <a:off x="8126730" y="2402443"/>
            <a:ext cx="5615583" cy="369689"/>
          </a:xfrm>
          <a:prstGeom prst="rect">
            <a:avLst/>
          </a:prstGeom>
          <a:noFill/>
          <a:ln/>
        </p:spPr>
        <p:txBody>
          <a:bodyPr wrap="none" lIns="0" tIns="0" rIns="0" bIns="0" rtlCol="0" anchor="t"/>
          <a:lstStyle/>
          <a:p>
            <a:pPr marL="0" indent="0" algn="l">
              <a:lnSpc>
                <a:spcPts val="2900"/>
              </a:lnSpc>
              <a:buNone/>
            </a:pPr>
            <a:r>
              <a:rPr lang="en-US" sz="2300" dirty="0">
                <a:solidFill>
                  <a:srgbClr val="D6E5EF"/>
                </a:solidFill>
                <a:latin typeface="Lora" pitchFamily="34" charset="0"/>
                <a:ea typeface="Lora" pitchFamily="34" charset="-122"/>
                <a:cs typeface="Lora" pitchFamily="34" charset="-120"/>
              </a:rPr>
              <a:t>Profitability Sharp Decline is Concerning</a:t>
            </a:r>
            <a:endParaRPr lang="en-US" sz="2300" dirty="0"/>
          </a:p>
        </p:txBody>
      </p:sp>
      <p:sp>
        <p:nvSpPr>
          <p:cNvPr id="10" name="Text 8"/>
          <p:cNvSpPr/>
          <p:nvPr/>
        </p:nvSpPr>
        <p:spPr>
          <a:xfrm>
            <a:off x="8126730" y="2897743"/>
            <a:ext cx="5665946" cy="1340168"/>
          </a:xfrm>
          <a:prstGeom prst="rect">
            <a:avLst/>
          </a:prstGeom>
          <a:noFill/>
          <a:ln/>
        </p:spPr>
        <p:txBody>
          <a:bodyPr wrap="squar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The severe drop in Net Income drove ROA and ROE down dramatically in FY2025. This signals internal efficiency issues or pressure from market dynamics that must be addressed to stabilize earnings.</a:t>
            </a:r>
            <a:endParaRPr lang="en-US" sz="1600" dirty="0"/>
          </a:p>
        </p:txBody>
      </p:sp>
      <p:sp>
        <p:nvSpPr>
          <p:cNvPr id="11" name="Shape 9"/>
          <p:cNvSpPr/>
          <p:nvPr/>
        </p:nvSpPr>
        <p:spPr>
          <a:xfrm>
            <a:off x="837724" y="5026462"/>
            <a:ext cx="471249" cy="471249"/>
          </a:xfrm>
          <a:prstGeom prst="roundRect">
            <a:avLst>
              <a:gd name="adj" fmla="val 6667"/>
            </a:avLst>
          </a:prstGeom>
          <a:solidFill>
            <a:srgbClr val="444752"/>
          </a:solidFill>
          <a:ln/>
        </p:spPr>
        <p:txBody>
          <a:bodyPr/>
          <a:lstStyle/>
          <a:p>
            <a:endParaRPr lang="en-US"/>
          </a:p>
        </p:txBody>
      </p:sp>
      <p:sp>
        <p:nvSpPr>
          <p:cNvPr id="12" name="Text 10"/>
          <p:cNvSpPr/>
          <p:nvPr/>
        </p:nvSpPr>
        <p:spPr>
          <a:xfrm>
            <a:off x="925532" y="5077301"/>
            <a:ext cx="295632" cy="369570"/>
          </a:xfrm>
          <a:prstGeom prst="rect">
            <a:avLst/>
          </a:prstGeom>
          <a:noFill/>
          <a:ln/>
        </p:spPr>
        <p:txBody>
          <a:bodyPr wrap="none" lIns="0" tIns="0" rIns="0" bIns="0" rtlCol="0" anchor="t"/>
          <a:lstStyle/>
          <a:p>
            <a:pPr marL="0" indent="0" algn="ctr">
              <a:lnSpc>
                <a:spcPts val="2300"/>
              </a:lnSpc>
              <a:buNone/>
            </a:pPr>
            <a:r>
              <a:rPr lang="en-US" sz="2300" dirty="0">
                <a:solidFill>
                  <a:srgbClr val="D6E5EF"/>
                </a:solidFill>
                <a:latin typeface="Lora" pitchFamily="34" charset="0"/>
                <a:ea typeface="Lora" pitchFamily="34" charset="-122"/>
                <a:cs typeface="Lora" pitchFamily="34" charset="-120"/>
              </a:rPr>
              <a:t>3</a:t>
            </a:r>
            <a:endParaRPr lang="en-US" sz="2300" dirty="0"/>
          </a:p>
        </p:txBody>
      </p:sp>
      <p:sp>
        <p:nvSpPr>
          <p:cNvPr id="13" name="Text 11"/>
          <p:cNvSpPr/>
          <p:nvPr/>
        </p:nvSpPr>
        <p:spPr>
          <a:xfrm>
            <a:off x="1518404" y="5065633"/>
            <a:ext cx="4833104" cy="369689"/>
          </a:xfrm>
          <a:prstGeom prst="rect">
            <a:avLst/>
          </a:prstGeom>
          <a:noFill/>
          <a:ln/>
        </p:spPr>
        <p:txBody>
          <a:bodyPr wrap="none" lIns="0" tIns="0" rIns="0" bIns="0" rtlCol="0" anchor="t"/>
          <a:lstStyle/>
          <a:p>
            <a:pPr marL="0" indent="0" algn="l">
              <a:lnSpc>
                <a:spcPts val="2900"/>
              </a:lnSpc>
              <a:buNone/>
            </a:pPr>
            <a:r>
              <a:rPr lang="en-US" sz="2300" dirty="0">
                <a:solidFill>
                  <a:srgbClr val="D6E5EF"/>
                </a:solidFill>
                <a:latin typeface="Lora" pitchFamily="34" charset="0"/>
                <a:ea typeface="Lora" pitchFamily="34" charset="-122"/>
                <a:cs typeface="Lora" pitchFamily="34" charset="-120"/>
              </a:rPr>
              <a:t>Growth is Moderate and Leveraged</a:t>
            </a:r>
            <a:endParaRPr lang="en-US" sz="2300" dirty="0"/>
          </a:p>
        </p:txBody>
      </p:sp>
      <p:sp>
        <p:nvSpPr>
          <p:cNvPr id="14" name="Text 12"/>
          <p:cNvSpPr/>
          <p:nvPr/>
        </p:nvSpPr>
        <p:spPr>
          <a:xfrm>
            <a:off x="1518404" y="5560933"/>
            <a:ext cx="5665827" cy="1340168"/>
          </a:xfrm>
          <a:prstGeom prst="rect">
            <a:avLst/>
          </a:prstGeom>
          <a:noFill/>
          <a:ln/>
        </p:spPr>
        <p:txBody>
          <a:bodyPr wrap="squar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The Internal Growth Rate (2.6%) is low, requiring external financing for high growth. The Sustainable Growth Rate (7.5%) is acceptable but depends on maintaining the current level of financial leverage.</a:t>
            </a:r>
            <a:endParaRPr lang="en-US" sz="1600" dirty="0"/>
          </a:p>
        </p:txBody>
      </p:sp>
      <p:sp>
        <p:nvSpPr>
          <p:cNvPr id="15" name="Shape 13"/>
          <p:cNvSpPr/>
          <p:nvPr/>
        </p:nvSpPr>
        <p:spPr>
          <a:xfrm>
            <a:off x="7446050" y="5026462"/>
            <a:ext cx="471249" cy="471249"/>
          </a:xfrm>
          <a:prstGeom prst="roundRect">
            <a:avLst>
              <a:gd name="adj" fmla="val 6667"/>
            </a:avLst>
          </a:prstGeom>
          <a:solidFill>
            <a:srgbClr val="444752"/>
          </a:solidFill>
          <a:ln/>
        </p:spPr>
        <p:txBody>
          <a:bodyPr/>
          <a:lstStyle/>
          <a:p>
            <a:endParaRPr lang="en-US"/>
          </a:p>
        </p:txBody>
      </p:sp>
      <p:sp>
        <p:nvSpPr>
          <p:cNvPr id="16" name="Text 14"/>
          <p:cNvSpPr/>
          <p:nvPr/>
        </p:nvSpPr>
        <p:spPr>
          <a:xfrm>
            <a:off x="7533858" y="5077301"/>
            <a:ext cx="295632" cy="369570"/>
          </a:xfrm>
          <a:prstGeom prst="rect">
            <a:avLst/>
          </a:prstGeom>
          <a:noFill/>
          <a:ln/>
        </p:spPr>
        <p:txBody>
          <a:bodyPr wrap="none" lIns="0" tIns="0" rIns="0" bIns="0" rtlCol="0" anchor="t"/>
          <a:lstStyle/>
          <a:p>
            <a:pPr marL="0" indent="0" algn="ctr">
              <a:lnSpc>
                <a:spcPts val="2300"/>
              </a:lnSpc>
              <a:buNone/>
            </a:pPr>
            <a:r>
              <a:rPr lang="en-US" sz="2300" dirty="0">
                <a:solidFill>
                  <a:srgbClr val="D6E5EF"/>
                </a:solidFill>
                <a:latin typeface="Lora" pitchFamily="34" charset="0"/>
                <a:ea typeface="Lora" pitchFamily="34" charset="-122"/>
                <a:cs typeface="Lora" pitchFamily="34" charset="-120"/>
              </a:rPr>
              <a:t>4</a:t>
            </a:r>
            <a:endParaRPr lang="en-US" sz="2300" dirty="0"/>
          </a:p>
        </p:txBody>
      </p:sp>
      <p:sp>
        <p:nvSpPr>
          <p:cNvPr id="17" name="Text 15"/>
          <p:cNvSpPr/>
          <p:nvPr/>
        </p:nvSpPr>
        <p:spPr>
          <a:xfrm>
            <a:off x="8126730" y="5065633"/>
            <a:ext cx="2957036" cy="369689"/>
          </a:xfrm>
          <a:prstGeom prst="rect">
            <a:avLst/>
          </a:prstGeom>
          <a:noFill/>
          <a:ln/>
        </p:spPr>
        <p:txBody>
          <a:bodyPr wrap="none" lIns="0" tIns="0" rIns="0" bIns="0" rtlCol="0" anchor="t"/>
          <a:lstStyle/>
          <a:p>
            <a:pPr marL="0" indent="0" algn="l">
              <a:lnSpc>
                <a:spcPts val="2900"/>
              </a:lnSpc>
              <a:buNone/>
            </a:pPr>
            <a:r>
              <a:rPr lang="en-US" sz="2300" dirty="0">
                <a:solidFill>
                  <a:srgbClr val="D6E5EF"/>
                </a:solidFill>
                <a:latin typeface="Lora" pitchFamily="34" charset="0"/>
                <a:ea typeface="Lora" pitchFamily="34" charset="-122"/>
                <a:cs typeface="Lora" pitchFamily="34" charset="-120"/>
              </a:rPr>
              <a:t>Strategic Focus</a:t>
            </a:r>
            <a:endParaRPr lang="en-US" sz="2300" dirty="0"/>
          </a:p>
        </p:txBody>
      </p:sp>
      <p:sp>
        <p:nvSpPr>
          <p:cNvPr id="18" name="Text 16"/>
          <p:cNvSpPr/>
          <p:nvPr/>
        </p:nvSpPr>
        <p:spPr>
          <a:xfrm>
            <a:off x="8126730" y="5560933"/>
            <a:ext cx="5665946" cy="1005126"/>
          </a:xfrm>
          <a:prstGeom prst="rect">
            <a:avLst/>
          </a:prstGeom>
          <a:noFill/>
          <a:ln/>
        </p:spPr>
        <p:txBody>
          <a:bodyPr wrap="square" lIns="0" tIns="0" rIns="0" bIns="0" rtlCol="0" anchor="t"/>
          <a:lstStyle/>
          <a:p>
            <a:pPr marL="0" indent="0" algn="l">
              <a:lnSpc>
                <a:spcPts val="2600"/>
              </a:lnSpc>
              <a:buNone/>
            </a:pPr>
            <a:r>
              <a:rPr lang="en-US" sz="1600" dirty="0">
                <a:solidFill>
                  <a:srgbClr val="D6E5EF"/>
                </a:solidFill>
                <a:latin typeface="Source Sans 3" pitchFamily="34" charset="0"/>
                <a:ea typeface="Source Sans 3" pitchFamily="34" charset="-122"/>
                <a:cs typeface="Source Sans 3" pitchFamily="34" charset="-120"/>
              </a:rPr>
              <a:t>Management must prioritize strategies to boost net income and ROA, reducing reliance on financial leverage (Equity Multiplier) to sustain ROE in the long term.</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pic>
        <p:nvPicPr>
          <p:cNvPr id="1028" name="Picture 4" descr="Thank You Power Point Slide Templates ...">
            <a:extLst>
              <a:ext uri="{FF2B5EF4-FFF2-40B4-BE49-F238E27FC236}">
                <a16:creationId xmlns:a16="http://schemas.microsoft.com/office/drawing/2014/main" id="{30CE2E6A-CC1C-C57A-3223-2A632C8CE5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4898" y="2597363"/>
            <a:ext cx="4560603" cy="3034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9683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1371</Words>
  <Application>Microsoft Office PowerPoint</Application>
  <PresentationFormat>Custom</PresentationFormat>
  <Paragraphs>147</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Source Sans 3</vt:lpstr>
      <vt:lpstr>Lora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Mutungi, Vincent</cp:lastModifiedBy>
  <cp:revision>1</cp:revision>
  <dcterms:created xsi:type="dcterms:W3CDTF">2025-10-13T04:50:17Z</dcterms:created>
  <dcterms:modified xsi:type="dcterms:W3CDTF">2025-10-14T15:04:52Z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cb311d3-aea9-4488-bc88-99739ecc7603_Enabled">
    <vt:lpwstr>true</vt:lpwstr>
  </property>
  <property fmtid="{D5CDD505-2E9C-101B-9397-08002B2CF9AE}" pid="3" name="MSIP_Label_8cb311d3-aea9-4488-bc88-99739ecc7603_SetDate">
    <vt:lpwstr>2025-10-14T01:45:29Z</vt:lpwstr>
  </property>
  <property fmtid="{D5CDD505-2E9C-101B-9397-08002B2CF9AE}" pid="4" name="MSIP_Label_8cb311d3-aea9-4488-bc88-99739ecc7603_Method">
    <vt:lpwstr>Standard</vt:lpwstr>
  </property>
  <property fmtid="{D5CDD505-2E9C-101B-9397-08002B2CF9AE}" pid="5" name="MSIP_Label_8cb311d3-aea9-4488-bc88-99739ecc7603_Name">
    <vt:lpwstr>Internal - University</vt:lpwstr>
  </property>
  <property fmtid="{D5CDD505-2E9C-101B-9397-08002B2CF9AE}" pid="6" name="MSIP_Label_8cb311d3-aea9-4488-bc88-99739ecc7603_SiteId">
    <vt:lpwstr>9c36a7d0-bf7b-4991-9b78-be91a52f0226</vt:lpwstr>
  </property>
  <property fmtid="{D5CDD505-2E9C-101B-9397-08002B2CF9AE}" pid="7" name="MSIP_Label_8cb311d3-aea9-4488-bc88-99739ecc7603_ActionId">
    <vt:lpwstr>8632f628-3e95-4830-96a6-903783fc89b3</vt:lpwstr>
  </property>
  <property fmtid="{D5CDD505-2E9C-101B-9397-08002B2CF9AE}" pid="8" name="MSIP_Label_8cb311d3-aea9-4488-bc88-99739ecc7603_ContentBits">
    <vt:lpwstr>0</vt:lpwstr>
  </property>
  <property fmtid="{D5CDD505-2E9C-101B-9397-08002B2CF9AE}" pid="9" name="MSIP_Label_8cb311d3-aea9-4488-bc88-99739ecc7603_Tag">
    <vt:lpwstr>10, 3, 0, 1</vt:lpwstr>
  </property>
</Properties>
</file>