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2"/>
  </p:sldMasterIdLst>
  <p:notesMasterIdLst>
    <p:notesMasterId r:id="rId2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4630400" cy="8229600"/>
  <p:notesSz cx="8229600" cy="14630400"/>
  <p:embeddedFontLst>
    <p:embeddedFont>
      <p:font typeface="Inter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626737-D653-4533-AD6B-8A8A80383A23}" v="6" dt="2025-12-02T16:12:11.4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3" d="100"/>
          <a:sy n="63" d="100"/>
        </p:scale>
        <p:origin x="-102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1.fntdata"/><Relationship Id="rId30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tungi, Vincent" userId="3b6c9b2d-6400-4f2b-bbed-b690b712aa10" providerId="ADAL" clId="{408591DD-4145-495B-9357-D4DDA9FDF927}"/>
    <pc:docChg chg="undo custSel delSld modSld modShowInfo">
      <pc:chgData name="Mutungi, Vincent" userId="3b6c9b2d-6400-4f2b-bbed-b690b712aa10" providerId="ADAL" clId="{408591DD-4145-495B-9357-D4DDA9FDF927}" dt="2025-12-04T19:21:58.272" v="494" actId="20577"/>
      <pc:docMkLst>
        <pc:docMk/>
      </pc:docMkLst>
      <pc:sldChg chg="modSp mod">
        <pc:chgData name="Mutungi, Vincent" userId="3b6c9b2d-6400-4f2b-bbed-b690b712aa10" providerId="ADAL" clId="{408591DD-4145-495B-9357-D4DDA9FDF927}" dt="2025-11-19T20:02:43.441" v="0" actId="113"/>
        <pc:sldMkLst>
          <pc:docMk/>
          <pc:sldMk cId="0" sldId="259"/>
        </pc:sldMkLst>
        <pc:spChg chg="mod">
          <ac:chgData name="Mutungi, Vincent" userId="3b6c9b2d-6400-4f2b-bbed-b690b712aa10" providerId="ADAL" clId="{408591DD-4145-495B-9357-D4DDA9FDF927}" dt="2025-11-19T20:02:43.441" v="0" actId="113"/>
          <ac:spMkLst>
            <pc:docMk/>
            <pc:sldMk cId="0" sldId="259"/>
            <ac:spMk id="25" creationId="{00000000-0000-0000-0000-000000000000}"/>
          </ac:spMkLst>
        </pc:spChg>
      </pc:sldChg>
      <pc:sldChg chg="delSp modSp mod">
        <pc:chgData name="Mutungi, Vincent" userId="3b6c9b2d-6400-4f2b-bbed-b690b712aa10" providerId="ADAL" clId="{408591DD-4145-495B-9357-D4DDA9FDF927}" dt="2025-11-19T21:12:03.534" v="12" actId="21"/>
        <pc:sldMkLst>
          <pc:docMk/>
          <pc:sldMk cId="0" sldId="260"/>
        </pc:sldMkLst>
      </pc:sldChg>
      <pc:sldChg chg="addSp modSp mod">
        <pc:chgData name="Mutungi, Vincent" userId="3b6c9b2d-6400-4f2b-bbed-b690b712aa10" providerId="ADAL" clId="{408591DD-4145-495B-9357-D4DDA9FDF927}" dt="2025-12-04T18:11:37.540" v="474" actId="20577"/>
        <pc:sldMkLst>
          <pc:docMk/>
          <pc:sldMk cId="0" sldId="261"/>
        </pc:sldMkLst>
        <pc:spChg chg="mod">
          <ac:chgData name="Mutungi, Vincent" userId="3b6c9b2d-6400-4f2b-bbed-b690b712aa10" providerId="ADAL" clId="{408591DD-4145-495B-9357-D4DDA9FDF927}" dt="2025-12-04T18:11:37.540" v="474" actId="20577"/>
          <ac:spMkLst>
            <pc:docMk/>
            <pc:sldMk cId="0" sldId="261"/>
            <ac:spMk id="12" creationId="{00000000-0000-0000-0000-000000000000}"/>
          </ac:spMkLst>
        </pc:spChg>
        <pc:spChg chg="add mod">
          <ac:chgData name="Mutungi, Vincent" userId="3b6c9b2d-6400-4f2b-bbed-b690b712aa10" providerId="ADAL" clId="{408591DD-4145-495B-9357-D4DDA9FDF927}" dt="2025-11-19T20:07:30.100" v="11" actId="1076"/>
          <ac:spMkLst>
            <pc:docMk/>
            <pc:sldMk cId="0" sldId="261"/>
            <ac:spMk id="99" creationId="{00000000-0000-0000-0000-000000000000}"/>
          </ac:spMkLst>
        </pc:spChg>
      </pc:sldChg>
      <pc:sldChg chg="addSp modSp mod">
        <pc:chgData name="Mutungi, Vincent" userId="3b6c9b2d-6400-4f2b-bbed-b690b712aa10" providerId="ADAL" clId="{408591DD-4145-495B-9357-D4DDA9FDF927}" dt="2025-12-04T19:13:19.734" v="478" actId="13926"/>
        <pc:sldMkLst>
          <pc:docMk/>
          <pc:sldMk cId="0" sldId="262"/>
        </pc:sldMkLst>
        <pc:spChg chg="mod">
          <ac:chgData name="Mutungi, Vincent" userId="3b6c9b2d-6400-4f2b-bbed-b690b712aa10" providerId="ADAL" clId="{408591DD-4145-495B-9357-D4DDA9FDF927}" dt="2025-11-19T21:12:11.225" v="13" actId="1076"/>
          <ac:spMkLst>
            <pc:docMk/>
            <pc:sldMk cId="0" sldId="262"/>
            <ac:spMk id="3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9:13:19.734" v="478" actId="13926"/>
          <ac:spMkLst>
            <pc:docMk/>
            <pc:sldMk cId="0" sldId="262"/>
            <ac:spMk id="4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9:02:45.464" v="476" actId="6549"/>
          <ac:spMkLst>
            <pc:docMk/>
            <pc:sldMk cId="0" sldId="262"/>
            <ac:spMk id="5" creationId="{00000000-0000-0000-0000-000000000000}"/>
          </ac:spMkLst>
        </pc:spChg>
        <pc:spChg chg="add mod">
          <ac:chgData name="Mutungi, Vincent" userId="3b6c9b2d-6400-4f2b-bbed-b690b712aa10" providerId="ADAL" clId="{408591DD-4145-495B-9357-D4DDA9FDF927}" dt="2025-11-19T21:12:38.536" v="16" actId="255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Mutungi, Vincent" userId="3b6c9b2d-6400-4f2b-bbed-b690b712aa10" providerId="ADAL" clId="{408591DD-4145-495B-9357-D4DDA9FDF927}" dt="2025-11-19T21:14:40.255" v="25" actId="20577"/>
        <pc:sldMkLst>
          <pc:docMk/>
          <pc:sldMk cId="0" sldId="263"/>
        </pc:sldMkLst>
        <pc:spChg chg="mod">
          <ac:chgData name="Mutungi, Vincent" userId="3b6c9b2d-6400-4f2b-bbed-b690b712aa10" providerId="ADAL" clId="{408591DD-4145-495B-9357-D4DDA9FDF927}" dt="2025-11-19T21:14:19.236" v="17" actId="1036"/>
          <ac:spMkLst>
            <pc:docMk/>
            <pc:sldMk cId="0" sldId="263"/>
            <ac:spMk id="4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1-19T21:14:32.355" v="21" actId="20577"/>
          <ac:spMkLst>
            <pc:docMk/>
            <pc:sldMk cId="0" sldId="263"/>
            <ac:spMk id="6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1-19T21:14:40.255" v="25" actId="20577"/>
          <ac:spMkLst>
            <pc:docMk/>
            <pc:sldMk cId="0" sldId="263"/>
            <ac:spMk id="12" creationId="{00000000-0000-0000-0000-000000000000}"/>
          </ac:spMkLst>
        </pc:spChg>
      </pc:sldChg>
      <pc:sldChg chg="addSp modSp mod">
        <pc:chgData name="Mutungi, Vincent" userId="3b6c9b2d-6400-4f2b-bbed-b690b712aa10" providerId="ADAL" clId="{408591DD-4145-495B-9357-D4DDA9FDF927}" dt="2025-12-04T19:21:58.272" v="494" actId="20577"/>
        <pc:sldMkLst>
          <pc:docMk/>
          <pc:sldMk cId="0" sldId="264"/>
        </pc:sldMkLst>
        <pc:spChg chg="mod">
          <ac:chgData name="Mutungi, Vincent" userId="3b6c9b2d-6400-4f2b-bbed-b690b712aa10" providerId="ADAL" clId="{408591DD-4145-495B-9357-D4DDA9FDF927}" dt="2025-11-19T21:17:26.183" v="27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1-19T21:17:38.725" v="28" actId="1076"/>
          <ac:spMkLst>
            <pc:docMk/>
            <pc:sldMk cId="0" sldId="264"/>
            <ac:spMk id="3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1-19T21:17:45.940" v="29" actId="1076"/>
          <ac:spMkLst>
            <pc:docMk/>
            <pc:sldMk cId="0" sldId="264"/>
            <ac:spMk id="4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9:21:00.971" v="490" actId="20577"/>
          <ac:spMkLst>
            <pc:docMk/>
            <pc:sldMk cId="0" sldId="264"/>
            <ac:spMk id="13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9:21:35.688" v="492" actId="20577"/>
          <ac:spMkLst>
            <pc:docMk/>
            <pc:sldMk cId="0" sldId="264"/>
            <ac:spMk id="15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14:07.074" v="134" actId="13926"/>
          <ac:spMkLst>
            <pc:docMk/>
            <pc:sldMk cId="0" sldId="264"/>
            <ac:spMk id="19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14:18.203" v="140" actId="13926"/>
          <ac:spMkLst>
            <pc:docMk/>
            <pc:sldMk cId="0" sldId="264"/>
            <ac:spMk id="20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9:21:58.272" v="494" actId="20577"/>
          <ac:spMkLst>
            <pc:docMk/>
            <pc:sldMk cId="0" sldId="264"/>
            <ac:spMk id="21" creationId="{00000000-0000-0000-0000-000000000000}"/>
          </ac:spMkLst>
        </pc:spChg>
        <pc:graphicFrameChg chg="add mod modGraphic">
          <ac:chgData name="Mutungi, Vincent" userId="3b6c9b2d-6400-4f2b-bbed-b690b712aa10" providerId="ADAL" clId="{408591DD-4145-495B-9357-D4DDA9FDF927}" dt="2025-12-04T19:20:29.995" v="486" actId="20577"/>
          <ac:graphicFrameMkLst>
            <pc:docMk/>
            <pc:sldMk cId="0" sldId="264"/>
            <ac:graphicFrameMk id="22" creationId="{6D1F5A93-816F-06C2-9EDD-22ADD1F8F8F3}"/>
          </ac:graphicFrameMkLst>
        </pc:graphicFrameChg>
      </pc:sldChg>
      <pc:sldChg chg="modSp mod">
        <pc:chgData name="Mutungi, Vincent" userId="3b6c9b2d-6400-4f2b-bbed-b690b712aa10" providerId="ADAL" clId="{408591DD-4145-495B-9357-D4DDA9FDF927}" dt="2025-12-04T15:41:17.882" v="63" actId="20577"/>
        <pc:sldMkLst>
          <pc:docMk/>
          <pc:sldMk cId="0" sldId="267"/>
        </pc:sldMkLst>
        <pc:spChg chg="mod">
          <ac:chgData name="Mutungi, Vincent" userId="3b6c9b2d-6400-4f2b-bbed-b690b712aa10" providerId="ADAL" clId="{408591DD-4145-495B-9357-D4DDA9FDF927}" dt="2025-12-04T15:41:17.882" v="63" actId="20577"/>
          <ac:spMkLst>
            <pc:docMk/>
            <pc:sldMk cId="0" sldId="267"/>
            <ac:spMk id="4" creationId="{00000000-0000-0000-0000-000000000000}"/>
          </ac:spMkLst>
        </pc:spChg>
      </pc:sldChg>
      <pc:sldChg chg="modSp mod">
        <pc:chgData name="Mutungi, Vincent" userId="3b6c9b2d-6400-4f2b-bbed-b690b712aa10" providerId="ADAL" clId="{408591DD-4145-495B-9357-D4DDA9FDF927}" dt="2025-12-04T16:52:16.783" v="469" actId="13926"/>
        <pc:sldMkLst>
          <pc:docMk/>
          <pc:sldMk cId="0" sldId="268"/>
        </pc:sldMkLst>
        <pc:spChg chg="mod">
          <ac:chgData name="Mutungi, Vincent" userId="3b6c9b2d-6400-4f2b-bbed-b690b712aa10" providerId="ADAL" clId="{408591DD-4145-495B-9357-D4DDA9FDF927}" dt="2025-12-04T16:37:20.524" v="451" actId="13926"/>
          <ac:spMkLst>
            <pc:docMk/>
            <pc:sldMk cId="0" sldId="268"/>
            <ac:spMk id="30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52:16.783" v="469" actId="13926"/>
          <ac:spMkLst>
            <pc:docMk/>
            <pc:sldMk cId="0" sldId="268"/>
            <ac:spMk id="34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15:11.726" v="156" actId="13926"/>
          <ac:spMkLst>
            <pc:docMk/>
            <pc:sldMk cId="0" sldId="268"/>
            <ac:spMk id="35" creationId="{00000000-0000-0000-0000-000000000000}"/>
          </ac:spMkLst>
        </pc:spChg>
      </pc:sldChg>
      <pc:sldChg chg="modSp mod">
        <pc:chgData name="Mutungi, Vincent" userId="3b6c9b2d-6400-4f2b-bbed-b690b712aa10" providerId="ADAL" clId="{408591DD-4145-495B-9357-D4DDA9FDF927}" dt="2025-12-02T16:09:56.816" v="40" actId="113"/>
        <pc:sldMkLst>
          <pc:docMk/>
          <pc:sldMk cId="0" sldId="269"/>
        </pc:sldMkLst>
        <pc:spChg chg="mod">
          <ac:chgData name="Mutungi, Vincent" userId="3b6c9b2d-6400-4f2b-bbed-b690b712aa10" providerId="ADAL" clId="{408591DD-4145-495B-9357-D4DDA9FDF927}" dt="2025-12-02T16:09:56.816" v="40" actId="113"/>
          <ac:spMkLst>
            <pc:docMk/>
            <pc:sldMk cId="0" sldId="269"/>
            <ac:spMk id="31" creationId="{00000000-0000-0000-0000-000000000000}"/>
          </ac:spMkLst>
        </pc:spChg>
      </pc:sldChg>
      <pc:sldChg chg="modSp mod">
        <pc:chgData name="Mutungi, Vincent" userId="3b6c9b2d-6400-4f2b-bbed-b690b712aa10" providerId="ADAL" clId="{408591DD-4145-495B-9357-D4DDA9FDF927}" dt="2025-12-04T16:23:15.493" v="319" actId="13926"/>
        <pc:sldMkLst>
          <pc:docMk/>
          <pc:sldMk cId="0" sldId="270"/>
        </pc:sldMkLst>
        <pc:spChg chg="mod">
          <ac:chgData name="Mutungi, Vincent" userId="3b6c9b2d-6400-4f2b-bbed-b690b712aa10" providerId="ADAL" clId="{408591DD-4145-495B-9357-D4DDA9FDF927}" dt="2025-12-04T16:22:24.321" v="287" actId="13926"/>
          <ac:spMkLst>
            <pc:docMk/>
            <pc:sldMk cId="0" sldId="270"/>
            <ac:spMk id="24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23:15.493" v="319" actId="13926"/>
          <ac:spMkLst>
            <pc:docMk/>
            <pc:sldMk cId="0" sldId="270"/>
            <ac:spMk id="25" creationId="{00000000-0000-0000-0000-000000000000}"/>
          </ac:spMkLst>
        </pc:spChg>
      </pc:sldChg>
      <pc:sldChg chg="modSp mod">
        <pc:chgData name="Mutungi, Vincent" userId="3b6c9b2d-6400-4f2b-bbed-b690b712aa10" providerId="ADAL" clId="{408591DD-4145-495B-9357-D4DDA9FDF927}" dt="2025-12-04T16:24:16.389" v="348" actId="13926"/>
        <pc:sldMkLst>
          <pc:docMk/>
          <pc:sldMk cId="0" sldId="271"/>
        </pc:sldMkLst>
        <pc:spChg chg="mod">
          <ac:chgData name="Mutungi, Vincent" userId="3b6c9b2d-6400-4f2b-bbed-b690b712aa10" providerId="ADAL" clId="{408591DD-4145-495B-9357-D4DDA9FDF927}" dt="2025-12-04T16:23:46.754" v="332" actId="13926"/>
          <ac:spMkLst>
            <pc:docMk/>
            <pc:sldMk cId="0" sldId="271"/>
            <ac:spMk id="29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23:50.846" v="333" actId="13926"/>
          <ac:spMkLst>
            <pc:docMk/>
            <pc:sldMk cId="0" sldId="271"/>
            <ac:spMk id="37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24:16.389" v="348" actId="13926"/>
          <ac:spMkLst>
            <pc:docMk/>
            <pc:sldMk cId="0" sldId="271"/>
            <ac:spMk id="38" creationId="{00000000-0000-0000-0000-000000000000}"/>
          </ac:spMkLst>
        </pc:spChg>
      </pc:sldChg>
      <pc:sldChg chg="modSp mod">
        <pc:chgData name="Mutungi, Vincent" userId="3b6c9b2d-6400-4f2b-bbed-b690b712aa10" providerId="ADAL" clId="{408591DD-4145-495B-9357-D4DDA9FDF927}" dt="2025-12-04T16:50:20.123" v="461" actId="13926"/>
        <pc:sldMkLst>
          <pc:docMk/>
          <pc:sldMk cId="0" sldId="272"/>
        </pc:sldMkLst>
        <pc:spChg chg="mod">
          <ac:chgData name="Mutungi, Vincent" userId="3b6c9b2d-6400-4f2b-bbed-b690b712aa10" providerId="ADAL" clId="{408591DD-4145-495B-9357-D4DDA9FDF927}" dt="2025-12-02T16:15:39.685" v="50" actId="14100"/>
          <ac:spMkLst>
            <pc:docMk/>
            <pc:sldMk cId="0" sldId="272"/>
            <ac:spMk id="9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2T16:15:51.195" v="53" actId="14100"/>
          <ac:spMkLst>
            <pc:docMk/>
            <pc:sldMk cId="0" sldId="272"/>
            <ac:spMk id="11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50:20.123" v="461" actId="13926"/>
          <ac:spMkLst>
            <pc:docMk/>
            <pc:sldMk cId="0" sldId="272"/>
            <ac:spMk id="16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15:52.862" v="163" actId="13926"/>
          <ac:spMkLst>
            <pc:docMk/>
            <pc:sldMk cId="0" sldId="272"/>
            <ac:spMk id="17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16:15.588" v="170" actId="13926"/>
          <ac:spMkLst>
            <pc:docMk/>
            <pc:sldMk cId="0" sldId="272"/>
            <ac:spMk id="54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16:52.928" v="189" actId="13926"/>
          <ac:spMkLst>
            <pc:docMk/>
            <pc:sldMk cId="0" sldId="272"/>
            <ac:spMk id="55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16:29.770" v="182" actId="13926"/>
          <ac:spMkLst>
            <pc:docMk/>
            <pc:sldMk cId="0" sldId="272"/>
            <ac:spMk id="63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17:06.270" v="195" actId="20577"/>
          <ac:spMkLst>
            <pc:docMk/>
            <pc:sldMk cId="0" sldId="272"/>
            <ac:spMk id="64" creationId="{00000000-0000-0000-0000-000000000000}"/>
          </ac:spMkLst>
        </pc:spChg>
      </pc:sldChg>
      <pc:sldChg chg="modSp mod">
        <pc:chgData name="Mutungi, Vincent" userId="3b6c9b2d-6400-4f2b-bbed-b690b712aa10" providerId="ADAL" clId="{408591DD-4145-495B-9357-D4DDA9FDF927}" dt="2025-12-04T16:24:53.278" v="355" actId="13926"/>
        <pc:sldMkLst>
          <pc:docMk/>
          <pc:sldMk cId="0" sldId="273"/>
        </pc:sldMkLst>
        <pc:spChg chg="mod">
          <ac:chgData name="Mutungi, Vincent" userId="3b6c9b2d-6400-4f2b-bbed-b690b712aa10" providerId="ADAL" clId="{408591DD-4145-495B-9357-D4DDA9FDF927}" dt="2025-12-04T16:17:26.803" v="202" actId="13926"/>
          <ac:spMkLst>
            <pc:docMk/>
            <pc:sldMk cId="0" sldId="273"/>
            <ac:spMk id="29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17:54.731" v="220" actId="13926"/>
          <ac:spMkLst>
            <pc:docMk/>
            <pc:sldMk cId="0" sldId="273"/>
            <ac:spMk id="31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17:37.829" v="213" actId="13926"/>
          <ac:spMkLst>
            <pc:docMk/>
            <pc:sldMk cId="0" sldId="273"/>
            <ac:spMk id="34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18:06.926" v="227" actId="13926"/>
          <ac:spMkLst>
            <pc:docMk/>
            <pc:sldMk cId="0" sldId="273"/>
            <ac:spMk id="36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24:53.278" v="355" actId="13926"/>
          <ac:spMkLst>
            <pc:docMk/>
            <pc:sldMk cId="0" sldId="273"/>
            <ac:spMk id="37" creationId="{00000000-0000-0000-0000-000000000000}"/>
          </ac:spMkLst>
        </pc:spChg>
      </pc:sldChg>
      <pc:sldChg chg="modSp mod">
        <pc:chgData name="Mutungi, Vincent" userId="3b6c9b2d-6400-4f2b-bbed-b690b712aa10" providerId="ADAL" clId="{408591DD-4145-495B-9357-D4DDA9FDF927}" dt="2025-12-02T16:18:38.576" v="55" actId="113"/>
        <pc:sldMkLst>
          <pc:docMk/>
          <pc:sldMk cId="0" sldId="274"/>
        </pc:sldMkLst>
        <pc:spChg chg="mod">
          <ac:chgData name="Mutungi, Vincent" userId="3b6c9b2d-6400-4f2b-bbed-b690b712aa10" providerId="ADAL" clId="{408591DD-4145-495B-9357-D4DDA9FDF927}" dt="2025-12-02T16:16:45.289" v="54" actId="113"/>
          <ac:spMkLst>
            <pc:docMk/>
            <pc:sldMk cId="0" sldId="274"/>
            <ac:spMk id="3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2T16:18:38.576" v="55" actId="113"/>
          <ac:spMkLst>
            <pc:docMk/>
            <pc:sldMk cId="0" sldId="274"/>
            <ac:spMk id="41" creationId="{00000000-0000-0000-0000-000000000000}"/>
          </ac:spMkLst>
        </pc:spChg>
      </pc:sldChg>
      <pc:sldChg chg="modSp mod">
        <pc:chgData name="Mutungi, Vincent" userId="3b6c9b2d-6400-4f2b-bbed-b690b712aa10" providerId="ADAL" clId="{408591DD-4145-495B-9357-D4DDA9FDF927}" dt="2025-12-04T16:20:02.481" v="266" actId="13926"/>
        <pc:sldMkLst>
          <pc:docMk/>
          <pc:sldMk cId="0" sldId="275"/>
        </pc:sldMkLst>
        <pc:spChg chg="mod">
          <ac:chgData name="Mutungi, Vincent" userId="3b6c9b2d-6400-4f2b-bbed-b690b712aa10" providerId="ADAL" clId="{408591DD-4145-495B-9357-D4DDA9FDF927}" dt="2025-12-04T16:19:02.171" v="234" actId="13926"/>
          <ac:spMkLst>
            <pc:docMk/>
            <pc:sldMk cId="0" sldId="275"/>
            <ac:spMk id="44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19:37.731" v="248" actId="13926"/>
          <ac:spMkLst>
            <pc:docMk/>
            <pc:sldMk cId="0" sldId="275"/>
            <ac:spMk id="48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19:10.899" v="241" actId="13926"/>
          <ac:spMkLst>
            <pc:docMk/>
            <pc:sldMk cId="0" sldId="275"/>
            <ac:spMk id="51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20:02.481" v="266" actId="13926"/>
          <ac:spMkLst>
            <pc:docMk/>
            <pc:sldMk cId="0" sldId="275"/>
            <ac:spMk id="54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19:49.885" v="259" actId="13926"/>
          <ac:spMkLst>
            <pc:docMk/>
            <pc:sldMk cId="0" sldId="275"/>
            <ac:spMk id="55" creationId="{00000000-0000-0000-0000-000000000000}"/>
          </ac:spMkLst>
        </pc:spChg>
      </pc:sldChg>
      <pc:sldChg chg="delSp modSp mod">
        <pc:chgData name="Mutungi, Vincent" userId="3b6c9b2d-6400-4f2b-bbed-b690b712aa10" providerId="ADAL" clId="{408591DD-4145-495B-9357-D4DDA9FDF927}" dt="2025-12-04T16:36:40.649" v="450" actId="13926"/>
        <pc:sldMkLst>
          <pc:docMk/>
          <pc:sldMk cId="0" sldId="276"/>
        </pc:sldMkLst>
        <pc:spChg chg="mod">
          <ac:chgData name="Mutungi, Vincent" userId="3b6c9b2d-6400-4f2b-bbed-b690b712aa10" providerId="ADAL" clId="{408591DD-4145-495B-9357-D4DDA9FDF927}" dt="2025-12-02T16:12:57.026" v="49" actId="20577"/>
          <ac:spMkLst>
            <pc:docMk/>
            <pc:sldMk cId="0" sldId="276"/>
            <ac:spMk id="2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25:57.137" v="362" actId="13926"/>
          <ac:spMkLst>
            <pc:docMk/>
            <pc:sldMk cId="0" sldId="276"/>
            <ac:spMk id="38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27:10.192" v="382" actId="13926"/>
          <ac:spMkLst>
            <pc:docMk/>
            <pc:sldMk cId="0" sldId="276"/>
            <ac:spMk id="39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30:29.113" v="422" actId="1076"/>
          <ac:spMkLst>
            <pc:docMk/>
            <pc:sldMk cId="0" sldId="276"/>
            <ac:spMk id="40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26:11.820" v="373" actId="13926"/>
          <ac:spMkLst>
            <pc:docMk/>
            <pc:sldMk cId="0" sldId="276"/>
            <ac:spMk id="44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27:50.927" v="395" actId="13926"/>
          <ac:spMkLst>
            <pc:docMk/>
            <pc:sldMk cId="0" sldId="276"/>
            <ac:spMk id="45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28:42.795" v="405" actId="13926"/>
          <ac:spMkLst>
            <pc:docMk/>
            <pc:sldMk cId="0" sldId="276"/>
            <ac:spMk id="49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32:46.796" v="426" actId="13926"/>
          <ac:spMkLst>
            <pc:docMk/>
            <pc:sldMk cId="0" sldId="276"/>
            <ac:spMk id="53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5:37:38.818" v="60" actId="113"/>
          <ac:spMkLst>
            <pc:docMk/>
            <pc:sldMk cId="0" sldId="276"/>
            <ac:spMk id="54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36:40.649" v="450" actId="13926"/>
          <ac:spMkLst>
            <pc:docMk/>
            <pc:sldMk cId="0" sldId="276"/>
            <ac:spMk id="62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34:56.626" v="431" actId="13926"/>
          <ac:spMkLst>
            <pc:docMk/>
            <pc:sldMk cId="0" sldId="276"/>
            <ac:spMk id="63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35:01.034" v="432" actId="13926"/>
          <ac:spMkLst>
            <pc:docMk/>
            <pc:sldMk cId="0" sldId="276"/>
            <ac:spMk id="64" creationId="{00000000-0000-0000-0000-000000000000}"/>
          </ac:spMkLst>
        </pc:spChg>
        <pc:picChg chg="del">
          <ac:chgData name="Mutungi, Vincent" userId="3b6c9b2d-6400-4f2b-bbed-b690b712aa10" providerId="ADAL" clId="{408591DD-4145-495B-9357-D4DDA9FDF927}" dt="2025-12-04T16:28:14.513" v="396" actId="478"/>
          <ac:picMkLst>
            <pc:docMk/>
            <pc:sldMk cId="0" sldId="276"/>
            <ac:picMk id="47" creationId="{00000000-0000-0000-0000-000000000000}"/>
          </ac:picMkLst>
        </pc:picChg>
        <pc:picChg chg="del">
          <ac:chgData name="Mutungi, Vincent" userId="3b6c9b2d-6400-4f2b-bbed-b690b712aa10" providerId="ADAL" clId="{408591DD-4145-495B-9357-D4DDA9FDF927}" dt="2025-12-04T16:28:16.055" v="397" actId="478"/>
          <ac:picMkLst>
            <pc:docMk/>
            <pc:sldMk cId="0" sldId="276"/>
            <ac:picMk id="48" creationId="{00000000-0000-0000-0000-000000000000}"/>
          </ac:picMkLst>
        </pc:picChg>
      </pc:sldChg>
      <pc:sldChg chg="modSp mod">
        <pc:chgData name="Mutungi, Vincent" userId="3b6c9b2d-6400-4f2b-bbed-b690b712aa10" providerId="ADAL" clId="{408591DD-4145-495B-9357-D4DDA9FDF927}" dt="2025-12-04T16:51:38.630" v="463" actId="20577"/>
        <pc:sldMkLst>
          <pc:docMk/>
          <pc:sldMk cId="0" sldId="277"/>
        </pc:sldMkLst>
        <pc:spChg chg="mod">
          <ac:chgData name="Mutungi, Vincent" userId="3b6c9b2d-6400-4f2b-bbed-b690b712aa10" providerId="ADAL" clId="{408591DD-4145-495B-9357-D4DDA9FDF927}" dt="2025-12-04T16:29:35.284" v="420" actId="13926"/>
          <ac:spMkLst>
            <pc:docMk/>
            <pc:sldMk cId="0" sldId="277"/>
            <ac:spMk id="7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51:38.630" v="463" actId="20577"/>
          <ac:spMkLst>
            <pc:docMk/>
            <pc:sldMk cId="0" sldId="277"/>
            <ac:spMk id="8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35:13.347" v="435" actId="13926"/>
          <ac:spMkLst>
            <pc:docMk/>
            <pc:sldMk cId="0" sldId="277"/>
            <ac:spMk id="11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35:31.825" v="438" actId="13926"/>
          <ac:spMkLst>
            <pc:docMk/>
            <pc:sldMk cId="0" sldId="277"/>
            <ac:spMk id="12" creationId="{00000000-0000-0000-0000-000000000000}"/>
          </ac:spMkLst>
        </pc:spChg>
      </pc:sldChg>
      <pc:sldChg chg="modSp mod">
        <pc:chgData name="Mutungi, Vincent" userId="3b6c9b2d-6400-4f2b-bbed-b690b712aa10" providerId="ADAL" clId="{408591DD-4145-495B-9357-D4DDA9FDF927}" dt="2025-12-04T16:36:00.492" v="447" actId="13926"/>
        <pc:sldMkLst>
          <pc:docMk/>
          <pc:sldMk cId="0" sldId="278"/>
        </pc:sldMkLst>
        <pc:spChg chg="mod">
          <ac:chgData name="Mutungi, Vincent" userId="3b6c9b2d-6400-4f2b-bbed-b690b712aa10" providerId="ADAL" clId="{408591DD-4145-495B-9357-D4DDA9FDF927}" dt="2025-12-04T16:35:43.300" v="441" actId="13926"/>
          <ac:spMkLst>
            <pc:docMk/>
            <pc:sldMk cId="0" sldId="278"/>
            <ac:spMk id="10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35:50.603" v="444" actId="13926"/>
          <ac:spMkLst>
            <pc:docMk/>
            <pc:sldMk cId="0" sldId="278"/>
            <ac:spMk id="14" creationId="{00000000-0000-0000-0000-000000000000}"/>
          </ac:spMkLst>
        </pc:spChg>
        <pc:spChg chg="mod">
          <ac:chgData name="Mutungi, Vincent" userId="3b6c9b2d-6400-4f2b-bbed-b690b712aa10" providerId="ADAL" clId="{408591DD-4145-495B-9357-D4DDA9FDF927}" dt="2025-12-04T16:36:00.492" v="447" actId="13926"/>
          <ac:spMkLst>
            <pc:docMk/>
            <pc:sldMk cId="0" sldId="278"/>
            <ac:spMk id="2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91095" y="3145036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NIKE, Inc. (NKE)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3844409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Weighted Average Cost of Capital (WACC) Report (Part 1)</a:t>
            </a:r>
            <a:endParaRPr lang="en-US" sz="3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42160"/>
            <a:ext cx="1048833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Executive Summary: Final Estimated WACC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05907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comprehensive analysis concludes with a final estimated WACC of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10.06%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NIKE, Inc. This figure reflects the company's capital structure and current market conditions.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917394"/>
            <a:ext cx="4215289" cy="2269927"/>
          </a:xfrm>
          <a:prstGeom prst="roundRect">
            <a:avLst>
              <a:gd name="adj" fmla="val 3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99768" y="4123372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3479" y="4286964"/>
            <a:ext cx="267891" cy="2678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9768" y="491704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Detailed Calculation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999768" y="5346263"/>
            <a:ext cx="380333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Step-by-step methodology for transparency.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207437" y="3917394"/>
            <a:ext cx="4215408" cy="2269927"/>
          </a:xfrm>
          <a:prstGeom prst="roundRect">
            <a:avLst>
              <a:gd name="adj" fmla="val 3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413415" y="4123372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77126" y="4286964"/>
            <a:ext cx="267891" cy="2678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415" y="4917043"/>
            <a:ext cx="269902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Market-Value Weights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5413415" y="5346263"/>
            <a:ext cx="380345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Utilizing current market data for accuracy.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9621203" y="3917394"/>
            <a:ext cx="4215289" cy="2269927"/>
          </a:xfrm>
          <a:prstGeom prst="roundRect">
            <a:avLst>
              <a:gd name="adj" fmla="val 367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827181" y="4123372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90892" y="4286964"/>
            <a:ext cx="267891" cy="2678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27181" y="491704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 of May 31, 2025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9827181" y="5346263"/>
            <a:ext cx="380333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Timely and relevant financial snapshot.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4999"/>
            <a:ext cx="654796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Capital Structure Overview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961912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Nike maintains a conservative capital structure, predominantly financed by common equity with minimal long-term debt. All market values are rounded to the precision shown.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018592"/>
            <a:ext cx="262056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Equity (Market Value)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3527108"/>
            <a:ext cx="6279356" cy="85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00"/>
              </a:lnSpc>
              <a:buNone/>
            </a:pPr>
            <a:r>
              <a:rPr lang="en-US" sz="5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$176.75 billion</a:t>
            </a:r>
            <a:endParaRPr lang="en-US" sz="5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5527" y="4606171"/>
            <a:ext cx="1335762" cy="13357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64874" y="301859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Debt (Fair Value)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7564874" y="3527108"/>
            <a:ext cx="6279356" cy="85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700"/>
              </a:lnSpc>
              <a:buNone/>
            </a:pPr>
            <a:r>
              <a:rPr lang="en-US" sz="5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$6.673 billion</a:t>
            </a:r>
            <a:endParaRPr lang="en-US" sz="53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7800" y="4606171"/>
            <a:ext cx="1373505" cy="13735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3790" y="642616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Preferred Stock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Immaterial (~$0.3 million)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793790" y="696694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Firm Value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(E + D + Pref): $183.423 billion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007" y="2243376"/>
            <a:ext cx="4990267" cy="374273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824984"/>
            <a:ext cx="678191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Cost of Equity (Ke) — CAPM</a:t>
            </a:r>
            <a:endParaRPr lang="en-US" sz="3900" dirty="0"/>
          </a:p>
        </p:txBody>
      </p:sp>
      <p:sp>
        <p:nvSpPr>
          <p:cNvPr id="5" name="Text 1"/>
          <p:cNvSpPr/>
          <p:nvPr/>
        </p:nvSpPr>
        <p:spPr>
          <a:xfrm>
            <a:off x="6280190" y="1742718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Cost of Equity is estimated using the Capital Asset Pricing Model (CAPM), suitable for a mature, publicly-listed firm with reliable market data.</a:t>
            </a:r>
            <a:endParaRPr lang="en-US" sz="1550" dirty="0"/>
          </a:p>
        </p:txBody>
      </p:sp>
      <p:sp>
        <p:nvSpPr>
          <p:cNvPr id="6" name="Shape 2"/>
          <p:cNvSpPr/>
          <p:nvPr/>
        </p:nvSpPr>
        <p:spPr>
          <a:xfrm>
            <a:off x="6280190" y="2898696"/>
            <a:ext cx="3679031" cy="1464112"/>
          </a:xfrm>
          <a:prstGeom prst="roundRect">
            <a:avLst>
              <a:gd name="adj" fmla="val 749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6280190" y="2875836"/>
            <a:ext cx="3679031" cy="91440"/>
          </a:xfrm>
          <a:prstGeom prst="roundRect">
            <a:avLst>
              <a:gd name="adj" fmla="val 9116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4"/>
          <p:cNvSpPr/>
          <p:nvPr/>
        </p:nvSpPr>
        <p:spPr>
          <a:xfrm>
            <a:off x="7822049" y="2601039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000643" y="2749868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501408" y="339482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Risk-Free Rate (Rf)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6501408" y="3824049"/>
            <a:ext cx="32365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4.40% (Source: Bloomberg)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10157579" y="2898696"/>
            <a:ext cx="3679031" cy="1464112"/>
          </a:xfrm>
          <a:prstGeom prst="roundRect">
            <a:avLst>
              <a:gd name="adj" fmla="val 749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10157579" y="2875836"/>
            <a:ext cx="3679031" cy="91440"/>
          </a:xfrm>
          <a:prstGeom prst="roundRect">
            <a:avLst>
              <a:gd name="adj" fmla="val 9116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11699438" y="2601039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11878032" y="2749868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850" dirty="0"/>
          </a:p>
        </p:txBody>
      </p:sp>
      <p:sp>
        <p:nvSpPr>
          <p:cNvPr id="16" name="Text 12"/>
          <p:cNvSpPr/>
          <p:nvPr/>
        </p:nvSpPr>
        <p:spPr>
          <a:xfrm>
            <a:off x="10378797" y="339482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Beta (β)</a:t>
            </a:r>
            <a:endParaRPr lang="en-US" sz="1950" dirty="0"/>
          </a:p>
        </p:txBody>
      </p:sp>
      <p:sp>
        <p:nvSpPr>
          <p:cNvPr id="17" name="Text 13"/>
          <p:cNvSpPr/>
          <p:nvPr/>
        </p:nvSpPr>
        <p:spPr>
          <a:xfrm>
            <a:off x="10378797" y="3824049"/>
            <a:ext cx="323659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1.26 (Source: Mini Case Study 3)</a:t>
            </a:r>
            <a:endParaRPr lang="en-US" sz="1550" dirty="0"/>
          </a:p>
        </p:txBody>
      </p:sp>
      <p:sp>
        <p:nvSpPr>
          <p:cNvPr id="18" name="Shape 14"/>
          <p:cNvSpPr/>
          <p:nvPr/>
        </p:nvSpPr>
        <p:spPr>
          <a:xfrm>
            <a:off x="6280190" y="4858822"/>
            <a:ext cx="7556421" cy="1464112"/>
          </a:xfrm>
          <a:prstGeom prst="roundRect">
            <a:avLst>
              <a:gd name="adj" fmla="val 749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280190" y="4835962"/>
            <a:ext cx="7556421" cy="91440"/>
          </a:xfrm>
          <a:prstGeom prst="roundRect">
            <a:avLst>
              <a:gd name="adj" fmla="val 9116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9760744" y="4561165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9939338" y="4709993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850" dirty="0"/>
          </a:p>
        </p:txBody>
      </p:sp>
      <p:sp>
        <p:nvSpPr>
          <p:cNvPr id="22" name="Text 18"/>
          <p:cNvSpPr/>
          <p:nvPr/>
        </p:nvSpPr>
        <p:spPr>
          <a:xfrm>
            <a:off x="6501408" y="5354955"/>
            <a:ext cx="336958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Market Risk Premium (MRP)</a:t>
            </a:r>
            <a:endParaRPr lang="en-US" sz="1950" dirty="0"/>
          </a:p>
        </p:txBody>
      </p:sp>
      <p:sp>
        <p:nvSpPr>
          <p:cNvPr id="23" name="Text 19"/>
          <p:cNvSpPr/>
          <p:nvPr/>
        </p:nvSpPr>
        <p:spPr>
          <a:xfrm>
            <a:off x="6501408" y="5784175"/>
            <a:ext cx="711398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4.67% (Source: Bloomberg)</a:t>
            </a:r>
            <a:endParaRPr lang="en-US" sz="1550" dirty="0"/>
          </a:p>
        </p:txBody>
      </p:sp>
      <p:sp>
        <p:nvSpPr>
          <p:cNvPr id="24" name="Text 20"/>
          <p:cNvSpPr/>
          <p:nvPr/>
        </p:nvSpPr>
        <p:spPr>
          <a:xfrm>
            <a:off x="6280190" y="6546175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Formula: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 = Rf + β × MRP</a:t>
            </a:r>
            <a:endParaRPr lang="en-US" sz="1550" dirty="0"/>
          </a:p>
        </p:txBody>
      </p:sp>
      <p:sp>
        <p:nvSpPr>
          <p:cNvPr id="25" name="Text 21"/>
          <p:cNvSpPr/>
          <p:nvPr/>
        </p:nvSpPr>
        <p:spPr>
          <a:xfrm>
            <a:off x="6280190" y="7086957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Calculation: Ke = 4.40% + 1.26 × 4.67% =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10.28%</a:t>
            </a:r>
            <a:endParaRPr lang="en-US" sz="155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70033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Cost of Debt (Kd) — Bond-level Value-weighted YTM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3707844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pre-tax cost of debt is a value-weighted average of each outstanding bond's Yield to Maturity (YTM). The after-tax cost incorporates the company's effective tax rate.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526" y="404574"/>
            <a:ext cx="6360081" cy="45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Bond-Level Inputs and Calculations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588526" y="1158478"/>
            <a:ext cx="13453348" cy="4756785"/>
          </a:xfrm>
          <a:prstGeom prst="roundRect">
            <a:avLst>
              <a:gd name="adj" fmla="val 129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96146" y="1166098"/>
            <a:ext cx="13438108" cy="8978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3664" y="1261943"/>
            <a:ext cx="139124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Maturity Date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436614" y="1261943"/>
            <a:ext cx="134302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CUSIP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81343" y="1261943"/>
            <a:ext cx="1141452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Coupon Rate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524500" y="1261943"/>
            <a:ext cx="1382078" cy="70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Amount Outstanding ($ Millions)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208282" y="1261943"/>
            <a:ext cx="1308140" cy="470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Carrying Value ($ Millions)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818126" y="1261943"/>
            <a:ext cx="104203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YTM (%)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161865" y="1261943"/>
            <a:ext cx="1267778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 (%)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731347" y="1261943"/>
            <a:ext cx="215586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Contribution</a:t>
            </a:r>
          </a:p>
          <a:p>
            <a:pPr marL="0" indent="0" algn="l">
              <a:lnSpc>
                <a:spcPts val="1850"/>
              </a:lnSpc>
              <a:buNone/>
            </a:pP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6146" y="2063948"/>
            <a:ext cx="13438108" cy="42707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3664" y="2159794"/>
            <a:ext cx="139124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03/27/2030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436614" y="2159794"/>
            <a:ext cx="134302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654106AK9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081343" y="2159794"/>
            <a:ext cx="1141452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2.850%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524500" y="2159794"/>
            <a:ext cx="1382078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208282" y="2159794"/>
            <a:ext cx="1308140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1495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818126" y="2159794"/>
            <a:ext cx="104203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4.3869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161865" y="2159794"/>
            <a:ext cx="1267778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18.7790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731347" y="2159794"/>
            <a:ext cx="215586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0.8238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6146" y="2491026"/>
            <a:ext cx="13438108" cy="42707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3664" y="2586871"/>
            <a:ext cx="139124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03/27/2040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436614" y="2586871"/>
            <a:ext cx="134302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654106AL7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081343" y="2586871"/>
            <a:ext cx="1141452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3.250%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524500" y="2586871"/>
            <a:ext cx="1382078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1000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208282" y="2586871"/>
            <a:ext cx="1308140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993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818126" y="2586871"/>
            <a:ext cx="104203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5.5068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161865" y="2586871"/>
            <a:ext cx="1267778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12.4733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731347" y="2586871"/>
            <a:ext cx="215586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0.6869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96146" y="2918103"/>
            <a:ext cx="13438108" cy="42707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43664" y="3013948"/>
            <a:ext cx="139124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03/27/2050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436614" y="3013948"/>
            <a:ext cx="134302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654106AM5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081343" y="3013948"/>
            <a:ext cx="1141452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3.375%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524500" y="3013948"/>
            <a:ext cx="1382078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1500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208282" y="3013948"/>
            <a:ext cx="1308140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1483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818126" y="3013948"/>
            <a:ext cx="104203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5.7744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0161865" y="3013948"/>
            <a:ext cx="1267778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18.6283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1731347" y="3013948"/>
            <a:ext cx="215586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1.0757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96146" y="3345180"/>
            <a:ext cx="13438108" cy="42707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43664" y="3441025"/>
            <a:ext cx="139124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11/01/2026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2436614" y="3441025"/>
            <a:ext cx="134302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654106AF0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081343" y="3441025"/>
            <a:ext cx="1141452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2.375%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524500" y="3441025"/>
            <a:ext cx="1382078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1000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7208282" y="3441025"/>
            <a:ext cx="1308140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999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818126" y="3441025"/>
            <a:ext cx="104203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4.2006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10161865" y="3441025"/>
            <a:ext cx="1267778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12.5487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11731347" y="3441025"/>
            <a:ext cx="215586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0.5271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96146" y="3772257"/>
            <a:ext cx="13438108" cy="42707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43664" y="3868103"/>
            <a:ext cx="139124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11/01/2045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2436614" y="3868103"/>
            <a:ext cx="134302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654106AE3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081343" y="3868103"/>
            <a:ext cx="1141452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3.875%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5524500" y="3868103"/>
            <a:ext cx="1382078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1000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7208282" y="3868103"/>
            <a:ext cx="1308140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997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8818126" y="3868103"/>
            <a:ext cx="104203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5.7776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10161865" y="3868103"/>
            <a:ext cx="1267778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12.5236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11731347" y="3868103"/>
            <a:ext cx="215586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0.7236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596146" y="4199334"/>
            <a:ext cx="13438108" cy="42707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43664" y="4295180"/>
            <a:ext cx="139124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03/27/2027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2436614" y="4295180"/>
            <a:ext cx="134302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654106AJ2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4081343" y="4295180"/>
            <a:ext cx="1141452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2.750%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5524500" y="4295180"/>
            <a:ext cx="1382078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1000</a:t>
            </a:r>
            <a:endParaRPr lang="en-US" sz="1150" dirty="0"/>
          </a:p>
        </p:txBody>
      </p:sp>
      <p:sp>
        <p:nvSpPr>
          <p:cNvPr id="63" name="Text 61"/>
          <p:cNvSpPr/>
          <p:nvPr/>
        </p:nvSpPr>
        <p:spPr>
          <a:xfrm>
            <a:off x="7208282" y="4295180"/>
            <a:ext cx="1308140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999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8818126" y="4295180"/>
            <a:ext cx="104203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4.2224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10161865" y="4295180"/>
            <a:ext cx="1267778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12.5487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11731347" y="4295180"/>
            <a:ext cx="215586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0.5299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596146" y="4626412"/>
            <a:ext cx="13438108" cy="42707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43664" y="4722257"/>
            <a:ext cx="139124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11/01/2046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2436614" y="4722257"/>
            <a:ext cx="134302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654106AG8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4081343" y="4722257"/>
            <a:ext cx="1141452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3.375%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5524500" y="4722257"/>
            <a:ext cx="1382078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7208282" y="4722257"/>
            <a:ext cx="1308140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493</a:t>
            </a:r>
            <a:endParaRPr lang="en-US" sz="1150" dirty="0"/>
          </a:p>
        </p:txBody>
      </p:sp>
      <p:sp>
        <p:nvSpPr>
          <p:cNvPr id="73" name="Text 71"/>
          <p:cNvSpPr/>
          <p:nvPr/>
        </p:nvSpPr>
        <p:spPr>
          <a:xfrm>
            <a:off x="8818126" y="4722257"/>
            <a:ext cx="104203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5.8256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10161865" y="4722257"/>
            <a:ext cx="1267778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6.1927</a:t>
            </a:r>
            <a:endParaRPr lang="en-US" sz="1150" dirty="0"/>
          </a:p>
        </p:txBody>
      </p:sp>
      <p:sp>
        <p:nvSpPr>
          <p:cNvPr id="75" name="Text 73"/>
          <p:cNvSpPr/>
          <p:nvPr/>
        </p:nvSpPr>
        <p:spPr>
          <a:xfrm>
            <a:off x="11731347" y="4722257"/>
            <a:ext cx="215586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0.3608</a:t>
            </a:r>
            <a:endParaRPr lang="en-US" sz="1150" dirty="0"/>
          </a:p>
        </p:txBody>
      </p:sp>
      <p:sp>
        <p:nvSpPr>
          <p:cNvPr id="76" name="Shape 74"/>
          <p:cNvSpPr/>
          <p:nvPr/>
        </p:nvSpPr>
        <p:spPr>
          <a:xfrm>
            <a:off x="596146" y="5053489"/>
            <a:ext cx="13438108" cy="42707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743664" y="5149334"/>
            <a:ext cx="139124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05/01/2043</a:t>
            </a:r>
            <a:endParaRPr lang="en-US" sz="1150" dirty="0"/>
          </a:p>
        </p:txBody>
      </p:sp>
      <p:sp>
        <p:nvSpPr>
          <p:cNvPr id="78" name="Text 76"/>
          <p:cNvSpPr/>
          <p:nvPr/>
        </p:nvSpPr>
        <p:spPr>
          <a:xfrm>
            <a:off x="2436614" y="5149334"/>
            <a:ext cx="134302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654106AD5</a:t>
            </a:r>
            <a:endParaRPr lang="en-US" sz="1150" dirty="0"/>
          </a:p>
        </p:txBody>
      </p:sp>
      <p:sp>
        <p:nvSpPr>
          <p:cNvPr id="79" name="Text 77"/>
          <p:cNvSpPr/>
          <p:nvPr/>
        </p:nvSpPr>
        <p:spPr>
          <a:xfrm>
            <a:off x="4081343" y="5149334"/>
            <a:ext cx="1141452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3.625%</a:t>
            </a:r>
            <a:endParaRPr lang="en-US" sz="1150" dirty="0"/>
          </a:p>
        </p:txBody>
      </p:sp>
      <p:sp>
        <p:nvSpPr>
          <p:cNvPr id="80" name="Text 78"/>
          <p:cNvSpPr/>
          <p:nvPr/>
        </p:nvSpPr>
        <p:spPr>
          <a:xfrm>
            <a:off x="5524500" y="5149334"/>
            <a:ext cx="1382078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</a:t>
            </a:r>
            <a:endParaRPr lang="en-US" sz="1150" dirty="0"/>
          </a:p>
        </p:txBody>
      </p:sp>
      <p:sp>
        <p:nvSpPr>
          <p:cNvPr id="81" name="Text 79"/>
          <p:cNvSpPr/>
          <p:nvPr/>
        </p:nvSpPr>
        <p:spPr>
          <a:xfrm>
            <a:off x="7208282" y="5149334"/>
            <a:ext cx="1308140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502</a:t>
            </a:r>
            <a:endParaRPr lang="en-US" sz="1150" dirty="0"/>
          </a:p>
        </p:txBody>
      </p:sp>
      <p:sp>
        <p:nvSpPr>
          <p:cNvPr id="82" name="Text 80"/>
          <p:cNvSpPr/>
          <p:nvPr/>
        </p:nvSpPr>
        <p:spPr>
          <a:xfrm>
            <a:off x="8818126" y="5149334"/>
            <a:ext cx="104203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5.6865</a:t>
            </a:r>
            <a:endParaRPr lang="en-US" sz="1150" dirty="0"/>
          </a:p>
        </p:txBody>
      </p:sp>
      <p:sp>
        <p:nvSpPr>
          <p:cNvPr id="83" name="Text 81"/>
          <p:cNvSpPr/>
          <p:nvPr/>
        </p:nvSpPr>
        <p:spPr>
          <a:xfrm>
            <a:off x="10161865" y="5149334"/>
            <a:ext cx="1267778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6.3057</a:t>
            </a:r>
            <a:endParaRPr lang="en-US" sz="1150" dirty="0"/>
          </a:p>
        </p:txBody>
      </p:sp>
      <p:sp>
        <p:nvSpPr>
          <p:cNvPr id="84" name="Text 82"/>
          <p:cNvSpPr/>
          <p:nvPr/>
        </p:nvSpPr>
        <p:spPr>
          <a:xfrm>
            <a:off x="11731347" y="5149334"/>
            <a:ext cx="215586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0.3586</a:t>
            </a:r>
            <a:endParaRPr lang="en-US" sz="1150" dirty="0"/>
          </a:p>
        </p:txBody>
      </p:sp>
      <p:sp>
        <p:nvSpPr>
          <p:cNvPr id="85" name="Shape 83"/>
          <p:cNvSpPr/>
          <p:nvPr/>
        </p:nvSpPr>
        <p:spPr>
          <a:xfrm>
            <a:off x="596146" y="5480566"/>
            <a:ext cx="13438108" cy="42707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743664" y="5576411"/>
            <a:ext cx="139124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</a:t>
            </a:r>
            <a:endParaRPr lang="en-US" sz="1150" dirty="0"/>
          </a:p>
        </p:txBody>
      </p:sp>
      <p:sp>
        <p:nvSpPr>
          <p:cNvPr id="87" name="Text 85"/>
          <p:cNvSpPr/>
          <p:nvPr/>
        </p:nvSpPr>
        <p:spPr>
          <a:xfrm>
            <a:off x="2436614" y="5576411"/>
            <a:ext cx="134302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150" dirty="0"/>
          </a:p>
        </p:txBody>
      </p:sp>
      <p:sp>
        <p:nvSpPr>
          <p:cNvPr id="88" name="Text 86"/>
          <p:cNvSpPr/>
          <p:nvPr/>
        </p:nvSpPr>
        <p:spPr>
          <a:xfrm>
            <a:off x="4081343" y="5576411"/>
            <a:ext cx="1141452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150" dirty="0"/>
          </a:p>
        </p:txBody>
      </p:sp>
      <p:sp>
        <p:nvSpPr>
          <p:cNvPr id="89" name="Text 87"/>
          <p:cNvSpPr/>
          <p:nvPr/>
        </p:nvSpPr>
        <p:spPr>
          <a:xfrm>
            <a:off x="5524500" y="5576411"/>
            <a:ext cx="1382078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8000</a:t>
            </a:r>
            <a:endParaRPr lang="en-US" sz="1150" dirty="0"/>
          </a:p>
        </p:txBody>
      </p:sp>
      <p:sp>
        <p:nvSpPr>
          <p:cNvPr id="90" name="Text 88"/>
          <p:cNvSpPr/>
          <p:nvPr/>
        </p:nvSpPr>
        <p:spPr>
          <a:xfrm>
            <a:off x="7208282" y="5576411"/>
            <a:ext cx="1308140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7961</a:t>
            </a:r>
            <a:endParaRPr lang="en-US" sz="1150" dirty="0"/>
          </a:p>
        </p:txBody>
      </p:sp>
      <p:sp>
        <p:nvSpPr>
          <p:cNvPr id="91" name="Text 89"/>
          <p:cNvSpPr/>
          <p:nvPr/>
        </p:nvSpPr>
        <p:spPr>
          <a:xfrm>
            <a:off x="8818126" y="5576411"/>
            <a:ext cx="104203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150" dirty="0"/>
          </a:p>
        </p:txBody>
      </p:sp>
      <p:sp>
        <p:nvSpPr>
          <p:cNvPr id="92" name="Text 90"/>
          <p:cNvSpPr/>
          <p:nvPr/>
        </p:nvSpPr>
        <p:spPr>
          <a:xfrm>
            <a:off x="10161865" y="5576411"/>
            <a:ext cx="1267778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1150" dirty="0"/>
          </a:p>
        </p:txBody>
      </p:sp>
      <p:sp>
        <p:nvSpPr>
          <p:cNvPr id="93" name="Text 91"/>
          <p:cNvSpPr/>
          <p:nvPr/>
        </p:nvSpPr>
        <p:spPr>
          <a:xfrm>
            <a:off x="11731347" y="5576411"/>
            <a:ext cx="2155865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5.086</a:t>
            </a:r>
            <a:endParaRPr lang="en-US" sz="1150" dirty="0"/>
          </a:p>
        </p:txBody>
      </p:sp>
      <p:sp>
        <p:nvSpPr>
          <p:cNvPr id="94" name="Text 92"/>
          <p:cNvSpPr/>
          <p:nvPr/>
        </p:nvSpPr>
        <p:spPr>
          <a:xfrm>
            <a:off x="588526" y="6135886"/>
            <a:ext cx="2206943" cy="2758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Totals</a:t>
            </a:r>
            <a:endParaRPr lang="en-US" sz="1700" dirty="0"/>
          </a:p>
        </p:txBody>
      </p:sp>
      <p:sp>
        <p:nvSpPr>
          <p:cNvPr id="95" name="Text 93"/>
          <p:cNvSpPr/>
          <p:nvPr/>
        </p:nvSpPr>
        <p:spPr>
          <a:xfrm>
            <a:off x="588526" y="6632377"/>
            <a:ext cx="13453348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Original Principal: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$8,000M</a:t>
            </a:r>
            <a:endParaRPr lang="en-US" sz="1150" dirty="0"/>
          </a:p>
        </p:txBody>
      </p:sp>
      <p:sp>
        <p:nvSpPr>
          <p:cNvPr id="96" name="Text 94"/>
          <p:cNvSpPr/>
          <p:nvPr/>
        </p:nvSpPr>
        <p:spPr>
          <a:xfrm>
            <a:off x="588526" y="6919198"/>
            <a:ext cx="13453348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Carrying Value: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$7,961M</a:t>
            </a:r>
            <a:endParaRPr lang="en-US" sz="1150" dirty="0"/>
          </a:p>
        </p:txBody>
      </p:sp>
      <p:sp>
        <p:nvSpPr>
          <p:cNvPr id="97" name="Text 95"/>
          <p:cNvSpPr/>
          <p:nvPr/>
        </p:nvSpPr>
        <p:spPr>
          <a:xfrm>
            <a:off x="588526" y="7206020"/>
            <a:ext cx="13453348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Weighted YTM: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5.0864%</a:t>
            </a:r>
            <a:endParaRPr lang="en-US" sz="1150" dirty="0"/>
          </a:p>
        </p:txBody>
      </p:sp>
      <p:sp>
        <p:nvSpPr>
          <p:cNvPr id="98" name="Text 96"/>
          <p:cNvSpPr/>
          <p:nvPr/>
        </p:nvSpPr>
        <p:spPr>
          <a:xfrm>
            <a:off x="588526" y="7606903"/>
            <a:ext cx="13453348" cy="235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$39M difference between principal and carrying value reflects amortized discount/premium under U.S. GAAP.</a:t>
            </a:r>
            <a:endParaRPr lang="en-US" sz="1150" dirty="0"/>
          </a:p>
        </p:txBody>
      </p:sp>
      <p:sp>
        <p:nvSpPr>
          <p:cNvPr id="99" name="Text 2"/>
          <p:cNvSpPr/>
          <p:nvPr/>
        </p:nvSpPr>
        <p:spPr>
          <a:xfrm>
            <a:off x="6081950" y="6619606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 (pre-tax weighted YTM):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Weighted Kd_pre = Σ (Carrying Value_i / Total Carrying Value) × YTM_i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80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745" y="3112558"/>
            <a:ext cx="539817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After-Tax Cost of Debt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515009" y="521702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an </a:t>
            </a:r>
            <a:r>
              <a:rPr lang="en-US" sz="2000" strike="sngStrike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effective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tax rate of 17.1% </a:t>
            </a:r>
            <a:r>
              <a:rPr lang="en-US" sz="200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(corrected to 23%) 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FY2025, the after-tax cost of debt is calculated as follows: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93790" y="594739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Kd = 5.0862 × </a:t>
            </a:r>
            <a:r>
              <a:rPr lang="en-US" sz="200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(1 − 0.23) = </a:t>
            </a:r>
            <a:r>
              <a:rPr lang="en-US" sz="2000" b="1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3.915</a:t>
            </a:r>
            <a:endParaRPr lang="en-US" sz="2000" b="1" dirty="0">
              <a:highlight>
                <a:srgbClr val="FFFF00"/>
              </a:highlight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3977529"/>
            <a:ext cx="7556421" cy="76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After-tax Kd formula: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2400" b="1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Kd_after_tax</a:t>
            </a:r>
            <a:r>
              <a:rPr lang="en-US" sz="2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Kd_pre × (1 − Tax Rate)</a:t>
            </a:r>
            <a:endParaRPr lang="en-US" sz="24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1768"/>
            <a:ext cx="633686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Market Value Calculations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82868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Equity market value is derived from diluted shares outstanding and the closing market price on May 31, 2025.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380752"/>
            <a:ext cx="4215289" cy="1158716"/>
          </a:xfrm>
          <a:prstGeom prst="roundRect">
            <a:avLst>
              <a:gd name="adj" fmla="val 4110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99768" y="2575441"/>
            <a:ext cx="348603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Shares Outstanding (diluted)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99768" y="3004661"/>
            <a:ext cx="380333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1,487.6 million (from 10-K Note)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07437" y="2369463"/>
            <a:ext cx="4215408" cy="1158716"/>
          </a:xfrm>
          <a:prstGeom prst="roundRect">
            <a:avLst>
              <a:gd name="adj" fmla="val 4110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13415" y="2575441"/>
            <a:ext cx="346638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Closing Price (May 31, 2025)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413415" y="3004661"/>
            <a:ext cx="380345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$118.85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621203" y="2369463"/>
            <a:ext cx="4215289" cy="1158716"/>
          </a:xfrm>
          <a:prstGeom prst="roundRect">
            <a:avLst>
              <a:gd name="adj" fmla="val 4110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827181" y="257544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Equity Market Value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827181" y="3004661"/>
            <a:ext cx="380333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$176.801 billion 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(from 10-K Note)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93790" y="375142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Debt fair value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(from 10-K Note): </a:t>
            </a:r>
            <a:r>
              <a:rPr lang="en-US" sz="15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$6.673 billion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93790" y="429220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Preferred stock is immateria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 (≈ $0.3 million) and excluded from WACC. 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93790" y="483298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Preferred stock 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Excluded;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93790" y="5373767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 if the preferred cost were extremely high or low, multiplying it by a 0.00016% weight would produce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near-zero contribution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WACC (on the order of 0.00000x%).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93790" y="6078260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Nike's financing strategy does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rely on preferred equity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this tiny amount: Does not influence risk, Does not impact leverage, Does not shape investor expectations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93790" y="678275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Is Not Actively Traded or Issued. Held by a single entity (Sojitz Corporation of America), Redeemable, Not part of Nike’s ordinary financing channels, More of a legacy or contractual instrument than a capital-raising tool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5594"/>
            <a:ext cx="829115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WACC Calculation and Breakdown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801410" y="105235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WACC is calculated using market-value weights, combining the cost of equity and the after-tax cost of debt.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801410" y="149864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WACC = (E/V × Ke) + (D/V × Kd × (1 − T))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4029670"/>
            <a:ext cx="13042821" cy="1727954"/>
          </a:xfrm>
          <a:prstGeom prst="roundRect">
            <a:avLst>
              <a:gd name="adj" fmla="val 482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1410" y="4037290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0006" y="4163973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260652" y="4163973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17487" y="4163973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774323" y="4163973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WACC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1410" y="4608195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0006" y="4734878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Equity (E)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260652" y="4734878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96.39%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517487" y="4734878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10.2842%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774323" y="4734878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9.9129%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01410" y="5179100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0006" y="5305782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Debt (D)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260652" y="5305782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3.6370%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517487" y="5305782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3.915%</a:t>
            </a:r>
            <a:endParaRPr lang="en-US" sz="1550" dirty="0">
              <a:highlight>
                <a:srgbClr val="FFFF00"/>
              </a:highlight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774323" y="5305782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0.142%</a:t>
            </a:r>
            <a:endParaRPr lang="en-US" sz="1550" dirty="0">
              <a:highlight>
                <a:srgbClr val="FFFF00"/>
              </a:highlight>
            </a:endParaRPr>
          </a:p>
        </p:txBody>
      </p:sp>
      <p:sp>
        <p:nvSpPr>
          <p:cNvPr id="21" name="Text 19"/>
          <p:cNvSpPr/>
          <p:nvPr/>
        </p:nvSpPr>
        <p:spPr>
          <a:xfrm>
            <a:off x="793790" y="598086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Computed WACC</a:t>
            </a:r>
            <a:r>
              <a:rPr lang="en-US" sz="2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</a:t>
            </a:r>
            <a:r>
              <a:rPr lang="en-US" sz="200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10.055%</a:t>
            </a:r>
            <a:endParaRPr lang="en-US" sz="2000" dirty="0">
              <a:highlight>
                <a:srgbClr val="FFFF00"/>
              </a:highlight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6D1F5A93-816F-06C2-9EDD-22ADD1F8F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854337"/>
              </p:ext>
            </p:extLst>
          </p:nvPr>
        </p:nvGraphicFramePr>
        <p:xfrm>
          <a:off x="3296355" y="2049817"/>
          <a:ext cx="7326486" cy="15432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42162">
                  <a:extLst>
                    <a:ext uri="{9D8B030D-6E8A-4147-A177-3AD203B41FA5}">
                      <a16:colId xmlns:a16="http://schemas.microsoft.com/office/drawing/2014/main" val="1907141815"/>
                    </a:ext>
                  </a:extLst>
                </a:gridCol>
                <a:gridCol w="2442162">
                  <a:extLst>
                    <a:ext uri="{9D8B030D-6E8A-4147-A177-3AD203B41FA5}">
                      <a16:colId xmlns:a16="http://schemas.microsoft.com/office/drawing/2014/main" val="2700207156"/>
                    </a:ext>
                  </a:extLst>
                </a:gridCol>
                <a:gridCol w="2442162">
                  <a:extLst>
                    <a:ext uri="{9D8B030D-6E8A-4147-A177-3AD203B41FA5}">
                      <a16:colId xmlns:a16="http://schemas.microsoft.com/office/drawing/2014/main" val="1560427496"/>
                    </a:ext>
                  </a:extLst>
                </a:gridCol>
              </a:tblGrid>
              <a:tr h="30865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Component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Market Value ($ million)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Weight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53288344"/>
                  </a:ext>
                </a:extLst>
              </a:tr>
              <a:tr h="30865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Common Equity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176,801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96.39%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69505167"/>
                  </a:ext>
                </a:extLst>
              </a:tr>
              <a:tr h="30865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Debt (fair value)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6,673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3.64%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405144946"/>
                  </a:ext>
                </a:extLst>
              </a:tr>
              <a:tr h="30865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Preferred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~0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0.00%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88192514"/>
                  </a:ext>
                </a:extLst>
              </a:tr>
              <a:tr h="30865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Total Firm Value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>
                          <a:effectLst/>
                        </a:rPr>
                        <a:t>183,423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dirty="0">
                          <a:effectLst/>
                        </a:rPr>
                        <a:t>100%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473770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2958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616" y="3093363"/>
            <a:ext cx="6881217" cy="57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Interpretation and Implications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34616" y="3942874"/>
            <a:ext cx="13161169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Nike's WACC of 10.06% is higher than expected for a mature, large-cap consumer company, primarily due to its equity-heavy capital structure.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434" y="4448949"/>
            <a:ext cx="275511" cy="27551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31476" y="4443293"/>
            <a:ext cx="2295882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Low Leverage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1331476" y="4840367"/>
            <a:ext cx="3637121" cy="587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Limits benefits from interest tax shield; increases relative weight of equity.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66968" y="4448949"/>
            <a:ext cx="275511" cy="27551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795010" y="4443293"/>
            <a:ext cx="2295882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Market Conditions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5795010" y="4840367"/>
            <a:ext cx="3637121" cy="587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Elevated risk-free rates and a high market risk premium increase the cost of equity.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30502" y="4448949"/>
            <a:ext cx="275511" cy="27551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258544" y="4443293"/>
            <a:ext cx="2295882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Investment Rule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10258544" y="4840367"/>
            <a:ext cx="3637121" cy="881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Projects should target a Return on Invested Capital (ROIC) greater than WACC (&gt; 10.06%) to be value-accretive.</a:t>
            </a:r>
            <a:endParaRPr lang="en-US" sz="14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434" y="6094869"/>
            <a:ext cx="275511" cy="27551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331476" y="6089213"/>
            <a:ext cx="2457569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Nike is a Strong Brand</a:t>
            </a:r>
            <a:endParaRPr lang="en-US" sz="1800" dirty="0"/>
          </a:p>
        </p:txBody>
      </p:sp>
      <p:sp>
        <p:nvSpPr>
          <p:cNvPr id="16" name="Text 9"/>
          <p:cNvSpPr/>
          <p:nvPr/>
        </p:nvSpPr>
        <p:spPr>
          <a:xfrm>
            <a:off x="1331476" y="6486287"/>
            <a:ext cx="5868829" cy="881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pricing resilience; Pricing Power allows Nike to earn returns above the cost of capital even under market pressures such as inflation or supply chain shifts.</a:t>
            </a:r>
            <a:endParaRPr lang="en-US" sz="14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98675" y="6094869"/>
            <a:ext cx="275511" cy="27551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026717" y="6089213"/>
            <a:ext cx="2295882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Financial Flexibility</a:t>
            </a:r>
            <a:endParaRPr lang="en-US" sz="1800" dirty="0"/>
          </a:p>
        </p:txBody>
      </p:sp>
      <p:sp>
        <p:nvSpPr>
          <p:cNvPr id="19" name="Text 11"/>
          <p:cNvSpPr/>
          <p:nvPr/>
        </p:nvSpPr>
        <p:spPr>
          <a:xfrm>
            <a:off x="8026717" y="6486287"/>
            <a:ext cx="5868948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Allows Nike to internally fund growth.</a:t>
            </a:r>
            <a:endParaRPr lang="en-US" sz="1400" dirty="0"/>
          </a:p>
        </p:txBody>
      </p:sp>
      <p:sp>
        <p:nvSpPr>
          <p:cNvPr id="20" name="Text 12"/>
          <p:cNvSpPr/>
          <p:nvPr/>
        </p:nvSpPr>
        <p:spPr>
          <a:xfrm>
            <a:off x="8026717" y="6844308"/>
            <a:ext cx="5868948" cy="587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Nike can choose when (or if) to issue debt, taking advantage of favorable market conditions.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6952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NIKE, Inc. 5-Year Project Evaluation Report (Part 2)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407337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report evaluates a proposed 5-year product expansion project for NIKE, Inc., detailing financial projections and key investment metrics. </a:t>
            </a: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financial figures in </a:t>
            </a:r>
            <a:r>
              <a:rPr lang="en-US" sz="1550" b="1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tables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are presented in thousands ($000s)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4384" y="539234"/>
            <a:ext cx="2451378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Overview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784384" y="1237774"/>
            <a:ext cx="6432709" cy="1175623"/>
          </a:xfrm>
          <a:prstGeom prst="roundRect">
            <a:avLst>
              <a:gd name="adj" fmla="val 933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1524" y="1237774"/>
            <a:ext cx="91440" cy="1175623"/>
          </a:xfrm>
          <a:prstGeom prst="roundRect">
            <a:avLst>
              <a:gd name="adj" fmla="val 90078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1920" y="1456730"/>
            <a:ext cx="2754273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Initial Capital Spending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71920" y="1880711"/>
            <a:ext cx="5926217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$30,000,000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13188" y="1237774"/>
            <a:ext cx="6432828" cy="1175623"/>
          </a:xfrm>
          <a:prstGeom prst="roundRect">
            <a:avLst>
              <a:gd name="adj" fmla="val 933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90328" y="1237774"/>
            <a:ext cx="91440" cy="1175623"/>
          </a:xfrm>
          <a:prstGeom prst="roundRect">
            <a:avLst>
              <a:gd name="adj" fmla="val 90078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00724" y="1456730"/>
            <a:ext cx="2451378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Initial NWC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00724" y="1880711"/>
            <a:ext cx="5926336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$2,000,000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84384" y="2609493"/>
            <a:ext cx="6432709" cy="1175623"/>
          </a:xfrm>
          <a:prstGeom prst="roundRect">
            <a:avLst>
              <a:gd name="adj" fmla="val 933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61524" y="2609493"/>
            <a:ext cx="91440" cy="1175623"/>
          </a:xfrm>
          <a:prstGeom prst="roundRect">
            <a:avLst>
              <a:gd name="adj" fmla="val 90078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71920" y="2828449"/>
            <a:ext cx="2451378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Sales Year 1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71920" y="3252430"/>
            <a:ext cx="5926217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$35,000,000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413188" y="2609493"/>
            <a:ext cx="6432828" cy="1175623"/>
          </a:xfrm>
          <a:prstGeom prst="roundRect">
            <a:avLst>
              <a:gd name="adj" fmla="val 933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90328" y="2609493"/>
            <a:ext cx="91440" cy="1175623"/>
          </a:xfrm>
          <a:prstGeom prst="roundRect">
            <a:avLst>
              <a:gd name="adj" fmla="val 90078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00724" y="2828449"/>
            <a:ext cx="2451378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Sales Growth (SGR)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700724" y="3252430"/>
            <a:ext cx="5926336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 from Mini Case Study 2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84384" y="3981212"/>
            <a:ext cx="6432709" cy="1175623"/>
          </a:xfrm>
          <a:prstGeom prst="roundRect">
            <a:avLst>
              <a:gd name="adj" fmla="val 933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61524" y="3981212"/>
            <a:ext cx="91440" cy="1175623"/>
          </a:xfrm>
          <a:prstGeom prst="roundRect">
            <a:avLst>
              <a:gd name="adj" fmla="val 90078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71920" y="4200168"/>
            <a:ext cx="2451378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Fixed Costs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071920" y="4624149"/>
            <a:ext cx="5926217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$10,000,000 annually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413188" y="3981212"/>
            <a:ext cx="6432828" cy="1175623"/>
          </a:xfrm>
          <a:prstGeom prst="roundRect">
            <a:avLst>
              <a:gd name="adj" fmla="val 933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90328" y="3981212"/>
            <a:ext cx="91440" cy="1175623"/>
          </a:xfrm>
          <a:prstGeom prst="roundRect">
            <a:avLst>
              <a:gd name="adj" fmla="val 90078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00724" y="4200168"/>
            <a:ext cx="2451378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Salvage Value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7700724" y="4624149"/>
            <a:ext cx="5926336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$5,000,000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84384" y="5352931"/>
            <a:ext cx="6432709" cy="1175623"/>
          </a:xfrm>
          <a:prstGeom prst="roundRect">
            <a:avLst>
              <a:gd name="adj" fmla="val 933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761524" y="5352931"/>
            <a:ext cx="91440" cy="1175623"/>
          </a:xfrm>
          <a:prstGeom prst="roundRect">
            <a:avLst>
              <a:gd name="adj" fmla="val 90078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71920" y="5571887"/>
            <a:ext cx="2451378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Tax Rate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1071920" y="5995868"/>
            <a:ext cx="5926217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17.1% From Part 1 (</a:t>
            </a:r>
            <a:r>
              <a:rPr lang="en-US" sz="150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correct to 23% )</a:t>
            </a:r>
            <a:endParaRPr lang="en-US" sz="1500" dirty="0">
              <a:highlight>
                <a:srgbClr val="FFFF00"/>
              </a:highlight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413188" y="5352931"/>
            <a:ext cx="6432828" cy="1175623"/>
          </a:xfrm>
          <a:prstGeom prst="roundRect">
            <a:avLst>
              <a:gd name="adj" fmla="val 9334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390328" y="5352931"/>
            <a:ext cx="91440" cy="1175623"/>
          </a:xfrm>
          <a:prstGeom prst="roundRect">
            <a:avLst>
              <a:gd name="adj" fmla="val 90078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700724" y="5571887"/>
            <a:ext cx="2451378" cy="306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Required Return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7700724" y="5995868"/>
            <a:ext cx="5926336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WACC 10.</a:t>
            </a:r>
            <a:r>
              <a:rPr lang="en-US" sz="150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(from Part 1) + 2% risk premium = 12.</a:t>
            </a:r>
            <a:r>
              <a:rPr lang="en-US" sz="150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84384" y="6749177"/>
            <a:ext cx="13061633" cy="941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involves an initial capital expenditure of $30,000,000 and an initial net working capital of $2,000,000. Sales are projected to start at $35,000,000 in Year 1 with a 7.5% growth rate. Fixed costs are $10,000,000 annually, and the equipment has a salvage value of $5,000,000. The combined tax rate is </a:t>
            </a:r>
            <a:r>
              <a:rPr lang="en-US" sz="150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23%, </a:t>
            </a: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the required project return is 12.06%.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6536"/>
            <a:ext cx="743307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MACRS Depreciation Schedule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87344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project's depreciation is calculated using the 5-year MACRS schedule on a depreciable base of $30,000,000.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241423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Figures in ($,000s)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2955012"/>
            <a:ext cx="13042821" cy="3877270"/>
          </a:xfrm>
          <a:prstGeom prst="roundRect">
            <a:avLst>
              <a:gd name="adj" fmla="val 215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1410" y="2962632"/>
            <a:ext cx="13026271" cy="100750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1197" y="3089315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346621" y="3089315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MACRS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88235" y="3089315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Depreciation 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688235" y="3525917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=MACRS rates * Equipment Cost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1410" y="3970139"/>
            <a:ext cx="1302627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1197" y="4096822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346621" y="4096822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20.00%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688235" y="4096822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6,000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801410" y="4541044"/>
            <a:ext cx="1302627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1197" y="4667726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346621" y="4667726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32.00%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688235" y="4667726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9,600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01410" y="5111948"/>
            <a:ext cx="1302627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01197" y="5238631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346621" y="5238631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19.20%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688235" y="5238631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5,760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01410" y="5682853"/>
            <a:ext cx="1302627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01197" y="5809536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5346621" y="5809536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11.52%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9688235" y="5809536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3,456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801410" y="6253758"/>
            <a:ext cx="1302627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01197" y="6380440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5346621" y="6380440"/>
            <a:ext cx="393727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11.52%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9688235" y="6380440"/>
            <a:ext cx="394108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3,456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793790" y="705552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depreciation 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 the 5 years is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$28,272,000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The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 value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 the end of Year 5 is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$1,728,000 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($30,000,000 - $28,272,000).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10931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4965" y="2573298"/>
            <a:ext cx="4940022" cy="527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After-Tax Salvage Value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74965" y="3353633"/>
            <a:ext cx="13280469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after-tax salvage value is calculated considering the market value, book value, and tax on the gain.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74965" y="3813334"/>
            <a:ext cx="6555819" cy="1662470"/>
          </a:xfrm>
          <a:prstGeom prst="roundRect">
            <a:avLst>
              <a:gd name="adj" fmla="val 426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51297" y="3989665"/>
            <a:ext cx="506254" cy="506254"/>
          </a:xfrm>
          <a:prstGeom prst="roundRect">
            <a:avLst>
              <a:gd name="adj" fmla="val 1806027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0481" y="4128849"/>
            <a:ext cx="227767" cy="22776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1297" y="4664631"/>
            <a:ext cx="2109311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Market Value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851297" y="5029557"/>
            <a:ext cx="6203156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$5,000,000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399496" y="3813334"/>
            <a:ext cx="6555938" cy="1662470"/>
          </a:xfrm>
          <a:prstGeom prst="roundRect">
            <a:avLst>
              <a:gd name="adj" fmla="val 426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7575828" y="3989665"/>
            <a:ext cx="506254" cy="506254"/>
          </a:xfrm>
          <a:prstGeom prst="roundRect">
            <a:avLst>
              <a:gd name="adj" fmla="val 1806027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15012" y="4128849"/>
            <a:ext cx="227767" cy="22776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75828" y="4664631"/>
            <a:ext cx="2109311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Book Value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7575828" y="5029557"/>
            <a:ext cx="6203275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$1,728,000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74965" y="5644515"/>
            <a:ext cx="6555819" cy="1662470"/>
          </a:xfrm>
          <a:prstGeom prst="roundRect">
            <a:avLst>
              <a:gd name="adj" fmla="val 426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851297" y="5820847"/>
            <a:ext cx="506254" cy="506254"/>
          </a:xfrm>
          <a:prstGeom prst="roundRect">
            <a:avLst>
              <a:gd name="adj" fmla="val 1806027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0481" y="5960031"/>
            <a:ext cx="227767" cy="22776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1297" y="6495812"/>
            <a:ext cx="2109311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Gain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851297" y="6860738"/>
            <a:ext cx="6203156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5,000,000 – 1,728,000 = $3,272,000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7399496" y="5644515"/>
            <a:ext cx="6555938" cy="1662470"/>
          </a:xfrm>
          <a:prstGeom prst="roundRect">
            <a:avLst>
              <a:gd name="adj" fmla="val 426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Shape 15"/>
          <p:cNvSpPr/>
          <p:nvPr/>
        </p:nvSpPr>
        <p:spPr>
          <a:xfrm>
            <a:off x="7575828" y="5820847"/>
            <a:ext cx="506254" cy="506254"/>
          </a:xfrm>
          <a:prstGeom prst="roundRect">
            <a:avLst>
              <a:gd name="adj" fmla="val 18060273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15012" y="5960031"/>
            <a:ext cx="227767" cy="22776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575828" y="6495812"/>
            <a:ext cx="2109311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Tax on Gain</a:t>
            </a:r>
            <a:endParaRPr lang="en-US" sz="1650" dirty="0"/>
          </a:p>
        </p:txBody>
      </p:sp>
      <p:sp>
        <p:nvSpPr>
          <p:cNvPr id="24" name="Text 17"/>
          <p:cNvSpPr/>
          <p:nvPr/>
        </p:nvSpPr>
        <p:spPr>
          <a:xfrm>
            <a:off x="7575828" y="6860738"/>
            <a:ext cx="6203275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3,272,000 × </a:t>
            </a:r>
            <a:r>
              <a:rPr lang="en-US" sz="130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0.23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</a:t>
            </a:r>
            <a:r>
              <a:rPr lang="en-US" sz="130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$752,560</a:t>
            </a:r>
            <a:endParaRPr lang="en-US" sz="1300" dirty="0">
              <a:highlight>
                <a:srgbClr val="FFFF00"/>
              </a:highlight>
            </a:endParaRPr>
          </a:p>
        </p:txBody>
      </p:sp>
      <p:sp>
        <p:nvSpPr>
          <p:cNvPr id="25" name="Text 18"/>
          <p:cNvSpPr/>
          <p:nvPr/>
        </p:nvSpPr>
        <p:spPr>
          <a:xfrm>
            <a:off x="674965" y="7496770"/>
            <a:ext cx="13280469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after-tax salvage value 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5,000,000 – </a:t>
            </a:r>
            <a:r>
              <a:rPr lang="en-US" sz="130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752,560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= </a:t>
            </a:r>
            <a:r>
              <a:rPr lang="en-US" sz="1300" b="1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$4,247,440 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which is derived by subtracting the tax on the gain from the market value.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69432"/>
            <a:ext cx="675965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Capital Spending Cash Flow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186345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table outlines the capital spending cash flows over the project's lifespan, including the initial investment and the after-tax salvage value.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04466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Figures in ($,000s)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3585448"/>
            <a:ext cx="13042821" cy="2933938"/>
          </a:xfrm>
          <a:prstGeom prst="roundRect">
            <a:avLst>
              <a:gd name="adj" fmla="val 284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1410" y="3593068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0125" y="3719751"/>
            <a:ext cx="246804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3872508" y="3719751"/>
            <a:ext cx="12878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 0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564743" y="3719751"/>
            <a:ext cx="12878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 1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256978" y="3719751"/>
            <a:ext cx="12892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 2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950523" y="3719751"/>
            <a:ext cx="12892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 3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644068" y="3719751"/>
            <a:ext cx="12892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 4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2337613" y="3719751"/>
            <a:ext cx="129301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 5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01410" y="4163973"/>
            <a:ext cx="13027581" cy="8884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0125" y="4290655"/>
            <a:ext cx="246804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Opportunity Cost (No alternative)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872508" y="4290655"/>
            <a:ext cx="12878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564743" y="4290655"/>
            <a:ext cx="12878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256978" y="4290655"/>
            <a:ext cx="12892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950523" y="4290655"/>
            <a:ext cx="12892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0644068" y="4290655"/>
            <a:ext cx="12892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2337613" y="4290655"/>
            <a:ext cx="129301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801410" y="5052417"/>
            <a:ext cx="13027581" cy="8884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00125" y="5179100"/>
            <a:ext cx="246804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purchase (CapEx)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3872508" y="5179100"/>
            <a:ext cx="12878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-30,000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5564743" y="5179100"/>
            <a:ext cx="12878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256978" y="5179100"/>
            <a:ext cx="12892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950523" y="5179100"/>
            <a:ext cx="12892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10644068" y="5179100"/>
            <a:ext cx="12892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12337613" y="5179100"/>
            <a:ext cx="129301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+4,247</a:t>
            </a:r>
            <a:endParaRPr lang="en-US" sz="1550" dirty="0">
              <a:highlight>
                <a:srgbClr val="FFFF00"/>
              </a:highlight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01410" y="5940862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00125" y="6067544"/>
            <a:ext cx="246804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(Capital Spending)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3872508" y="6067544"/>
            <a:ext cx="12878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-30,000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5564743" y="6067544"/>
            <a:ext cx="12878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7256978" y="6067544"/>
            <a:ext cx="12892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8950523" y="6067544"/>
            <a:ext cx="12892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10644068" y="6067544"/>
            <a:ext cx="12892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12337613" y="6067544"/>
            <a:ext cx="129301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+4,247</a:t>
            </a:r>
            <a:endParaRPr lang="en-US" sz="1550" dirty="0">
              <a:highlight>
                <a:srgbClr val="FFFF00"/>
              </a:highlight>
            </a:endParaRPr>
          </a:p>
        </p:txBody>
      </p:sp>
      <p:sp>
        <p:nvSpPr>
          <p:cNvPr id="38" name="Text 36"/>
          <p:cNvSpPr/>
          <p:nvPr/>
        </p:nvSpPr>
        <p:spPr>
          <a:xfrm>
            <a:off x="793790" y="674262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initial capital outlay is $30,000,000 in Year 0, with an inflow of </a:t>
            </a:r>
            <a:r>
              <a:rPr lang="en-US" sz="155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$4,247,440 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after-tax salvage in Year 5.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5925" y="649129"/>
            <a:ext cx="9041606" cy="574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 Forma Income Statement (Years 1–5)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5925" y="1591866"/>
            <a:ext cx="13158549" cy="588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 forma income statement projects sales, costs, and net income over the five-year period, incorporating sales and variable cost growth rates, fixed costs, and depreciation.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5925" y="2387441"/>
            <a:ext cx="13158549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Figures in ($,000s)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5925" y="2888694"/>
            <a:ext cx="13158549" cy="4190405"/>
          </a:xfrm>
          <a:prstGeom prst="roundRect">
            <a:avLst>
              <a:gd name="adj" fmla="val 184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3545" y="2896314"/>
            <a:ext cx="13143309" cy="152364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27854" y="3014305"/>
            <a:ext cx="942618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45995" y="3014305"/>
            <a:ext cx="1313378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47299" y="3418999"/>
            <a:ext cx="1412074" cy="88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Salesₜ = Sales₁ × (1 + 7.5%)^(t-1)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4897" y="3014305"/>
            <a:ext cx="1561743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Variable Costs 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4897" y="3418999"/>
            <a:ext cx="1529716" cy="588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VCₜ = VC₁ × (1 + 3%)^(t-1)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72163" y="3014305"/>
            <a:ext cx="1264682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Costs 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512367" y="3014305"/>
            <a:ext cx="1277898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Depreciation 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65788" y="3014305"/>
            <a:ext cx="1260753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EBIT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65788" y="3418999"/>
            <a:ext cx="1260753" cy="88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EBIT = Sales – VC – FC – Depreciation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802064" y="3014305"/>
            <a:ext cx="1260753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Taxes (</a:t>
            </a:r>
            <a:r>
              <a:rPr lang="en-US" sz="140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23%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802064" y="3418999"/>
            <a:ext cx="1260753" cy="588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max(EBIT, 0) × </a:t>
            </a:r>
            <a:r>
              <a:rPr lang="en-US" sz="1400" b="1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23%</a:t>
            </a:r>
            <a:endParaRPr lang="en-US" sz="1400" dirty="0">
              <a:highlight>
                <a:srgbClr val="FFFF00"/>
              </a:highlight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438340" y="3014305"/>
            <a:ext cx="1264563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Income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438340" y="3418999"/>
            <a:ext cx="1264563" cy="588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 = EBIT – Taxes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3545" y="4419957"/>
            <a:ext cx="13143309" cy="5303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7854" y="4537948"/>
            <a:ext cx="942618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245995" y="4537948"/>
            <a:ext cx="1313378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35,000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34897" y="4537948"/>
            <a:ext cx="1561743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25,000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872163" y="4537948"/>
            <a:ext cx="1264682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10,000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12367" y="4537948"/>
            <a:ext cx="1277898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6,000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65788" y="4537948"/>
            <a:ext cx="1260753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-6,000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802064" y="4537948"/>
            <a:ext cx="1260753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438340" y="4537948"/>
            <a:ext cx="1264563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-6,000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3545" y="4950262"/>
            <a:ext cx="13143309" cy="5303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27854" y="5068252"/>
            <a:ext cx="942618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245995" y="5068252"/>
            <a:ext cx="1313378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37,625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34897" y="5068252"/>
            <a:ext cx="1561743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25,750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72163" y="5068252"/>
            <a:ext cx="1264682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10,000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512367" y="5068252"/>
            <a:ext cx="1277898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9,600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165788" y="5068252"/>
            <a:ext cx="1260753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-7,725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802064" y="5068252"/>
            <a:ext cx="1260753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438340" y="5068252"/>
            <a:ext cx="1264563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-7,725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43545" y="5480566"/>
            <a:ext cx="13143309" cy="5303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27854" y="5598557"/>
            <a:ext cx="942618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245995" y="5598557"/>
            <a:ext cx="1313378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40,447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934897" y="5598557"/>
            <a:ext cx="1561743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26,523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872163" y="5598557"/>
            <a:ext cx="1264682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10,000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512367" y="5598557"/>
            <a:ext cx="1277898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5,760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165788" y="5598557"/>
            <a:ext cx="1260753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-1,836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0802064" y="5598557"/>
            <a:ext cx="1260753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2438340" y="5598557"/>
            <a:ext cx="1264563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-1,836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743545" y="6010870"/>
            <a:ext cx="13143309" cy="5303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27854" y="6128861"/>
            <a:ext cx="942618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2245995" y="6128861"/>
            <a:ext cx="1313378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43,481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3934897" y="6128861"/>
            <a:ext cx="1561743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27,318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872163" y="6128861"/>
            <a:ext cx="1264682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10,000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512367" y="6128861"/>
            <a:ext cx="1277898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3,456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9165788" y="6128861"/>
            <a:ext cx="1260753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2,707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0802064" y="6128861"/>
            <a:ext cx="1260753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highlight>
                  <a:srgbClr val="FFFF00"/>
                </a:highlight>
              </a:rPr>
              <a:t>623.0</a:t>
            </a:r>
          </a:p>
        </p:txBody>
      </p:sp>
      <p:sp>
        <p:nvSpPr>
          <p:cNvPr id="55" name="Text 53"/>
          <p:cNvSpPr/>
          <p:nvPr/>
        </p:nvSpPr>
        <p:spPr>
          <a:xfrm>
            <a:off x="12438340" y="6128861"/>
            <a:ext cx="1264563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2,084</a:t>
            </a:r>
            <a:endParaRPr lang="en-US" sz="1400" dirty="0">
              <a:highlight>
                <a:srgbClr val="FFFF00"/>
              </a:highlight>
            </a:endParaRPr>
          </a:p>
        </p:txBody>
      </p:sp>
      <p:sp>
        <p:nvSpPr>
          <p:cNvPr id="56" name="Shape 54"/>
          <p:cNvSpPr/>
          <p:nvPr/>
        </p:nvSpPr>
        <p:spPr>
          <a:xfrm>
            <a:off x="743545" y="6541175"/>
            <a:ext cx="13143309" cy="5303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927854" y="6659166"/>
            <a:ext cx="942618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2245995" y="6659166"/>
            <a:ext cx="1313378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46,752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3934897" y="6659166"/>
            <a:ext cx="1561743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28,138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5872163" y="6659166"/>
            <a:ext cx="1264682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10,000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7512367" y="6659166"/>
            <a:ext cx="1277898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3,456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9165788" y="6659166"/>
            <a:ext cx="1260753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5,158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10802064" y="6659166"/>
            <a:ext cx="1260753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</a:rPr>
              <a:t>1186.0</a:t>
            </a:r>
            <a:endParaRPr lang="en-US" sz="1400" dirty="0">
              <a:highlight>
                <a:srgbClr val="FFFF00"/>
              </a:highlight>
            </a:endParaRPr>
          </a:p>
        </p:txBody>
      </p:sp>
      <p:sp>
        <p:nvSpPr>
          <p:cNvPr id="64" name="Text 62"/>
          <p:cNvSpPr/>
          <p:nvPr/>
        </p:nvSpPr>
        <p:spPr>
          <a:xfrm>
            <a:off x="12438340" y="6659166"/>
            <a:ext cx="1264563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3,972</a:t>
            </a:r>
            <a:endParaRPr lang="en-US" sz="1400" dirty="0">
              <a:highlight>
                <a:srgbClr val="FFFF00"/>
              </a:highlight>
            </a:endParaRPr>
          </a:p>
        </p:txBody>
      </p:sp>
      <p:sp>
        <p:nvSpPr>
          <p:cNvPr id="65" name="Text 63"/>
          <p:cNvSpPr/>
          <p:nvPr/>
        </p:nvSpPr>
        <p:spPr>
          <a:xfrm>
            <a:off x="735925" y="7286030"/>
            <a:ext cx="13158549" cy="294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shows negative EBIT and net income in the initial years, turning positive in Year 4.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6536"/>
            <a:ext cx="656605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Operating Cash Flow (OCF)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87344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Cash Flow (OCF) is calculated by adding depreciation back to net income, as depreciation is a non-cash expense.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241423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Figures in ($,000s)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2955012"/>
            <a:ext cx="13042821" cy="3877270"/>
          </a:xfrm>
          <a:prstGeom prst="roundRect">
            <a:avLst>
              <a:gd name="adj" fmla="val 215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1410" y="2962632"/>
            <a:ext cx="13027581" cy="100750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0006" y="3089315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260652" y="3089315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Income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17487" y="3089315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Depreciation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774323" y="3089315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OCF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774323" y="3525917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Net Income + Depreciation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01410" y="3970139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0006" y="4096822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260652" y="4096822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-6,000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517487" y="4096822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6,000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0774323" y="4096822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01410" y="4541044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0006" y="4667726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260652" y="4667726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-7,725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517487" y="4667726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9,600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10774323" y="4667726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1,875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801410" y="5111948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00006" y="5238631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260652" y="5238631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-1,836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517487" y="5238631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5,760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0774323" y="5238631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3,924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801410" y="5682853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00006" y="5809536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260652" y="5809536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2,084</a:t>
            </a:r>
            <a:endParaRPr lang="en-US" sz="1550" dirty="0">
              <a:highlight>
                <a:srgbClr val="FFFF00"/>
              </a:highlight>
            </a:endParaRPr>
          </a:p>
        </p:txBody>
      </p:sp>
      <p:sp>
        <p:nvSpPr>
          <p:cNvPr id="30" name="Text 28"/>
          <p:cNvSpPr/>
          <p:nvPr/>
        </p:nvSpPr>
        <p:spPr>
          <a:xfrm>
            <a:off x="7517487" y="5809536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3,456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10774323" y="5809536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5,540</a:t>
            </a:r>
            <a:endParaRPr lang="en-US" sz="1550" dirty="0">
              <a:highlight>
                <a:srgbClr val="FFFF00"/>
              </a:highlight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01410" y="6253758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000006" y="6380440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4260652" y="6380440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</a:rPr>
              <a:t>3,972</a:t>
            </a:r>
            <a:endParaRPr lang="en-US" sz="1550" dirty="0">
              <a:highlight>
                <a:srgbClr val="FFFF00"/>
              </a:highlight>
            </a:endParaRPr>
          </a:p>
        </p:txBody>
      </p:sp>
      <p:sp>
        <p:nvSpPr>
          <p:cNvPr id="35" name="Text 33"/>
          <p:cNvSpPr/>
          <p:nvPr/>
        </p:nvSpPr>
        <p:spPr>
          <a:xfrm>
            <a:off x="7517487" y="6380440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3,456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10774323" y="6380440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highlight>
                  <a:srgbClr val="FFFF00"/>
                </a:highlight>
              </a:rPr>
              <a:t>7,428</a:t>
            </a:r>
          </a:p>
        </p:txBody>
      </p:sp>
      <p:sp>
        <p:nvSpPr>
          <p:cNvPr id="37" name="Text 35"/>
          <p:cNvSpPr/>
          <p:nvPr/>
        </p:nvSpPr>
        <p:spPr>
          <a:xfrm>
            <a:off x="793790" y="705552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OCF starts at $0 in Year 1 and steadily increases, reaching </a:t>
            </a:r>
            <a:r>
              <a:rPr lang="en-US" sz="155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$7,428,000 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Year 5, indicating improved cash generation over time.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0555"/>
            <a:ext cx="898671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Net Working Capital (NWC) Schedule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64746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Working Capital (NWC) is projected as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5%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sales, with an initial NWC of $2,000,000 in Year 0. Changes in NWC impact cash flow.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218825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Figures in ($,000s)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2729032"/>
            <a:ext cx="13042821" cy="4011573"/>
          </a:xfrm>
          <a:prstGeom prst="roundRect">
            <a:avLst>
              <a:gd name="adj" fmla="val 207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1410" y="2736652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0006" y="2863334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260652" y="2863334"/>
            <a:ext cx="23861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051119" y="2863334"/>
            <a:ext cx="20864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NWC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541907" y="2863334"/>
            <a:ext cx="40887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in NWC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1410" y="3307556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0006" y="3434239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260652" y="3434239"/>
            <a:ext cx="23861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051119" y="3434239"/>
            <a:ext cx="20864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2,000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541907" y="3434239"/>
            <a:ext cx="40887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-2,000 (outflow)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01410" y="3878461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0006" y="4005143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260652" y="4005143"/>
            <a:ext cx="23861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35,000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051119" y="4005143"/>
            <a:ext cx="20864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1,750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541907" y="4005143"/>
            <a:ext cx="40887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+250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801410" y="4449366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00006" y="4576048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260652" y="4576048"/>
            <a:ext cx="23861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37,625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051119" y="4576048"/>
            <a:ext cx="20864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1,881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541907" y="4576048"/>
            <a:ext cx="40887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-131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801410" y="5020270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00006" y="5146953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260652" y="5146953"/>
            <a:ext cx="23861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40,447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7051119" y="5146953"/>
            <a:ext cx="20864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2,022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9541907" y="5146953"/>
            <a:ext cx="40887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-141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801410" y="5591175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00006" y="5717858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4260652" y="5717858"/>
            <a:ext cx="23861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43,481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7051119" y="5717858"/>
            <a:ext cx="20864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2,174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9541907" y="5717858"/>
            <a:ext cx="40887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-152</a:t>
            </a:r>
            <a:endParaRPr lang="en-US" sz="1550" dirty="0"/>
          </a:p>
        </p:txBody>
      </p:sp>
      <p:sp>
        <p:nvSpPr>
          <p:cNvPr id="36" name="Shape 34"/>
          <p:cNvSpPr/>
          <p:nvPr/>
        </p:nvSpPr>
        <p:spPr>
          <a:xfrm>
            <a:off x="801410" y="6162080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00006" y="6288762"/>
            <a:ext cx="2856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4260652" y="6288762"/>
            <a:ext cx="23861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46,752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7051119" y="6288762"/>
            <a:ext cx="208645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2,338</a:t>
            </a:r>
            <a:endParaRPr lang="en-US" sz="1550" dirty="0"/>
          </a:p>
        </p:txBody>
      </p:sp>
      <p:sp>
        <p:nvSpPr>
          <p:cNvPr id="40" name="Text 38"/>
          <p:cNvSpPr/>
          <p:nvPr/>
        </p:nvSpPr>
        <p:spPr>
          <a:xfrm>
            <a:off x="9541907" y="6288762"/>
            <a:ext cx="408872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-164 +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NWC Recovery of 2,338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793790" y="6963847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initial NWC is an outflow, followed by fluctuations. In the final year, there's a significant NWC recovery of 2,338,000 + (-164,000) =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$2,174,000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4733" y="584002"/>
            <a:ext cx="4686895" cy="5662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Free Cash Flow (FCF)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24733" y="1512570"/>
            <a:ext cx="13180933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Cash Flow (FCF) combines Operating Cash Flow OCF, changes in NWC, capital expenditures, and after-tax salvage value to determine the total cash generated by the project.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24733" y="2296239"/>
            <a:ext cx="13180933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Figures in ($,000s)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24733" y="2789992"/>
            <a:ext cx="13180933" cy="4071818"/>
          </a:xfrm>
          <a:prstGeom prst="roundRect">
            <a:avLst>
              <a:gd name="adj" fmla="val 186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2353" y="2797612"/>
            <a:ext cx="13165693" cy="92118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3805" y="2913936"/>
            <a:ext cx="95047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34089" y="2913936"/>
            <a:ext cx="1157407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61303" y="2913936"/>
            <a:ext cx="168663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in NWC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17751" y="2913936"/>
            <a:ext cx="1587818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Capital Spending (CapEx)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5377" y="2913936"/>
            <a:ext cx="1177052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Salvage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22237" y="2913936"/>
            <a:ext cx="439471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FCF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22237" y="3312557"/>
            <a:ext cx="439471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OCF – ΔNWC – CapEx + After-tax Salvage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2353" y="3718798"/>
            <a:ext cx="13165693" cy="52256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3805" y="3835122"/>
            <a:ext cx="95047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34089" y="3835122"/>
            <a:ext cx="1157407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61303" y="3835122"/>
            <a:ext cx="168663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-2,000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17751" y="3835122"/>
            <a:ext cx="1587818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-30,000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5377" y="3835122"/>
            <a:ext cx="1177052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22237" y="3835122"/>
            <a:ext cx="439471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-32,000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2353" y="4241363"/>
            <a:ext cx="13165693" cy="52256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3805" y="4357688"/>
            <a:ext cx="95047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234089" y="4357688"/>
            <a:ext cx="1157407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61303" y="4357688"/>
            <a:ext cx="168663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+250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817751" y="4357688"/>
            <a:ext cx="1587818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5377" y="4357688"/>
            <a:ext cx="1177052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22237" y="4357688"/>
            <a:ext cx="439471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32353" y="4763929"/>
            <a:ext cx="13165693" cy="52256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13805" y="4880253"/>
            <a:ext cx="95047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234089" y="4880253"/>
            <a:ext cx="1157407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1,875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761303" y="4880253"/>
            <a:ext cx="168663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-131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817751" y="4880253"/>
            <a:ext cx="1587818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775377" y="4880253"/>
            <a:ext cx="1177052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322237" y="4880253"/>
            <a:ext cx="439471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1,744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32353" y="5286494"/>
            <a:ext cx="13165693" cy="52256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13805" y="5402818"/>
            <a:ext cx="95047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234089" y="5402818"/>
            <a:ext cx="1157407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3,924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761303" y="5402818"/>
            <a:ext cx="168663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-141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17751" y="5402818"/>
            <a:ext cx="1587818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775377" y="5402818"/>
            <a:ext cx="1177052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322237" y="5402818"/>
            <a:ext cx="439471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3,783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732353" y="5809059"/>
            <a:ext cx="13165693" cy="52256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13805" y="5925383"/>
            <a:ext cx="95047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2234089" y="5925383"/>
            <a:ext cx="1157407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5,540</a:t>
            </a:r>
            <a:endParaRPr lang="en-US" sz="1400" dirty="0">
              <a:highlight>
                <a:srgbClr val="FFFF00"/>
              </a:highlight>
            </a:endParaRPr>
          </a:p>
        </p:txBody>
      </p:sp>
      <p:sp>
        <p:nvSpPr>
          <p:cNvPr id="45" name="Text 43"/>
          <p:cNvSpPr/>
          <p:nvPr/>
        </p:nvSpPr>
        <p:spPr>
          <a:xfrm>
            <a:off x="3761303" y="5925383"/>
            <a:ext cx="168663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-152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817751" y="5925383"/>
            <a:ext cx="1587818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775377" y="5925383"/>
            <a:ext cx="1177052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322237" y="5925383"/>
            <a:ext cx="439471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5,392</a:t>
            </a:r>
            <a:endParaRPr lang="en-US" sz="1400" dirty="0">
              <a:highlight>
                <a:srgbClr val="FFFF00"/>
              </a:highlight>
            </a:endParaRPr>
          </a:p>
        </p:txBody>
      </p:sp>
      <p:sp>
        <p:nvSpPr>
          <p:cNvPr id="49" name="Shape 47"/>
          <p:cNvSpPr/>
          <p:nvPr/>
        </p:nvSpPr>
        <p:spPr>
          <a:xfrm>
            <a:off x="732353" y="6331625"/>
            <a:ext cx="13165693" cy="52256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913805" y="6447949"/>
            <a:ext cx="95047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2234089" y="6447949"/>
            <a:ext cx="1157407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7,428</a:t>
            </a:r>
            <a:endParaRPr lang="en-US" sz="1400" dirty="0">
              <a:highlight>
                <a:srgbClr val="FFFF00"/>
              </a:highlight>
            </a:endParaRPr>
          </a:p>
        </p:txBody>
      </p:sp>
      <p:sp>
        <p:nvSpPr>
          <p:cNvPr id="52" name="Text 50"/>
          <p:cNvSpPr/>
          <p:nvPr/>
        </p:nvSpPr>
        <p:spPr>
          <a:xfrm>
            <a:off x="3761303" y="6447949"/>
            <a:ext cx="1686639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+2,174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817751" y="6447949"/>
            <a:ext cx="1587818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775377" y="6447949"/>
            <a:ext cx="1177052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4,247</a:t>
            </a:r>
            <a:endParaRPr lang="en-US" sz="1400" dirty="0">
              <a:highlight>
                <a:srgbClr val="FFFF00"/>
              </a:highlight>
            </a:endParaRPr>
          </a:p>
        </p:txBody>
      </p:sp>
      <p:sp>
        <p:nvSpPr>
          <p:cNvPr id="55" name="Text 53"/>
          <p:cNvSpPr/>
          <p:nvPr/>
        </p:nvSpPr>
        <p:spPr>
          <a:xfrm>
            <a:off x="9322237" y="6447949"/>
            <a:ext cx="439471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13,849</a:t>
            </a:r>
            <a:endParaRPr lang="en-US" sz="1400" dirty="0">
              <a:highlight>
                <a:srgbClr val="FFFF00"/>
              </a:highlight>
            </a:endParaRPr>
          </a:p>
        </p:txBody>
      </p:sp>
      <p:sp>
        <p:nvSpPr>
          <p:cNvPr id="56" name="Text 54"/>
          <p:cNvSpPr/>
          <p:nvPr/>
        </p:nvSpPr>
        <p:spPr>
          <a:xfrm>
            <a:off x="724733" y="7065645"/>
            <a:ext cx="13180933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starts with a significant FCF outflow in Year 0, followed by increasing positive cash flows, culminating in a large inflow in Year 5 due to NWC recovery and salvage value.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822" y="238502"/>
            <a:ext cx="2299335" cy="658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NPV Calculation</a:t>
            </a:r>
          </a:p>
          <a:p>
            <a:pPr marL="0" indent="0" algn="l">
              <a:lnSpc>
                <a:spcPts val="2050"/>
              </a:lnSpc>
              <a:buNone/>
            </a:pPr>
            <a:endParaRPr lang="en-US" sz="1650" b="1" dirty="0">
              <a:solidFill>
                <a:srgbClr val="000000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>
              <a:lnSpc>
                <a:spcPts val="2050"/>
              </a:lnSpc>
            </a:pPr>
            <a:r>
              <a:rPr lang="en-US" sz="12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Figures in ($,000s)</a:t>
            </a:r>
            <a:endParaRPr lang="en-US" sz="1200" dirty="0"/>
          </a:p>
          <a:p>
            <a:pPr marL="0" indent="0" algn="l">
              <a:lnSpc>
                <a:spcPts val="2050"/>
              </a:lnSpc>
              <a:buNone/>
            </a:pP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675203" y="1086445"/>
            <a:ext cx="7165181" cy="3699034"/>
          </a:xfrm>
          <a:prstGeom prst="roundRect">
            <a:avLst>
              <a:gd name="adj" fmla="val 191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2823" y="1094065"/>
            <a:ext cx="7149941" cy="75771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1773" y="1202888"/>
            <a:ext cx="571738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768554" y="1202888"/>
            <a:ext cx="1213604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27202" y="1202888"/>
            <a:ext cx="1214318" cy="54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 Factor (DF)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86563" y="1202888"/>
            <a:ext cx="1214318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FCF ($000s)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5925" y="1202888"/>
            <a:ext cx="1218128" cy="540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PV = FCF × DF ($000s)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2823" y="1851779"/>
            <a:ext cx="7149941" cy="48768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1773" y="1960602"/>
            <a:ext cx="571738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68554" y="1960602"/>
            <a:ext cx="1213604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1/(1.1207^0)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27202" y="1960602"/>
            <a:ext cx="1214318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1.00000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86563" y="1960602"/>
            <a:ext cx="1214318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–32,000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5925" y="1960602"/>
            <a:ext cx="1218128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–32,000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2823" y="2339459"/>
            <a:ext cx="7149941" cy="48768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51773" y="2448282"/>
            <a:ext cx="571738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68554" y="2448282"/>
            <a:ext cx="1213604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1/(1.1207^1)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27202" y="2448282"/>
            <a:ext cx="1214318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0.89236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86563" y="2448282"/>
            <a:ext cx="1214318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5925" y="2448282"/>
            <a:ext cx="1218128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223.09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2823" y="2827139"/>
            <a:ext cx="7149941" cy="48768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51773" y="2935962"/>
            <a:ext cx="571738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768554" y="2935962"/>
            <a:ext cx="1213604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1/(1.1207^2)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327202" y="2935962"/>
            <a:ext cx="1214318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0.79631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86563" y="2935962"/>
            <a:ext cx="1214318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1,744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45925" y="2935962"/>
            <a:ext cx="1218128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1,388.77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2823" y="3314819"/>
            <a:ext cx="7149941" cy="48768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51773" y="3423642"/>
            <a:ext cx="571738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768554" y="3423642"/>
            <a:ext cx="1213604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1/(1.1207^3)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27202" y="3423642"/>
            <a:ext cx="1214318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0.71054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86563" y="3423642"/>
            <a:ext cx="1214318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3,783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45925" y="3423642"/>
            <a:ext cx="1218128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2,686.19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82823" y="3802499"/>
            <a:ext cx="7149941" cy="48768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51773" y="3911322"/>
            <a:ext cx="571738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768554" y="3911322"/>
            <a:ext cx="1213604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1/(1.1207^4)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327202" y="3911322"/>
            <a:ext cx="1214318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0.63357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86563" y="3911322"/>
            <a:ext cx="1214318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5,392</a:t>
            </a:r>
            <a:endParaRPr lang="en-US" sz="1300" dirty="0">
              <a:highlight>
                <a:srgbClr val="FFFF00"/>
              </a:highlight>
            </a:endParaRPr>
          </a:p>
        </p:txBody>
      </p:sp>
      <p:sp>
        <p:nvSpPr>
          <p:cNvPr id="39" name="Text 37"/>
          <p:cNvSpPr/>
          <p:nvPr/>
        </p:nvSpPr>
        <p:spPr>
          <a:xfrm>
            <a:off x="6445925" y="3911322"/>
            <a:ext cx="1218128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3,416.21</a:t>
            </a:r>
            <a:endParaRPr lang="en-US" sz="1300" dirty="0">
              <a:highlight>
                <a:srgbClr val="FFFF00"/>
              </a:highlight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82823" y="4290179"/>
            <a:ext cx="7149941" cy="48768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51773" y="4399002"/>
            <a:ext cx="571738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768554" y="4399002"/>
            <a:ext cx="1213604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1/(1.1207^5)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327202" y="4399002"/>
            <a:ext cx="1214318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0.56498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886563" y="4399002"/>
            <a:ext cx="1214318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13,849</a:t>
            </a:r>
            <a:endParaRPr lang="en-US" sz="1300" dirty="0">
              <a:highlight>
                <a:srgbClr val="FFFF00"/>
              </a:highlight>
            </a:endParaRPr>
          </a:p>
        </p:txBody>
      </p:sp>
      <p:sp>
        <p:nvSpPr>
          <p:cNvPr id="45" name="Text 43"/>
          <p:cNvSpPr/>
          <p:nvPr/>
        </p:nvSpPr>
        <p:spPr>
          <a:xfrm>
            <a:off x="6445925" y="4399002"/>
            <a:ext cx="1218128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7,824.41</a:t>
            </a:r>
            <a:endParaRPr lang="en-US" sz="1300" dirty="0">
              <a:highlight>
                <a:srgbClr val="FFFF00"/>
              </a:highlight>
            </a:endParaRPr>
          </a:p>
        </p:txBody>
      </p:sp>
      <p:sp>
        <p:nvSpPr>
          <p:cNvPr id="46" name="Text 44"/>
          <p:cNvSpPr/>
          <p:nvPr/>
        </p:nvSpPr>
        <p:spPr>
          <a:xfrm>
            <a:off x="675203" y="4975384"/>
            <a:ext cx="7165181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NPV Calculation</a:t>
            </a:r>
            <a:endParaRPr lang="en-US" sz="1300" dirty="0"/>
          </a:p>
        </p:txBody>
      </p:sp>
      <p:sp>
        <p:nvSpPr>
          <p:cNvPr id="49" name="Text 45"/>
          <p:cNvSpPr/>
          <p:nvPr/>
        </p:nvSpPr>
        <p:spPr>
          <a:xfrm>
            <a:off x="2012165" y="5535373"/>
            <a:ext cx="3376136" cy="422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NPV = </a:t>
            </a:r>
            <a:r>
              <a:rPr lang="en-US" sz="2650" b="1" dirty="0">
                <a:solidFill>
                  <a:srgbClr val="000000"/>
                </a:solidFill>
                <a:highlight>
                  <a:srgbClr val="FFFF00"/>
                </a:highlight>
                <a:latin typeface="Inter Bold" pitchFamily="34" charset="0"/>
                <a:ea typeface="Inter Bold" pitchFamily="34" charset="-122"/>
                <a:cs typeface="Inter Bold" pitchFamily="34" charset="-120"/>
              </a:rPr>
              <a:t>-16,461,000</a:t>
            </a:r>
            <a:endParaRPr lang="en-US" sz="2650" dirty="0">
              <a:highlight>
                <a:srgbClr val="FFFF00"/>
              </a:highlight>
            </a:endParaRPr>
          </a:p>
        </p:txBody>
      </p:sp>
      <p:sp>
        <p:nvSpPr>
          <p:cNvPr id="50" name="Text 46"/>
          <p:cNvSpPr/>
          <p:nvPr/>
        </p:nvSpPr>
        <p:spPr>
          <a:xfrm>
            <a:off x="8259723" y="632817"/>
            <a:ext cx="2110026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IRR Calculation</a:t>
            </a:r>
            <a:endParaRPr lang="en-US" sz="1650" dirty="0"/>
          </a:p>
        </p:txBody>
      </p:sp>
      <p:sp>
        <p:nvSpPr>
          <p:cNvPr id="51" name="Text 47"/>
          <p:cNvSpPr/>
          <p:nvPr/>
        </p:nvSpPr>
        <p:spPr>
          <a:xfrm>
            <a:off x="8259723" y="1065252"/>
            <a:ext cx="2645569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Excel IRR formula:</a:t>
            </a:r>
            <a:endParaRPr lang="en-US" sz="1300" dirty="0"/>
          </a:p>
        </p:txBody>
      </p:sp>
      <p:pic>
        <p:nvPicPr>
          <p:cNvPr id="5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9723" y="1525191"/>
            <a:ext cx="2645569" cy="165735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8259723" y="1880830"/>
            <a:ext cx="2645569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IRR = </a:t>
            </a:r>
            <a:r>
              <a:rPr lang="en-US" sz="130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-6%</a:t>
            </a:r>
            <a:endParaRPr lang="en-US" sz="1300" dirty="0">
              <a:highlight>
                <a:srgbClr val="FFFF00"/>
              </a:highlight>
            </a:endParaRPr>
          </a:p>
        </p:txBody>
      </p:sp>
      <p:sp>
        <p:nvSpPr>
          <p:cNvPr id="54" name="Text 49"/>
          <p:cNvSpPr/>
          <p:nvPr/>
        </p:nvSpPr>
        <p:spPr>
          <a:xfrm>
            <a:off x="8259723" y="2302788"/>
            <a:ext cx="2645569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IRR is </a:t>
            </a: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unreliable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because: </a:t>
            </a:r>
            <a:endParaRPr lang="en-US" sz="1300" dirty="0"/>
          </a:p>
        </p:txBody>
      </p:sp>
      <p:sp>
        <p:nvSpPr>
          <p:cNvPr id="55" name="Text 50"/>
          <p:cNvSpPr/>
          <p:nvPr/>
        </p:nvSpPr>
        <p:spPr>
          <a:xfrm>
            <a:off x="8259723" y="2724745"/>
            <a:ext cx="2645569" cy="2430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</a:t>
            </a: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has non-conventional cash flows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Presence of: </a:t>
            </a:r>
            <a:b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large outflow (Year 0) </a:t>
            </a:r>
            <a:b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small inflows </a:t>
            </a:r>
            <a:b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</a:b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 a large terminal inflow (salvage + NWC recovery) This can create multiple IRRs or misleading values.</a:t>
            </a:r>
            <a:endParaRPr lang="en-US" sz="1300" dirty="0"/>
          </a:p>
        </p:txBody>
      </p:sp>
      <p:sp>
        <p:nvSpPr>
          <p:cNvPr id="56" name="Text 51"/>
          <p:cNvSpPr/>
          <p:nvPr/>
        </p:nvSpPr>
        <p:spPr>
          <a:xfrm>
            <a:off x="8259723" y="5306973"/>
            <a:ext cx="2645569" cy="1080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</a:t>
            </a: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Reinvestment assumption is unrealistic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IRR assumes reinvestment at the IRR itself (-5%), which is too low. </a:t>
            </a:r>
            <a:endParaRPr lang="en-US" sz="1300" dirty="0"/>
          </a:p>
        </p:txBody>
      </p:sp>
      <p:sp>
        <p:nvSpPr>
          <p:cNvPr id="57" name="Text 52"/>
          <p:cNvSpPr/>
          <p:nvPr/>
        </p:nvSpPr>
        <p:spPr>
          <a:xfrm>
            <a:off x="8259723" y="6539032"/>
            <a:ext cx="2645569" cy="1080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</a:t>
            </a: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problem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IRR ignores value magnitude; a project could have a high IRR but negative NPV.</a:t>
            </a:r>
            <a:endParaRPr lang="en-US" sz="1300" dirty="0"/>
          </a:p>
        </p:txBody>
      </p:sp>
      <p:sp>
        <p:nvSpPr>
          <p:cNvPr id="58" name="Text 53"/>
          <p:cNvSpPr/>
          <p:nvPr/>
        </p:nvSpPr>
        <p:spPr>
          <a:xfrm>
            <a:off x="11324630" y="632817"/>
            <a:ext cx="2110026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MIRR Calculation</a:t>
            </a:r>
            <a:endParaRPr lang="en-US" sz="1650" dirty="0"/>
          </a:p>
        </p:txBody>
      </p:sp>
      <p:sp>
        <p:nvSpPr>
          <p:cNvPr id="59" name="Text 54"/>
          <p:cNvSpPr/>
          <p:nvPr/>
        </p:nvSpPr>
        <p:spPr>
          <a:xfrm>
            <a:off x="11324630" y="1065252"/>
            <a:ext cx="2645569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Excel IRR formula:</a:t>
            </a:r>
            <a:endParaRPr lang="en-US" sz="1300" dirty="0"/>
          </a:p>
        </p:txBody>
      </p:sp>
      <p:pic>
        <p:nvPicPr>
          <p:cNvPr id="6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0256" y="1525191"/>
            <a:ext cx="3009978" cy="133588"/>
          </a:xfrm>
          <a:prstGeom prst="rect">
            <a:avLst/>
          </a:prstGeom>
        </p:spPr>
      </p:pic>
      <p:sp>
        <p:nvSpPr>
          <p:cNvPr id="61" name="Text 55"/>
          <p:cNvSpPr/>
          <p:nvPr/>
        </p:nvSpPr>
        <p:spPr>
          <a:xfrm>
            <a:off x="11324630" y="1810703"/>
            <a:ext cx="2645569" cy="270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MIRR = -3%</a:t>
            </a:r>
            <a:endParaRPr lang="en-US" sz="1300" dirty="0"/>
          </a:p>
        </p:txBody>
      </p:sp>
      <p:sp>
        <p:nvSpPr>
          <p:cNvPr id="62" name="Text 56"/>
          <p:cNvSpPr/>
          <p:nvPr/>
        </p:nvSpPr>
        <p:spPr>
          <a:xfrm>
            <a:off x="11324630" y="2232660"/>
            <a:ext cx="2645569" cy="1350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MIRR IS preferred?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IRR assumes cash flows are reinvested at the IRR itself </a:t>
            </a:r>
            <a:r>
              <a:rPr lang="en-US" sz="130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(-6%), 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is </a:t>
            </a: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unrealistic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.MIRR fixes this by:</a:t>
            </a:r>
            <a:endParaRPr lang="en-US" sz="1300" dirty="0"/>
          </a:p>
        </p:txBody>
      </p:sp>
      <p:sp>
        <p:nvSpPr>
          <p:cNvPr id="63" name="Text 57"/>
          <p:cNvSpPr/>
          <p:nvPr/>
        </p:nvSpPr>
        <p:spPr>
          <a:xfrm>
            <a:off x="11324630" y="3734753"/>
            <a:ext cx="2645569" cy="810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discounting negative cash flows at the </a:t>
            </a: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 rate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(12.</a:t>
            </a:r>
            <a:r>
              <a:rPr lang="en-US" sz="130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%)</a:t>
            </a:r>
            <a:endParaRPr lang="en-US" sz="1300" dirty="0"/>
          </a:p>
        </p:txBody>
      </p:sp>
      <p:sp>
        <p:nvSpPr>
          <p:cNvPr id="64" name="Text 58"/>
          <p:cNvSpPr/>
          <p:nvPr/>
        </p:nvSpPr>
        <p:spPr>
          <a:xfrm>
            <a:off x="11324630" y="4603909"/>
            <a:ext cx="2645569" cy="810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compounding positive cash flows at the </a:t>
            </a: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reinvestment rate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(12.</a:t>
            </a:r>
            <a:r>
              <a:rPr lang="en-US" sz="130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%)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52607"/>
            <a:ext cx="680061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Valuation &amp; Decision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1770340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key valuation metrics indicate that the project should be rejected, as it is projected to destroy value.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793790" y="2628662"/>
            <a:ext cx="7556421" cy="3254812"/>
          </a:xfrm>
          <a:prstGeom prst="roundRect">
            <a:avLst>
              <a:gd name="adj" fmla="val 256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801410" y="2636282"/>
            <a:ext cx="3770590" cy="1778556"/>
          </a:xfrm>
          <a:prstGeom prst="roundRect">
            <a:avLst>
              <a:gd name="adj" fmla="val 4687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99768" y="283464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NPV: </a:t>
            </a:r>
            <a:r>
              <a:rPr lang="en-US" sz="1950" b="1" dirty="0">
                <a:solidFill>
                  <a:srgbClr val="272525"/>
                </a:solidFill>
                <a:highlight>
                  <a:srgbClr val="FFFF00"/>
                </a:highlight>
                <a:latin typeface="Inter Bold" pitchFamily="34" charset="0"/>
                <a:ea typeface="Inter Bold" pitchFamily="34" charset="-122"/>
                <a:cs typeface="Inter Bold" pitchFamily="34" charset="-120"/>
              </a:rPr>
              <a:t>-$16,461,000</a:t>
            </a:r>
            <a:endParaRPr lang="en-US" sz="1950" dirty="0">
              <a:highlight>
                <a:srgbClr val="FFFF00"/>
              </a:highlight>
            </a:endParaRPr>
          </a:p>
        </p:txBody>
      </p:sp>
      <p:sp>
        <p:nvSpPr>
          <p:cNvPr id="8" name="Text 5"/>
          <p:cNvSpPr/>
          <p:nvPr/>
        </p:nvSpPr>
        <p:spPr>
          <a:xfrm>
            <a:off x="999768" y="3263860"/>
            <a:ext cx="337387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project destroys approximately $16.4 million in value. </a:t>
            </a:r>
            <a:r>
              <a:rPr lang="en-US" sz="15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Decision: Reject.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4572000" y="2636282"/>
            <a:ext cx="3770590" cy="1778556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0" y="2636282"/>
            <a:ext cx="22860" cy="1778556"/>
          </a:xfrm>
          <a:prstGeom prst="roundRect">
            <a:avLst>
              <a:gd name="adj" fmla="val 364651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770358" y="283464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IRR: </a:t>
            </a:r>
            <a:r>
              <a:rPr lang="en-US" sz="1950" b="1" dirty="0">
                <a:solidFill>
                  <a:srgbClr val="272525"/>
                </a:solidFill>
                <a:highlight>
                  <a:srgbClr val="FFFF00"/>
                </a:highlight>
                <a:latin typeface="Inter Bold" pitchFamily="34" charset="0"/>
                <a:ea typeface="Inter Bold" pitchFamily="34" charset="-122"/>
                <a:cs typeface="Inter Bold" pitchFamily="34" charset="-120"/>
              </a:rPr>
              <a:t>-6%</a:t>
            </a:r>
            <a:endParaRPr lang="en-US" sz="1950" dirty="0">
              <a:highlight>
                <a:srgbClr val="FFFF00"/>
              </a:highlight>
            </a:endParaRPr>
          </a:p>
        </p:txBody>
      </p:sp>
      <p:sp>
        <p:nvSpPr>
          <p:cNvPr id="12" name="Text 9"/>
          <p:cNvSpPr/>
          <p:nvPr/>
        </p:nvSpPr>
        <p:spPr>
          <a:xfrm>
            <a:off x="4770358" y="3263860"/>
            <a:ext cx="337387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Internal Rate of Return is significantly below the required return of 12.</a:t>
            </a:r>
            <a:r>
              <a:rPr lang="en-US" sz="155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%. </a:t>
            </a:r>
            <a:r>
              <a:rPr lang="en-US" sz="15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Decision: Reject.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801410" y="4414838"/>
            <a:ext cx="7541181" cy="1461016"/>
          </a:xfrm>
          <a:prstGeom prst="rect">
            <a:avLst/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01410" y="4414838"/>
            <a:ext cx="7541181" cy="22860"/>
          </a:xfrm>
          <a:prstGeom prst="roundRect">
            <a:avLst>
              <a:gd name="adj" fmla="val 364651"/>
            </a:avLst>
          </a:prstGeom>
          <a:solidFill>
            <a:srgbClr val="C0C1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99768" y="461319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MIRR: -3%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999768" y="5042416"/>
            <a:ext cx="71444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Modified Internal Rate of Return also shows the project destroys value. </a:t>
            </a:r>
            <a:r>
              <a:rPr lang="en-US" sz="15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Decision: Reject.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793790" y="6106716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a comprehensive analysis of NPV, IRR, and MIRR, the NIKE 5-year product expansion project is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financially viable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All metrics consistently point to a negative value creation, therefore, NIKE should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proceed with this project.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0669" y="520660"/>
            <a:ext cx="6783467" cy="46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Determining the Proper Discount Rate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90669" y="1041202"/>
            <a:ext cx="3415903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Principle: Risk Adjustment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90669" y="1539597"/>
            <a:ext cx="13449062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discount rate must reflect the </a:t>
            </a: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of the project's cash flows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0669" y="1827490"/>
            <a:ext cx="13449062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risk requires a higher rate of return.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0669" y="2285167"/>
            <a:ext cx="2876669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Discount Rate Comparison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0669" y="2783562"/>
            <a:ext cx="13449062" cy="1344930"/>
          </a:xfrm>
          <a:prstGeom prst="roundRect">
            <a:avLst>
              <a:gd name="adj" fmla="val 461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98289" y="2791182"/>
            <a:ext cx="13433822" cy="66484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6046" y="2887385"/>
            <a:ext cx="1928217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WACC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977158" y="2887385"/>
            <a:ext cx="1190863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</a:t>
            </a:r>
            <a:r>
              <a:rPr lang="en-US" sz="115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70916" y="2887385"/>
            <a:ext cx="941355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average rate of return a company expects to pay to finance its assets, representing the average risk of the firm's existing operations.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8289" y="3456027"/>
            <a:ext cx="13433822" cy="66484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6046" y="3552230"/>
            <a:ext cx="1928217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Hurdle Rate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977158" y="3552230"/>
            <a:ext cx="1190863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</a:t>
            </a:r>
            <a:r>
              <a:rPr lang="en-US" sz="1150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70916" y="3552230"/>
            <a:ext cx="941355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minimum acceptable rate of return for a specific project, adjusted for its unique risk characteristics. For this project, a 2% risk premium was added to the WACC due to the higher perceived risk of entering a new product segment.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0669" y="4349948"/>
            <a:ext cx="3498294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Rationale for Project Hurdle Rate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90669" y="4848344"/>
            <a:ext cx="13449062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is a </a:t>
            </a: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expansion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making it riskier than Nike's core business due to: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0669" y="5250656"/>
            <a:ext cx="13449062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Market/Product Uncertainty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0669" y="5538549"/>
            <a:ext cx="13449062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 predictable cash flows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0669" y="5940862"/>
            <a:ext cx="13449062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+2% risk premium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directly compensates for this higher uncertainty.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0669" y="6398538"/>
            <a:ext cx="2466737" cy="276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Final Recommendation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90669" y="6896933"/>
            <a:ext cx="13449062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 Discount Rate: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</a:t>
            </a:r>
            <a:r>
              <a:rPr lang="en-US" sz="1150" b="1" dirty="0">
                <a:solidFill>
                  <a:srgbClr val="272525"/>
                </a:solidFill>
                <a:highlight>
                  <a:srgbClr val="FFFF00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0669" y="7184827"/>
            <a:ext cx="13449062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our investment hurdle.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project must generate a positive NPV when discounted at this rate.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90669" y="7472720"/>
            <a:ext cx="13449062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this risk-adjusted rate provides a conservative and financially sound basis for the </a:t>
            </a:r>
            <a:r>
              <a:rPr lang="en-US" sz="11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 decision</a:t>
            </a: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53389" y="2867025"/>
            <a:ext cx="9923621" cy="124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750"/>
              </a:lnSpc>
              <a:buNone/>
            </a:pPr>
            <a:r>
              <a:rPr lang="en-US" sz="7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7800" dirty="0"/>
          </a:p>
        </p:txBody>
      </p:sp>
      <p:sp>
        <p:nvSpPr>
          <p:cNvPr id="3" name="Text 1"/>
          <p:cNvSpPr/>
          <p:nvPr/>
        </p:nvSpPr>
        <p:spPr>
          <a:xfrm>
            <a:off x="793790" y="450425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appreciate your attention during this presentation.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2541</Words>
  <Application>Microsoft Office PowerPoint</Application>
  <PresentationFormat>Custom</PresentationFormat>
  <Paragraphs>540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Inter Bold</vt:lpstr>
      <vt:lpstr>Arial</vt:lpstr>
      <vt:lpstr>Inter</vt:lpstr>
      <vt:lpstr>Times New Roman</vt:lpstr>
      <vt:lpstr>Calibri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Mutungi, Vincent</cp:lastModifiedBy>
  <cp:revision>2</cp:revision>
  <dcterms:created xsi:type="dcterms:W3CDTF">2025-11-19T06:07:50Z</dcterms:created>
  <dcterms:modified xsi:type="dcterms:W3CDTF">2025-12-04T19:22:08Z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cb311d3-aea9-4488-bc88-99739ecc7603_Enabled">
    <vt:lpwstr>true</vt:lpwstr>
  </property>
  <property fmtid="{D5CDD505-2E9C-101B-9397-08002B2CF9AE}" pid="3" name="MSIP_Label_8cb311d3-aea9-4488-bc88-99739ecc7603_SetDate">
    <vt:lpwstr>2025-11-19T06:46:50Z</vt:lpwstr>
  </property>
  <property fmtid="{D5CDD505-2E9C-101B-9397-08002B2CF9AE}" pid="4" name="MSIP_Label_8cb311d3-aea9-4488-bc88-99739ecc7603_Method">
    <vt:lpwstr>Standard</vt:lpwstr>
  </property>
  <property fmtid="{D5CDD505-2E9C-101B-9397-08002B2CF9AE}" pid="5" name="MSIP_Label_8cb311d3-aea9-4488-bc88-99739ecc7603_Name">
    <vt:lpwstr>Internal - University</vt:lpwstr>
  </property>
  <property fmtid="{D5CDD505-2E9C-101B-9397-08002B2CF9AE}" pid="6" name="MSIP_Label_8cb311d3-aea9-4488-bc88-99739ecc7603_SiteId">
    <vt:lpwstr>9c36a7d0-bf7b-4991-9b78-be91a52f0226</vt:lpwstr>
  </property>
  <property fmtid="{D5CDD505-2E9C-101B-9397-08002B2CF9AE}" pid="7" name="MSIP_Label_8cb311d3-aea9-4488-bc88-99739ecc7603_ActionId">
    <vt:lpwstr>1a736c72-6d71-48b9-8034-f4dc0775028e</vt:lpwstr>
  </property>
  <property fmtid="{D5CDD505-2E9C-101B-9397-08002B2CF9AE}" pid="8" name="MSIP_Label_8cb311d3-aea9-4488-bc88-99739ecc7603_ContentBits">
    <vt:lpwstr>0</vt:lpwstr>
  </property>
  <property fmtid="{D5CDD505-2E9C-101B-9397-08002B2CF9AE}" pid="9" name="MSIP_Label_8cb311d3-aea9-4488-bc88-99739ecc7603_Tag">
    <vt:lpwstr>10, 3, 0, 1</vt:lpwstr>
  </property>
</Properties>
</file>