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045857"/>
            <a:ext cx="7627382" cy="124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Nike Inc. Stock Return and Portfolio Analysis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58309" y="4577239"/>
            <a:ext cx="76273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report quantifies Nike's performance, systematic risk, and portfolio diversification benefits from May 2022 to April 2025.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08810"/>
            <a:ext cx="7713464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Research Methodology and Data Foundation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58309" y="2881551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Analysis Framework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58309" y="3382804"/>
            <a:ext cx="632567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study analyzes Nike Inc. (NKE US Equity) performance against the S&amp;P 500 Index over a 36-month period from May 2022 to April 2025. We use monthly stock price and dividend data to provide a comprehensive view of total shareholder return.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58309" y="4766429"/>
            <a:ext cx="632567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analysis period captures Nike's performance through significant macroeconomic shifts, including post-pandemic recovery, inflationary pressures, and market normalization.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54039" y="2881551"/>
            <a:ext cx="3596878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Sources and Risk-Free Rate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54039" y="3382804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Data Source: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Bloomberg Terminal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54039" y="3856672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Official closing prices (adjusted for corporate actions)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54039" y="4226243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Dividend per share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554039" y="4595813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index returns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554039" y="5069681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Risk-Free Rate: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0.3611% monthly (3-month T-bill average).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54039" y="5543550"/>
            <a:ext cx="632567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rate is essential for calculating excess returns and evaluating Nike's compensation for systematic risk exposure.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422" y="486966"/>
            <a:ext cx="7494151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Monthly Return Calculations and Methodology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08422" y="1307306"/>
            <a:ext cx="13213556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returns were calculated using the total return formula, which incorporates both price changes and dividend income: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08422" y="1814751"/>
            <a:ext cx="13213556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2" y="1814751"/>
            <a:ext cx="13213556" cy="543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422" y="2582347"/>
            <a:ext cx="13213556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Where:</a:t>
            </a:r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r_t = monthly return in period t, P_t = closing price in period t, P_{t-1} = prior month closing price, D_t = dividends paid in period 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8422" y="3064907"/>
            <a:ext cx="1321355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formula captures the complete economic return to equity holders, including dividends. For non-dividend months, only price appreciation is measured; Nike's consistent quarterly dividends were integrated into monthly aggregations as relevant.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8422" y="3830836"/>
            <a:ext cx="1321355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Official closing prices from Bloomberg prevent distortions from intraday volatility and corporate actions, as adjustments for stock splits and other capital transactions are automatically applied.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22" y="4596765"/>
            <a:ext cx="13213556" cy="28739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8422" y="7669887"/>
            <a:ext cx="13213556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726" y="497205"/>
            <a:ext cx="12088297" cy="43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Nike's Return Performance: Arithmetic, Geometric, and Holding Period Returns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26" y="1266825"/>
            <a:ext cx="11497151" cy="2005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4726" y="3458885"/>
            <a:ext cx="13300948" cy="265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complementary measures reveal Nike's significant underperformance during the analysis period: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4726" y="3994666"/>
            <a:ext cx="429518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-1.47%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19476" y="4534495"/>
            <a:ext cx="2585680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Arithmetic Average Return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4726" y="4907518"/>
            <a:ext cx="4295180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average, incorporating all return observations equally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67551" y="3994666"/>
            <a:ext cx="429518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-1.98%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037540" y="4534495"/>
            <a:ext cx="2555200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Geometric Average Return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167551" y="4907518"/>
            <a:ext cx="4295180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Compound monthly return reflecting actual wealth accumulation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70375" y="3994666"/>
            <a:ext cx="429518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-50.26% / -48.96%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0724436" y="4534495"/>
            <a:ext cx="2186940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Holding Period Return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70375" y="4907518"/>
            <a:ext cx="4295180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Cumulative three-year return: investor would lose over half initial capital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4726" y="5626179"/>
            <a:ext cx="13300948" cy="79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return measures collectively highlight Nike's significant underperformance. The arithmetic average of -1.47% indicates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monthly losses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while the more negative geometric average of -1.98%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underscores the compounding impact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 these losses. A -50.26% holding period return confirms a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substantial wealth destruction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over the three-year analysis, revealing a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dramatic decline in investor value.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4726" y="6610707"/>
            <a:ext cx="13300948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compounded method 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(-50.26%) assumes dividends are reinvested into the stock monthly, compounding effects on the investment base. In Nike's declining market, this amplifies losses as reinvested amounts face further price drops.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4726" y="7200543"/>
            <a:ext cx="13300948" cy="53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method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(-48.96%) treats dividends as non-reinvested cash, adding total dividends ($4.26) to the price change without compounding, resulting in a less negative return.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30360"/>
            <a:ext cx="8524994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Risk Analysis: Total and Systematic Risk Profiles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58309" y="2808327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 exhibits substantially elevated risk compared to the broader market: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58309" y="3514368"/>
            <a:ext cx="340018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Risk (Standard Deviation)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58309" y="4015621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10.00% monthly (120% annualized)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8309" y="4489490"/>
            <a:ext cx="632567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S&amp;P 500: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4.80% monthly (58% annualized)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8309" y="4963358"/>
            <a:ext cx="632567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Nike's total risk is 2.08 times the market. This reflects volatility from supply chain issues, competitive pressures, and inventory challenges.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54039" y="3514368"/>
            <a:ext cx="2509957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Systematic Risk (Beta)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54039" y="4065984"/>
            <a:ext cx="6325672" cy="609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16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4039" y="4065984"/>
            <a:ext cx="6325672" cy="60971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54039" y="4915614"/>
            <a:ext cx="632567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Nike's beta of 1.2574 classifies it as an aggressive stock, amplifying market movements by 26%. This elevated systematic risk indicates high sensitivity to overall economic conditions and market sentiment.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40713"/>
            <a:ext cx="8029099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CAPM Valuation and the Reward-to-Risk Ratio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58309" y="1818680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Capital Asset Pricing Model evaluates if expected returns compensate investors for systematic risk exposure. The Treynor Ratio compares excess return per unit of systematic risk: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756" y="2638425"/>
            <a:ext cx="2914769" cy="710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3562469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58309" y="4078962"/>
            <a:ext cx="6462117" cy="1873687"/>
          </a:xfrm>
          <a:prstGeom prst="roundRect">
            <a:avLst>
              <a:gd name="adj" fmla="val 5856"/>
            </a:avLst>
          </a:prstGeom>
          <a:solidFill>
            <a:srgbClr val="FFFFFF"/>
          </a:solidFill>
          <a:ln w="22860">
            <a:solidFill>
              <a:srgbClr val="75BA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5449" y="4078962"/>
            <a:ext cx="91440" cy="1873687"/>
          </a:xfrm>
          <a:prstGeom prst="roundRect">
            <a:avLst>
              <a:gd name="adj" fmla="val 310990"/>
            </a:avLst>
          </a:prstGeom>
          <a:solidFill>
            <a:srgbClr val="75BAE6"/>
          </a:solidFill>
          <a:ln/>
        </p:spPr>
      </p:sp>
      <p:sp>
        <p:nvSpPr>
          <p:cNvPr id="8" name="Text 5"/>
          <p:cNvSpPr/>
          <p:nvPr/>
        </p:nvSpPr>
        <p:spPr>
          <a:xfrm>
            <a:off x="1039297" y="4291370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Nike's Treynor Ratio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9297" y="4716780"/>
            <a:ext cx="59687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(-1.47% - 0.36%) / 1.2574 = -0.0145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39297" y="5133737"/>
            <a:ext cx="59687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Negative excess returns, indicating inadequate compensation for market sensitivity.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09974" y="4078962"/>
            <a:ext cx="6462117" cy="1873687"/>
          </a:xfrm>
          <a:prstGeom prst="roundRect">
            <a:avLst>
              <a:gd name="adj" fmla="val 5856"/>
            </a:avLst>
          </a:prstGeom>
          <a:solidFill>
            <a:srgbClr val="FFFFFF"/>
          </a:solidFill>
          <a:ln w="22860">
            <a:solidFill>
              <a:srgbClr val="2589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87114" y="4078962"/>
            <a:ext cx="91440" cy="1873687"/>
          </a:xfrm>
          <a:prstGeom prst="roundRect">
            <a:avLst>
              <a:gd name="adj" fmla="val 310990"/>
            </a:avLst>
          </a:prstGeom>
          <a:solidFill>
            <a:srgbClr val="2589C9"/>
          </a:solidFill>
          <a:ln/>
        </p:spPr>
      </p:sp>
      <p:sp>
        <p:nvSpPr>
          <p:cNvPr id="13" name="Text 10"/>
          <p:cNvSpPr/>
          <p:nvPr/>
        </p:nvSpPr>
        <p:spPr>
          <a:xfrm>
            <a:off x="7690961" y="4291370"/>
            <a:ext cx="329529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Market Portfolio Treynor Ratio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7690961" y="4716780"/>
            <a:ext cx="596872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(1.10% - 0.36%) / 1.0 = 0.0074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90961" y="5133737"/>
            <a:ext cx="596872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Positive reward-to-risk, compensating investors for systematic risk.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58309" y="6165890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Pricing Decision: OVERPRICED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758309" y="6682383"/>
            <a:ext cx="13113782" cy="60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Nike's negative Treynor Ratio, compared to the market's positive ratio, indicates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overpricing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under </a:t>
            </a:r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CAPM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The stock provided negative excess returns despite bearing above-market systematic risk, violating risk-return equilibrium.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95983"/>
            <a:ext cx="10724198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Comparative Performance: Nike vs. S&amp;P 500 Market Portfolio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58309" y="2073950"/>
            <a:ext cx="13113782" cy="3836551"/>
          </a:xfrm>
          <a:prstGeom prst="roundRect">
            <a:avLst>
              <a:gd name="adj" fmla="val 741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29" y="2081570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55715" y="2202894"/>
            <a:ext cx="42014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543907" y="2202894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 (NKE)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25577" y="2202894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S&amp;P 500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07247" y="2202894"/>
            <a:ext cx="23676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65929" y="2627471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55715" y="2748796"/>
            <a:ext cx="42014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Arithmetic Avg. Return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543907" y="2748796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-1.47%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25577" y="2748796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1.10%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307247" y="2748796"/>
            <a:ext cx="23676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-2.57%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5929" y="3173373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5715" y="3294697"/>
            <a:ext cx="42014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Geometric Avg. Return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543907" y="3294697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-1.98%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25577" y="3294697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0.98%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307247" y="3294697"/>
            <a:ext cx="23676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-2.96%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65929" y="3719274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55715" y="3840599"/>
            <a:ext cx="42014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Holding Period Return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543907" y="3840599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-50.26%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25577" y="3840599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40.90%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307247" y="3840599"/>
            <a:ext cx="23676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-91.16%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65929" y="4265176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55715" y="4386501"/>
            <a:ext cx="42014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Risk (SD)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543907" y="4386501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10.00%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425577" y="4386501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4.80%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307247" y="4386501"/>
            <a:ext cx="23676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5.20%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65929" y="4811077"/>
            <a:ext cx="13098542" cy="5459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55715" y="4932402"/>
            <a:ext cx="42014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 Risk (Beta)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543907" y="4932402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1.2574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25577" y="4932402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1.0000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307247" y="4932402"/>
            <a:ext cx="23676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0.2574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765929" y="5356979"/>
            <a:ext cx="13098542" cy="5459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55715" y="5478304"/>
            <a:ext cx="4201478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Treynor Ratio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543907" y="5478304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-0.0145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425577" y="5478304"/>
            <a:ext cx="2494955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0.0074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1307247" y="5478304"/>
            <a:ext cx="23676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-0.0219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758309" y="6123742"/>
            <a:ext cx="1311378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Nike significantly underperformed the market over three years, delivering 91.16 percentage points lower returns with 5.20 percentage points higher volatility. This unfavorable risk-return profile is driven by company-specific headwinds: supply chain issues, intense competition, inventory corrections, and valuation mean reversion.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606" y="450056"/>
            <a:ext cx="7334369" cy="43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Portfolio Construction: 50% Nike / 50% S&amp;P 500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1906" y="1208008"/>
            <a:ext cx="6986468" cy="40915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4606" y="5483662"/>
            <a:ext cx="1332118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54606" y="5929670"/>
            <a:ext cx="1332118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Combining Nike with the market portfolio demonstrates significant diversification benefits: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4606" y="6375678"/>
            <a:ext cx="368141" cy="368141"/>
          </a:xfrm>
          <a:prstGeom prst="roundRect">
            <a:avLst>
              <a:gd name="adj" fmla="val 6668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9493" y="6398240"/>
            <a:ext cx="25836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6339" y="6431875"/>
            <a:ext cx="2153483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Return Improvement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86339" y="6799183"/>
            <a:ext cx="602658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Arithmetic Average: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-0.19% (vs. Nike's -1.47%)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86339" y="7159228"/>
            <a:ext cx="602658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Geometric Average: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-0.41% (vs. -1.98%)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86339" y="7519273"/>
            <a:ext cx="602658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Holding Period Return: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-13.36% (vs. Nike's -50.26%)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17475" y="6375678"/>
            <a:ext cx="368141" cy="368141"/>
          </a:xfrm>
          <a:prstGeom prst="roundRect">
            <a:avLst>
              <a:gd name="adj" fmla="val 6668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2363" y="6398240"/>
            <a:ext cx="258366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949208" y="6431875"/>
            <a:ext cx="2153483" cy="26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Risk Reduction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949208" y="6799183"/>
            <a:ext cx="602658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Correlation (Nike):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0.6029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949208" y="7159228"/>
            <a:ext cx="602658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Risk: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6.72% (vs. Nike's 10.00%)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949208" y="7519273"/>
            <a:ext cx="602658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 Risk (Beta):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1.1287 (vs. 1.2574)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60289"/>
            <a:ext cx="9245203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Portfolio Analysis: Performance Metrics Comparison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58309" y="2238256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three-way comparison highlights the effectiveness of portfolio construction in managing underperforming assets: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754749"/>
            <a:ext cx="13113782" cy="26883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309" y="5656302"/>
            <a:ext cx="1311378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Portfolio's arithmetic average return (-0.19%) and geometric average (-0.41%) are less negative than Nike's, benefiting from the market's positive contributions. Risk metrics also enhance: total risk decreases to 6.72% through diversification (aided by the 0.60 correlation), and beta drops to 1.1287, approaching market levels. Overall, the portfolio demonstrates diversification's benefits, yielding a more stable risk-return profile by offsetting Nike's underperformance and high risk with the market's stability, aligning with portfolio theory principles.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690920"/>
            <a:ext cx="8949571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Strategic Conclusions and Investment Implications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58309" y="1568887"/>
            <a:ext cx="13113782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analysis reveals key insights for investment decision-making and portfolio management: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58309" y="2085380"/>
            <a:ext cx="6462117" cy="2631877"/>
          </a:xfrm>
          <a:prstGeom prst="roundRect">
            <a:avLst>
              <a:gd name="adj" fmla="val 10805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169" y="2108240"/>
            <a:ext cx="6416397" cy="568643"/>
          </a:xfrm>
          <a:prstGeom prst="roundRect">
            <a:avLst>
              <a:gd name="adj" fmla="val 45184"/>
            </a:avLst>
          </a:prstGeom>
          <a:solidFill>
            <a:srgbClr val="D4E9F7"/>
          </a:solidFill>
          <a:ln/>
        </p:spPr>
      </p:sp>
      <p:sp>
        <p:nvSpPr>
          <p:cNvPr id="6" name="Text 4"/>
          <p:cNvSpPr/>
          <p:nvPr/>
        </p:nvSpPr>
        <p:spPr>
          <a:xfrm>
            <a:off x="3847148" y="2210991"/>
            <a:ext cx="284321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0717" y="2866430"/>
            <a:ext cx="279368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Nike's Underperformance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70717" y="3291840"/>
            <a:ext cx="6037302" cy="909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Nike's -50.26% return versus the market's +40.90% represents a 91-percentage-point gap, driven by company-specific risks and fundamental business challenges.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9974" y="2085380"/>
            <a:ext cx="6462117" cy="2631877"/>
          </a:xfrm>
          <a:prstGeom prst="roundRect">
            <a:avLst>
              <a:gd name="adj" fmla="val 10805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32834" y="2108240"/>
            <a:ext cx="6416397" cy="568643"/>
          </a:xfrm>
          <a:prstGeom prst="roundRect">
            <a:avLst>
              <a:gd name="adj" fmla="val 45184"/>
            </a:avLst>
          </a:prstGeom>
          <a:solidFill>
            <a:srgbClr val="D4E9F7"/>
          </a:solidFill>
          <a:ln/>
        </p:spPr>
      </p:sp>
      <p:sp>
        <p:nvSpPr>
          <p:cNvPr id="11" name="Text 9"/>
          <p:cNvSpPr/>
          <p:nvPr/>
        </p:nvSpPr>
        <p:spPr>
          <a:xfrm>
            <a:off x="10498812" y="2210991"/>
            <a:ext cx="284321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2381" y="2866430"/>
            <a:ext cx="342018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Inadequate Risk Compensation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622381" y="3291840"/>
            <a:ext cx="603730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Nike's 1.26 beta indicates 26% above-market volatility, yet delivered negative excess returns. The -0.0145 Treynor Ratio suggests CAPM mispricing, with investors uncompensated for systematic risk.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58309" y="4906804"/>
            <a:ext cx="6462117" cy="2631877"/>
          </a:xfrm>
          <a:prstGeom prst="roundRect">
            <a:avLst>
              <a:gd name="adj" fmla="val 10805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169" y="4929664"/>
            <a:ext cx="6416397" cy="568643"/>
          </a:xfrm>
          <a:prstGeom prst="roundRect">
            <a:avLst>
              <a:gd name="adj" fmla="val 45184"/>
            </a:avLst>
          </a:prstGeom>
          <a:solidFill>
            <a:srgbClr val="D4E9F7"/>
          </a:solidFill>
          <a:ln/>
        </p:spPr>
      </p:sp>
      <p:sp>
        <p:nvSpPr>
          <p:cNvPr id="16" name="Text 14"/>
          <p:cNvSpPr/>
          <p:nvPr/>
        </p:nvSpPr>
        <p:spPr>
          <a:xfrm>
            <a:off x="3847148" y="5032415"/>
            <a:ext cx="284321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0717" y="5687854"/>
            <a:ext cx="2603183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Diversification Benefits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70717" y="6113264"/>
            <a:ext cx="603730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50/50 portfolio reduced total risk from 10.00% to 6.72% while limiting losses to -13.36%. This demonstrates diversification's practical value in mitigating concentration risk and providing downside protection.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409974" y="4906804"/>
            <a:ext cx="6462117" cy="2631877"/>
          </a:xfrm>
          <a:prstGeom prst="roundRect">
            <a:avLst>
              <a:gd name="adj" fmla="val 10805"/>
            </a:avLst>
          </a:prstGeom>
          <a:solidFill>
            <a:srgbClr val="FFFFFF"/>
          </a:solidFill>
          <a:ln w="22860">
            <a:solidFill>
              <a:srgbClr val="BACF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2834" y="4929664"/>
            <a:ext cx="6416397" cy="568643"/>
          </a:xfrm>
          <a:prstGeom prst="roundRect">
            <a:avLst>
              <a:gd name="adj" fmla="val 45184"/>
            </a:avLst>
          </a:prstGeom>
          <a:solidFill>
            <a:srgbClr val="D4E9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498812" y="5032415"/>
            <a:ext cx="284321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22381" y="5687854"/>
            <a:ext cx="2494359" cy="311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Arbitrage Opportunity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622381" y="6113264"/>
            <a:ext cx="6037302" cy="121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Nike's negative reward-to-risk ratio identifies a potential arbitrage: short-selling Nike and going long on the diversified market portfolio. This strategy exploits CAPM mispricing until market efficiency restores equilibrium.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2025-11-05T21:03:48Z</dcterms:created>
  <dcterms:modified xsi:type="dcterms:W3CDTF">2025-11-05T21:03:48Z</dcterms:modified>
</cp:coreProperties>
</file>